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6"/>
    <p:sldMasterId id="2147483837" r:id="rId7"/>
  </p:sldMasterIdLst>
  <p:notesMasterIdLst>
    <p:notesMasterId r:id="rId68"/>
  </p:notesMasterIdLst>
  <p:handoutMasterIdLst>
    <p:handoutMasterId r:id="rId69"/>
  </p:handoutMasterIdLst>
  <p:sldIdLst>
    <p:sldId id="256" r:id="rId8"/>
    <p:sldId id="257" r:id="rId9"/>
    <p:sldId id="258" r:id="rId10"/>
    <p:sldId id="259" r:id="rId11"/>
    <p:sldId id="260" r:id="rId12"/>
    <p:sldId id="261" r:id="rId13"/>
    <p:sldId id="262" r:id="rId14"/>
    <p:sldId id="263" r:id="rId15"/>
    <p:sldId id="264" r:id="rId16"/>
    <p:sldId id="265" r:id="rId17"/>
    <p:sldId id="267" r:id="rId18"/>
    <p:sldId id="266" r:id="rId19"/>
    <p:sldId id="268" r:id="rId20"/>
    <p:sldId id="269" r:id="rId21"/>
    <p:sldId id="2743" r:id="rId22"/>
    <p:sldId id="2740" r:id="rId23"/>
    <p:sldId id="2742" r:id="rId24"/>
    <p:sldId id="2741" r:id="rId25"/>
    <p:sldId id="270" r:id="rId26"/>
    <p:sldId id="2727" r:id="rId27"/>
    <p:sldId id="2729" r:id="rId28"/>
    <p:sldId id="272" r:id="rId29"/>
    <p:sldId id="2701" r:id="rId30"/>
    <p:sldId id="2728" r:id="rId31"/>
    <p:sldId id="2719" r:id="rId32"/>
    <p:sldId id="2725" r:id="rId33"/>
    <p:sldId id="274" r:id="rId34"/>
    <p:sldId id="2744" r:id="rId35"/>
    <p:sldId id="293" r:id="rId36"/>
    <p:sldId id="296" r:id="rId37"/>
    <p:sldId id="2745" r:id="rId38"/>
    <p:sldId id="2750" r:id="rId39"/>
    <p:sldId id="298" r:id="rId40"/>
    <p:sldId id="276" r:id="rId41"/>
    <p:sldId id="2746" r:id="rId42"/>
    <p:sldId id="2748" r:id="rId43"/>
    <p:sldId id="2747" r:id="rId44"/>
    <p:sldId id="2749" r:id="rId45"/>
    <p:sldId id="278" r:id="rId46"/>
    <p:sldId id="279" r:id="rId47"/>
    <p:sldId id="280" r:id="rId48"/>
    <p:sldId id="281" r:id="rId49"/>
    <p:sldId id="2730" r:id="rId50"/>
    <p:sldId id="2731" r:id="rId51"/>
    <p:sldId id="2732" r:id="rId52"/>
    <p:sldId id="282" r:id="rId53"/>
    <p:sldId id="2738" r:id="rId54"/>
    <p:sldId id="2739" r:id="rId55"/>
    <p:sldId id="284" r:id="rId56"/>
    <p:sldId id="2751" r:id="rId57"/>
    <p:sldId id="2752" r:id="rId58"/>
    <p:sldId id="2753" r:id="rId59"/>
    <p:sldId id="2736" r:id="rId60"/>
    <p:sldId id="2737" r:id="rId61"/>
    <p:sldId id="294" r:id="rId62"/>
    <p:sldId id="297" r:id="rId63"/>
    <p:sldId id="301" r:id="rId64"/>
    <p:sldId id="286" r:id="rId65"/>
    <p:sldId id="287" r:id="rId66"/>
    <p:sldId id="288" r:id="rId67"/>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 - Resource pages" id="{19F6995A-0FF4-1842-848C-8C4D860D4604}">
          <p14:sldIdLst>
            <p14:sldId id="256"/>
            <p14:sldId id="257"/>
            <p14:sldId id="258"/>
            <p14:sldId id="259"/>
            <p14:sldId id="260"/>
            <p14:sldId id="261"/>
            <p14:sldId id="262"/>
            <p14:sldId id="263"/>
            <p14:sldId id="264"/>
            <p14:sldId id="265"/>
            <p14:sldId id="267"/>
            <p14:sldId id="266"/>
            <p14:sldId id="268"/>
            <p14:sldId id="269"/>
            <p14:sldId id="2743"/>
            <p14:sldId id="2740"/>
            <p14:sldId id="2742"/>
            <p14:sldId id="2741"/>
            <p14:sldId id="270"/>
            <p14:sldId id="2727"/>
            <p14:sldId id="2729"/>
            <p14:sldId id="272"/>
            <p14:sldId id="2701"/>
            <p14:sldId id="2728"/>
            <p14:sldId id="2719"/>
            <p14:sldId id="2725"/>
            <p14:sldId id="274"/>
            <p14:sldId id="2744"/>
            <p14:sldId id="293"/>
            <p14:sldId id="296"/>
            <p14:sldId id="2745"/>
            <p14:sldId id="2750"/>
            <p14:sldId id="298"/>
            <p14:sldId id="276"/>
            <p14:sldId id="2746"/>
            <p14:sldId id="2748"/>
            <p14:sldId id="2747"/>
            <p14:sldId id="2749"/>
            <p14:sldId id="278"/>
            <p14:sldId id="279"/>
            <p14:sldId id="280"/>
            <p14:sldId id="281"/>
            <p14:sldId id="2730"/>
            <p14:sldId id="2731"/>
            <p14:sldId id="2732"/>
            <p14:sldId id="282"/>
            <p14:sldId id="2738"/>
            <p14:sldId id="2739"/>
            <p14:sldId id="284"/>
            <p14:sldId id="2751"/>
            <p14:sldId id="2752"/>
            <p14:sldId id="2753"/>
            <p14:sldId id="2736"/>
            <p14:sldId id="2737"/>
            <p14:sldId id="294"/>
            <p14:sldId id="297"/>
            <p14:sldId id="301"/>
            <p14:sldId id="286"/>
            <p14:sldId id="287"/>
            <p14:sldId id="288"/>
          </p14:sldIdLst>
        </p14:section>
        <p14:section name="Example slides" id="{F41ED794-CAAB-A549-BA2A-E06FD019DB4D}">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4FB504-188C-0200-12D9-B0C47AC6ACF4}" name="Roman Rogozhnikov" initials="" userId="S::roman.rogozhnikov@viedoc.com::f58cd992-69d8-420a-9d00-dbbe1bb1b5c4" providerId="AD"/>
  <p188:author id="{B89EC32B-D160-2D05-ECCC-CAA542376E25}" name="James Muehr" initials="JM" userId="S::james.muehr@viedoc.com::11f0ad58-cc55-46c0-b4bd-53802bc7e82a" providerId="AD"/>
  <p188:author id="{4A777A55-7748-C8F0-D42D-5B5690AAD88F}" name="Greg Tullo" initials="GT" userId="S::greg.tullo@viedoc.com::569f4a9d-dacc-40cf-aae1-670fc6f1dadf" providerId="AD"/>
  <p188:author id="{250B1F74-4654-EB14-ECDD-0C3D8A39ECF2}" name="Elin Weiring" initials="EW" userId="S::elin.weiring@4h.se::b4b460e0-9a26-46e4-a5f5-87c49f74b16e" providerId="AD"/>
  <p188:author id="{B6BACD93-DCEC-2B42-FACF-2C24DFE72AAA}" name="Elin Weiring" initials="EW" userId="S::elin.weiring@viedoc.com::c145b527-dcec-4604-bd34-bd5ae4a8d950" providerId="AD"/>
  <p188:author id="{42C107A3-13BC-0FF9-29F8-23264A8D32AD}" name="Johannes Molin" initials="JM" userId="S::johannes@pcg-solutions.com::8f1bbb51-233d-4a7d-b9a3-dc12a66d7f97" providerId="AD"/>
  <p188:author id="{7A1A03A4-1126-F991-03D7-94D029B49ADA}" name="Bob Egner" initials="BE" userId="S::bob.egner@viedoc.com::cde46c5b-ec06-478f-8a95-0450a7669bec" providerId="AD"/>
  <p188:author id="{2E2871AA-E6E2-4ABD-B58A-6DBB7662047C}" name="Axel Stael von Holstein" initials="AH" userId="S::axel@viedoc.com::38f19c99-5416-4ea3-af44-f23c30f889a2" providerId="AD"/>
  <p188:author id="{8B9830DA-6823-CFDF-56F6-94FA9CB490E5}" name="Elin Berner-Wik" initials="EB" userId="S::elin.berner-wik@viedoc.com::9c02b55f-5e8e-42d2-8c88-5c7ae454bc3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67676"/>
    <a:srgbClr val="E3E3E3"/>
    <a:srgbClr val="ECECEC"/>
    <a:srgbClr val="1C1C1E"/>
    <a:srgbClr val="363639"/>
    <a:srgbClr val="ADE4B5"/>
    <a:srgbClr val="7FBEEB"/>
    <a:srgbClr val="FDB2FF"/>
    <a:srgbClr val="A85079"/>
    <a:srgbClr val="F3E5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6B2B4-04E5-C2C5-7F33-B138B763401E}" v="1317" dt="2026-08-17T15:21:49.004"/>
    <p1510:client id="{1C93FEAF-55F9-4EAF-7A6C-774DE21548E9}" v="906" dt="2026-08-18T09:01:28.853"/>
    <p1510:client id="{2ED00787-F63A-4673-9091-EAEC3E76806E}" v="7" dt="2026-08-18T06:53:18.376"/>
    <p1510:client id="{2FB28D44-5889-E660-8B8E-0CCB3DA47F61}" v="81" dt="2026-08-17T14:02:27.930"/>
    <p1510:client id="{30A12703-201A-4B5C-B8E5-847F5DF06004}" v="22" dt="2026-08-18T11:32:32.868"/>
    <p1510:client id="{322109DD-10F1-673E-BB5F-1409ADA6D5AA}" v="5" dt="2026-08-18T07:06:16.183"/>
    <p1510:client id="{3C7CF9CA-45B1-A215-580F-DDB34AD5CEE5}" v="96" dt="2026-08-17T14:42:19.737"/>
    <p1510:client id="{405CCB0B-1621-4878-A140-063F2038450F}" v="58" dt="2026-08-18T11:11:47.619"/>
    <p1510:client id="{491974E9-5136-484F-AD82-D065B878D2C9}" v="2" dt="2026-08-18T11:05:26.508"/>
    <p1510:client id="{4A2B5F02-B249-D2B4-2F88-A977B2E9AF59}" v="341" dt="2026-08-17T14:19:02.346"/>
    <p1510:client id="{4ECBAC01-7C4A-439F-B8E2-2CEBEA7F96DD}" v="5" dt="2026-08-17T14:23:37.275"/>
    <p1510:client id="{506AC4BF-B328-776F-79AD-F383D4EBA1A0}" v="9" dt="2026-08-18T10:02:08.254"/>
    <p1510:client id="{56FB34A6-2F0D-A03A-38FA-E6508612FD21}" v="26" dt="2026-08-17T13:47:42.287"/>
    <p1510:client id="{65C06829-455F-4F0D-A86D-881CF70F8F34}" v="27" dt="2026-08-18T09:38:52.873"/>
    <p1510:client id="{7B00B33D-2767-4174-8500-4F58101CB88E}" v="5" dt="2026-08-17T14:48:55.874"/>
    <p1510:client id="{800F8059-192E-7B7B-D867-F5EE90B21456}" v="1" dt="2026-08-17T15:50:15.492"/>
    <p1510:client id="{8764C947-2704-43D7-BF4E-9D1B68362900}" v="187" dt="2026-08-17T18:37:57.297"/>
    <p1510:client id="{91B8C393-2B95-70A6-648F-60206F55DFAD}" v="5" dt="2026-08-17T14:23:38.214"/>
    <p1510:client id="{A7C14D69-D1C9-DCDE-350D-CFBA57C2E08B}" v="20" dt="2026-08-17T15:04:43.625"/>
    <p1510:client id="{B1ABE7E0-63AB-89FE-B331-EB20C703E21C}" v="130" dt="2026-08-18T08:18:12.186"/>
    <p1510:client id="{B8786F6C-A063-46E0-AF6C-B6579AAE8284}" v="14" dt="2026-08-17T14:08:40.518"/>
    <p1510:client id="{EF75A0CD-D049-4CA9-9D19-AC69386FCD71}" v="4099" dt="2026-08-17T21:08:54.359"/>
    <p1510:client id="{F7800F28-DCF8-BC47-8129-273E1F079FA4}" v="1199" dt="2026-08-18T10:02:25.047"/>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microsoft.com/office/2015/10/relationships/revisionInfo" Target="revisionInfo.xml"/><Relationship Id="rId5" Type="http://schemas.openxmlformats.org/officeDocument/2006/relationships/customXml" Target="../customXml/item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2.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DC5FCB-EEB9-B2F5-0BF7-63485C6086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a:extLst>
              <a:ext uri="{FF2B5EF4-FFF2-40B4-BE49-F238E27FC236}">
                <a16:creationId xmlns:a16="http://schemas.microsoft.com/office/drawing/2014/main" id="{7C5AC122-844C-A274-D058-9E26D6B17DE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A9F0BE-3131-4EF9-AB67-423056736026}" type="datetimeFigureOut">
              <a:rPr lang="en-SE" smtClean="0"/>
              <a:t>10/08/2026</a:t>
            </a:fld>
            <a:endParaRPr lang="en-SE"/>
          </a:p>
        </p:txBody>
      </p:sp>
      <p:sp>
        <p:nvSpPr>
          <p:cNvPr id="4" name="Footer Placeholder 3">
            <a:extLst>
              <a:ext uri="{FF2B5EF4-FFF2-40B4-BE49-F238E27FC236}">
                <a16:creationId xmlns:a16="http://schemas.microsoft.com/office/drawing/2014/main" id="{789DC849-CFC1-9271-DCEC-3A2E12121EF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5" name="Slide Number Placeholder 4">
            <a:extLst>
              <a:ext uri="{FF2B5EF4-FFF2-40B4-BE49-F238E27FC236}">
                <a16:creationId xmlns:a16="http://schemas.microsoft.com/office/drawing/2014/main" id="{A6CD4608-2BAC-165D-64F6-86AF170BFC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9DCA58-C2BE-4222-9F43-A3E53E286A10}" type="slidenum">
              <a:rPr lang="en-SE" smtClean="0"/>
              <a:t>‹#›</a:t>
            </a:fld>
            <a:endParaRPr lang="en-SE"/>
          </a:p>
        </p:txBody>
      </p:sp>
    </p:spTree>
    <p:extLst>
      <p:ext uri="{BB962C8B-B14F-4D97-AF65-F5344CB8AC3E}">
        <p14:creationId xmlns:p14="http://schemas.microsoft.com/office/powerpoint/2010/main" val="1588534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9E7AF-E12E-4995-A44B-1F948DA244C7}" type="datetimeFigureOut">
              <a:rPr lang="en-SE" smtClean="0"/>
              <a:t>10/08/2026</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1D8DC-8D72-4333-8FEC-6E9DCE0223E2}" type="slidenum">
              <a:rPr lang="en-SE" smtClean="0"/>
              <a:t>‹#›</a:t>
            </a:fld>
            <a:endParaRPr lang="en-SE"/>
          </a:p>
        </p:txBody>
      </p:sp>
    </p:spTree>
    <p:extLst>
      <p:ext uri="{BB962C8B-B14F-4D97-AF65-F5344CB8AC3E}">
        <p14:creationId xmlns:p14="http://schemas.microsoft.com/office/powerpoint/2010/main" val="2455526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4781D8DC-8D72-4333-8FEC-6E9DCE0223E2}" type="slidenum">
              <a:rPr lang="en-SE" smtClean="0"/>
              <a:t>11</a:t>
            </a:fld>
            <a:endParaRPr lang="en-SE"/>
          </a:p>
        </p:txBody>
      </p:sp>
    </p:spTree>
    <p:extLst>
      <p:ext uri="{BB962C8B-B14F-4D97-AF65-F5344CB8AC3E}">
        <p14:creationId xmlns:p14="http://schemas.microsoft.com/office/powerpoint/2010/main" val="2739758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271251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3A72-D229-5D87-8212-B4D335DF0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BD0AF-16D2-B554-92A4-BB4203BB8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118BFC-93B1-D532-D343-514581B01A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0601E9-1C7E-FEE0-0E8C-93996D1E614C}"/>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174502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solidFill>
                  <a:srgbClr val="5E5E5E"/>
                </a:solidFill>
              </a:rPr>
              <a:t>(audit trail…we build the story from A to Z, we demonstrate the story point by point from A to Z</a:t>
            </a:r>
            <a:endParaRPr lang="en-SE">
              <a:solidFill>
                <a:srgbClr val="5E5E5E"/>
              </a:solidFill>
            </a:endParaRPr>
          </a:p>
          <a:p>
            <a:endParaRPr lang="en-SE"/>
          </a:p>
        </p:txBody>
      </p:sp>
      <p:sp>
        <p:nvSpPr>
          <p:cNvPr id="4" name="Slide Number Placeholder 3"/>
          <p:cNvSpPr>
            <a:spLocks noGrp="1"/>
          </p:cNvSpPr>
          <p:nvPr>
            <p:ph type="sldNum" sz="quarter" idx="5"/>
          </p:nvPr>
        </p:nvSpPr>
        <p:spPr/>
        <p:txBody>
          <a:bodyPr/>
          <a:lstStyle/>
          <a:p>
            <a:fld id="{4781D8DC-8D72-4333-8FEC-6E9DCE0223E2}" type="slidenum">
              <a:rPr lang="en-SE" smtClean="0"/>
              <a:t>42</a:t>
            </a:fld>
            <a:endParaRPr lang="en-SE"/>
          </a:p>
        </p:txBody>
      </p:sp>
    </p:spTree>
    <p:extLst>
      <p:ext uri="{BB962C8B-B14F-4D97-AF65-F5344CB8AC3E}">
        <p14:creationId xmlns:p14="http://schemas.microsoft.com/office/powerpoint/2010/main" val="3371246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a:p>
        </p:txBody>
      </p:sp>
      <p:sp>
        <p:nvSpPr>
          <p:cNvPr id="4" name="Slide Number Placeholder 3"/>
          <p:cNvSpPr>
            <a:spLocks noGrp="1"/>
          </p:cNvSpPr>
          <p:nvPr>
            <p:ph type="sldNum" sz="quarter" idx="5"/>
          </p:nvPr>
        </p:nvSpPr>
        <p:spPr/>
        <p:txBody>
          <a:bodyPr/>
          <a:lstStyle/>
          <a:p>
            <a:fld id="{4781D8DC-8D72-4333-8FEC-6E9DCE0223E2}" type="slidenum">
              <a:rPr lang="en-SE" smtClean="0"/>
              <a:t>43</a:t>
            </a:fld>
            <a:endParaRPr lang="en-SE"/>
          </a:p>
        </p:txBody>
      </p:sp>
    </p:spTree>
    <p:extLst>
      <p:ext uri="{BB962C8B-B14F-4D97-AF65-F5344CB8AC3E}">
        <p14:creationId xmlns:p14="http://schemas.microsoft.com/office/powerpoint/2010/main" val="2816977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a:t>On top of ICH GCP, FDA's own guidance spells out the technical expectations. </a:t>
            </a:r>
          </a:p>
          <a:p>
            <a:r>
              <a:rPr lang="en-SE"/>
              <a:t>Part 11.10(e) requires a secure, computer-generated, time-stamped audit trail that independently records the date and time of operator entries and actions that create, modify, or delete electronic records. EMA and PMDA impose parallel expectations</a:t>
            </a:r>
          </a:p>
        </p:txBody>
      </p:sp>
      <p:sp>
        <p:nvSpPr>
          <p:cNvPr id="4" name="Slide Number Placeholder 3"/>
          <p:cNvSpPr>
            <a:spLocks noGrp="1"/>
          </p:cNvSpPr>
          <p:nvPr>
            <p:ph type="sldNum" sz="quarter" idx="5"/>
          </p:nvPr>
        </p:nvSpPr>
        <p:spPr/>
        <p:txBody>
          <a:bodyPr/>
          <a:lstStyle/>
          <a:p>
            <a:fld id="{4781D8DC-8D72-4333-8FEC-6E9DCE0223E2}" type="slidenum">
              <a:rPr lang="en-SE" smtClean="0"/>
              <a:t>44</a:t>
            </a:fld>
            <a:endParaRPr lang="en-SE"/>
          </a:p>
        </p:txBody>
      </p:sp>
    </p:spTree>
    <p:extLst>
      <p:ext uri="{BB962C8B-B14F-4D97-AF65-F5344CB8AC3E}">
        <p14:creationId xmlns:p14="http://schemas.microsoft.com/office/powerpoint/2010/main" val="3867854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a:p>
        </p:txBody>
      </p:sp>
      <p:sp>
        <p:nvSpPr>
          <p:cNvPr id="4" name="Slide Number Placeholder 3"/>
          <p:cNvSpPr>
            <a:spLocks noGrp="1"/>
          </p:cNvSpPr>
          <p:nvPr>
            <p:ph type="sldNum" sz="quarter" idx="5"/>
          </p:nvPr>
        </p:nvSpPr>
        <p:spPr/>
        <p:txBody>
          <a:bodyPr/>
          <a:lstStyle/>
          <a:p>
            <a:fld id="{4781D8DC-8D72-4333-8FEC-6E9DCE0223E2}" type="slidenum">
              <a:rPr lang="en-SE" smtClean="0"/>
              <a:t>45</a:t>
            </a:fld>
            <a:endParaRPr lang="en-SE"/>
          </a:p>
        </p:txBody>
      </p:sp>
    </p:spTree>
    <p:extLst>
      <p:ext uri="{BB962C8B-B14F-4D97-AF65-F5344CB8AC3E}">
        <p14:creationId xmlns:p14="http://schemas.microsoft.com/office/powerpoint/2010/main" val="3973199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786571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669462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24" name="Subtitle 2">
            <a:extLst>
              <a:ext uri="{FF2B5EF4-FFF2-40B4-BE49-F238E27FC236}">
                <a16:creationId xmlns:a16="http://schemas.microsoft.com/office/drawing/2014/main" id="{804553DF-DE57-6859-0094-BE3E49E29C78}"/>
              </a:ext>
            </a:extLst>
          </p:cNvPr>
          <p:cNvSpPr>
            <a:spLocks noGrp="1"/>
          </p:cNvSpPr>
          <p:nvPr>
            <p:ph type="subTitle" idx="1" hasCustomPrompt="1"/>
          </p:nvPr>
        </p:nvSpPr>
        <p:spPr>
          <a:xfrm>
            <a:off x="340583" y="3115262"/>
            <a:ext cx="11516782" cy="1444918"/>
          </a:xfrm>
          <a:prstGeom prst="rect">
            <a:avLst/>
          </a:prstGeom>
        </p:spPr>
        <p:txBody>
          <a:bodyPr>
            <a:normAutofit/>
          </a:bodyPr>
          <a:lstStyle>
            <a:lvl1pPr marL="0" indent="0" algn="l">
              <a:buNone/>
              <a:defRPr sz="4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presentation title</a:t>
            </a:r>
          </a:p>
        </p:txBody>
      </p:sp>
      <p:sp>
        <p:nvSpPr>
          <p:cNvPr id="34" name="Text Placeholder 30">
            <a:extLst>
              <a:ext uri="{FF2B5EF4-FFF2-40B4-BE49-F238E27FC236}">
                <a16:creationId xmlns:a16="http://schemas.microsoft.com/office/drawing/2014/main" id="{50DF1730-D384-710B-2E36-BF45A3AF526A}"/>
              </a:ext>
            </a:extLst>
          </p:cNvPr>
          <p:cNvSpPr>
            <a:spLocks noGrp="1"/>
          </p:cNvSpPr>
          <p:nvPr>
            <p:ph type="body" sz="quarter" idx="12" hasCustomPrompt="1"/>
          </p:nvPr>
        </p:nvSpPr>
        <p:spPr>
          <a:xfrm>
            <a:off x="334634" y="5501899"/>
            <a:ext cx="3744913" cy="273287"/>
          </a:xfrm>
          <a:prstGeom prst="rect">
            <a:avLst/>
          </a:prstGeom>
        </p:spPr>
        <p:txBody>
          <a:bodyPr>
            <a:normAutofit/>
          </a:bodyPr>
          <a:lstStyle>
            <a:lvl1pPr marL="0" indent="0">
              <a:buNone/>
              <a:defRPr sz="1400">
                <a:solidFill>
                  <a:schemeClr val="bg1"/>
                </a:solidFill>
              </a:defRPr>
            </a:lvl1pPr>
          </a:lstStyle>
          <a:p>
            <a:pPr lvl="0"/>
            <a:r>
              <a:rPr lang="en-GB"/>
              <a:t>Name Surname</a:t>
            </a:r>
            <a:endParaRPr lang="en-SE"/>
          </a:p>
        </p:txBody>
      </p:sp>
      <p:sp>
        <p:nvSpPr>
          <p:cNvPr id="35" name="Text Placeholder 30">
            <a:extLst>
              <a:ext uri="{FF2B5EF4-FFF2-40B4-BE49-F238E27FC236}">
                <a16:creationId xmlns:a16="http://schemas.microsoft.com/office/drawing/2014/main" id="{08457754-5DF7-1310-F428-F7869F17A558}"/>
              </a:ext>
            </a:extLst>
          </p:cNvPr>
          <p:cNvSpPr>
            <a:spLocks noGrp="1"/>
          </p:cNvSpPr>
          <p:nvPr>
            <p:ph type="body" sz="quarter" idx="13" hasCustomPrompt="1"/>
          </p:nvPr>
        </p:nvSpPr>
        <p:spPr>
          <a:xfrm>
            <a:off x="342211" y="5786059"/>
            <a:ext cx="3744913" cy="273287"/>
          </a:xfrm>
          <a:prstGeom prst="rect">
            <a:avLst/>
          </a:prstGeom>
        </p:spPr>
        <p:txBody>
          <a:bodyPr>
            <a:noAutofit/>
          </a:bodyPr>
          <a:lstStyle>
            <a:lvl1pPr marL="0" indent="0">
              <a:buNone/>
              <a:defRPr sz="1400">
                <a:solidFill>
                  <a:schemeClr val="bg1"/>
                </a:solidFill>
              </a:defRPr>
            </a:lvl1pPr>
          </a:lstStyle>
          <a:p>
            <a:pPr lvl="0"/>
            <a:r>
              <a:rPr lang="en-GB"/>
              <a:t>Title</a:t>
            </a:r>
            <a:endParaRPr lang="en-SE"/>
          </a:p>
        </p:txBody>
      </p:sp>
      <p:sp>
        <p:nvSpPr>
          <p:cNvPr id="36" name="Text Placeholder 30">
            <a:extLst>
              <a:ext uri="{FF2B5EF4-FFF2-40B4-BE49-F238E27FC236}">
                <a16:creationId xmlns:a16="http://schemas.microsoft.com/office/drawing/2014/main" id="{20CFABE0-6FBF-AA4D-6054-0B5E42BC0518}"/>
              </a:ext>
            </a:extLst>
          </p:cNvPr>
          <p:cNvSpPr>
            <a:spLocks noGrp="1"/>
          </p:cNvSpPr>
          <p:nvPr>
            <p:ph type="body" sz="quarter" idx="14" hasCustomPrompt="1"/>
          </p:nvPr>
        </p:nvSpPr>
        <p:spPr>
          <a:xfrm>
            <a:off x="342211" y="6081092"/>
            <a:ext cx="3744913" cy="273287"/>
          </a:xfrm>
          <a:prstGeom prst="rect">
            <a:avLst/>
          </a:prstGeom>
        </p:spPr>
        <p:txBody>
          <a:bodyPr>
            <a:noAutofit/>
          </a:bodyPr>
          <a:lstStyle>
            <a:lvl1pPr marL="0" indent="0">
              <a:buNone/>
              <a:defRPr sz="1400">
                <a:solidFill>
                  <a:schemeClr val="bg1"/>
                </a:solidFill>
              </a:defRPr>
            </a:lvl1pPr>
          </a:lstStyle>
          <a:p>
            <a:pPr lvl="0"/>
            <a:r>
              <a:rPr lang="en-GB"/>
              <a:t>Email</a:t>
            </a:r>
            <a:endParaRPr lang="en-SE"/>
          </a:p>
        </p:txBody>
      </p:sp>
      <p:pic>
        <p:nvPicPr>
          <p:cNvPr id="4" name="Graphic 3">
            <a:extLst>
              <a:ext uri="{FF2B5EF4-FFF2-40B4-BE49-F238E27FC236}">
                <a16:creationId xmlns:a16="http://schemas.microsoft.com/office/drawing/2014/main" id="{ADBECDAB-5549-2AE3-C1E6-13FF3A0A0F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4101" y="504680"/>
            <a:ext cx="1363526" cy="409776"/>
          </a:xfrm>
          <a:prstGeom prst="rect">
            <a:avLst/>
          </a:prstGeom>
        </p:spPr>
      </p:pic>
      <p:sp>
        <p:nvSpPr>
          <p:cNvPr id="6" name="Text Placeholder 30">
            <a:extLst>
              <a:ext uri="{FF2B5EF4-FFF2-40B4-BE49-F238E27FC236}">
                <a16:creationId xmlns:a16="http://schemas.microsoft.com/office/drawing/2014/main" id="{C0629962-1A50-4BB8-678C-FB92F7AFFF1D}"/>
              </a:ext>
            </a:extLst>
          </p:cNvPr>
          <p:cNvSpPr>
            <a:spLocks noGrp="1"/>
          </p:cNvSpPr>
          <p:nvPr>
            <p:ph type="body" sz="quarter" idx="15" hasCustomPrompt="1"/>
          </p:nvPr>
        </p:nvSpPr>
        <p:spPr>
          <a:xfrm>
            <a:off x="4094701" y="6081092"/>
            <a:ext cx="3744913" cy="273287"/>
          </a:xfrm>
          <a:prstGeom prst="rect">
            <a:avLst/>
          </a:prstGeom>
        </p:spPr>
        <p:txBody>
          <a:bodyPr>
            <a:noAutofit/>
          </a:bodyPr>
          <a:lstStyle>
            <a:lvl1pPr marL="0" indent="0">
              <a:buNone/>
              <a:defRPr sz="1400">
                <a:solidFill>
                  <a:schemeClr val="bg1"/>
                </a:solidFill>
              </a:defRPr>
            </a:lvl1pPr>
          </a:lstStyle>
          <a:p>
            <a:pPr lvl="0"/>
            <a:r>
              <a:rPr lang="en-GB"/>
              <a:t>Date</a:t>
            </a:r>
            <a:endParaRPr lang="en-SE"/>
          </a:p>
        </p:txBody>
      </p:sp>
      <p:sp>
        <p:nvSpPr>
          <p:cNvPr id="7" name="Text Placeholder 30">
            <a:extLst>
              <a:ext uri="{FF2B5EF4-FFF2-40B4-BE49-F238E27FC236}">
                <a16:creationId xmlns:a16="http://schemas.microsoft.com/office/drawing/2014/main" id="{FE4D01CD-AD87-27DF-6816-02AE2D8C10FF}"/>
              </a:ext>
            </a:extLst>
          </p:cNvPr>
          <p:cNvSpPr>
            <a:spLocks noGrp="1"/>
          </p:cNvSpPr>
          <p:nvPr>
            <p:ph type="body" sz="quarter" idx="21" hasCustomPrompt="1"/>
          </p:nvPr>
        </p:nvSpPr>
        <p:spPr>
          <a:xfrm>
            <a:off x="4094701" y="5790671"/>
            <a:ext cx="3744913" cy="273287"/>
          </a:xfrm>
          <a:prstGeom prst="rect">
            <a:avLst/>
          </a:prstGeom>
        </p:spPr>
        <p:txBody>
          <a:bodyPr>
            <a:noAutofit/>
          </a:bodyPr>
          <a:lstStyle>
            <a:lvl1pPr marL="0" indent="0">
              <a:buNone/>
              <a:defRPr sz="1400">
                <a:solidFill>
                  <a:schemeClr val="bg1"/>
                </a:solidFill>
              </a:defRPr>
            </a:lvl1pPr>
          </a:lstStyle>
          <a:p>
            <a:pPr lvl="0"/>
            <a:r>
              <a:rPr lang="en-GB"/>
              <a:t>Information security: Open/Close</a:t>
            </a:r>
            <a:endParaRPr lang="en-SE"/>
          </a:p>
        </p:txBody>
      </p:sp>
      <p:sp>
        <p:nvSpPr>
          <p:cNvPr id="5" name="Text Placeholder 4">
            <a:extLst>
              <a:ext uri="{FF2B5EF4-FFF2-40B4-BE49-F238E27FC236}">
                <a16:creationId xmlns:a16="http://schemas.microsoft.com/office/drawing/2014/main" id="{003D83FC-4F28-9C63-7A6A-E0C755D6ACAF}"/>
              </a:ext>
            </a:extLst>
          </p:cNvPr>
          <p:cNvSpPr>
            <a:spLocks noGrp="1"/>
          </p:cNvSpPr>
          <p:nvPr>
            <p:ph type="body" sz="quarter" idx="22" hasCustomPrompt="1"/>
          </p:nvPr>
        </p:nvSpPr>
        <p:spPr>
          <a:xfrm>
            <a:off x="334634" y="2739554"/>
            <a:ext cx="11522731" cy="347577"/>
          </a:xfrm>
          <a:prstGeom prst="rect">
            <a:avLst/>
          </a:prstGeom>
        </p:spPr>
        <p:txBody>
          <a:bodyPr>
            <a:noAutofit/>
          </a:bodyPr>
          <a:lstStyle>
            <a:lvl1pP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Placeholder introduction text</a:t>
            </a:r>
          </a:p>
        </p:txBody>
      </p:sp>
      <p:pic>
        <p:nvPicPr>
          <p:cNvPr id="8" name="Picture 7" descr="A black and white background with white arrows&#10;&#10;AI-generated content may be incorrect.">
            <a:extLst>
              <a:ext uri="{FF2B5EF4-FFF2-40B4-BE49-F238E27FC236}">
                <a16:creationId xmlns:a16="http://schemas.microsoft.com/office/drawing/2014/main" id="{17000252-E6D2-16B2-50D4-9857491395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91009" y="5494369"/>
            <a:ext cx="658780" cy="848560"/>
          </a:xfrm>
          <a:prstGeom prst="rect">
            <a:avLst/>
          </a:prstGeom>
        </p:spPr>
      </p:pic>
      <p:sp>
        <p:nvSpPr>
          <p:cNvPr id="2" name="Picture Placeholder 4">
            <a:extLst>
              <a:ext uri="{FF2B5EF4-FFF2-40B4-BE49-F238E27FC236}">
                <a16:creationId xmlns:a16="http://schemas.microsoft.com/office/drawing/2014/main" id="{B4B5BD6B-B98B-0C68-CF3A-5D5DC7D80423}"/>
              </a:ext>
            </a:extLst>
          </p:cNvPr>
          <p:cNvSpPr>
            <a:spLocks noGrp="1"/>
          </p:cNvSpPr>
          <p:nvPr>
            <p:ph type="pic" sz="quarter" idx="18"/>
          </p:nvPr>
        </p:nvSpPr>
        <p:spPr>
          <a:xfrm>
            <a:off x="9702143" y="563777"/>
            <a:ext cx="2147646" cy="2147646"/>
          </a:xfrm>
          <a:prstGeom prst="roundRect">
            <a:avLst>
              <a:gd name="adj" fmla="val 3069"/>
            </a:avLst>
          </a:prstGeom>
        </p:spPr>
        <p:txBody>
          <a:bodyPr>
            <a:normAutofit/>
          </a:bodyPr>
          <a:lstStyle>
            <a:lvl1pPr marL="0" indent="0" algn="ctr">
              <a:buNone/>
              <a:defRPr sz="1800"/>
            </a:lvl1pPr>
          </a:lstStyle>
          <a:p>
            <a:r>
              <a:rPr lang="en-GB"/>
              <a:t>Click icon to add picture</a:t>
            </a:r>
            <a:endParaRPr lang="en-SE"/>
          </a:p>
        </p:txBody>
      </p:sp>
    </p:spTree>
    <p:extLst>
      <p:ext uri="{BB962C8B-B14F-4D97-AF65-F5344CB8AC3E}">
        <p14:creationId xmlns:p14="http://schemas.microsoft.com/office/powerpoint/2010/main" val="1615329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_01">
    <p:bg>
      <p:bgPr>
        <a:gradFill>
          <a:gsLst>
            <a:gs pos="0">
              <a:srgbClr val="9298FF"/>
            </a:gs>
            <a:gs pos="100000">
              <a:srgbClr val="F4E6E3"/>
            </a:gs>
          </a:gsLst>
          <a:lin ang="0" scaled="1"/>
        </a:gra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87102C4-C567-0607-C3A0-DE5E65BCC0D7}"/>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bg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1848277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_02">
    <p:bg>
      <p:bgPr>
        <a:gradFill>
          <a:gsLst>
            <a:gs pos="48000">
              <a:srgbClr val="FFBCCF"/>
            </a:gs>
            <a:gs pos="0">
              <a:srgbClr val="FDB2FF"/>
            </a:gs>
            <a:gs pos="100000">
              <a:srgbClr val="FFE3AC"/>
            </a:gs>
          </a:gsLst>
          <a:lin ang="0" scaled="1"/>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2CFF4E-6156-27D2-D58B-AADEB531C5DA}"/>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bg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3337356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_03">
    <p:bg>
      <p:bgPr>
        <a:gradFill>
          <a:gsLst>
            <a:gs pos="0">
              <a:srgbClr val="FF8585"/>
            </a:gs>
            <a:gs pos="100000">
              <a:srgbClr val="FFD4D4"/>
            </a:gs>
          </a:gsLst>
          <a:lin ang="0" scaled="1"/>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3E709D3-60F7-33F3-6CD7-1D9089B17BBB}"/>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bg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1375728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_04">
    <p:bg>
      <p:bgPr>
        <a:gradFill>
          <a:gsLst>
            <a:gs pos="0">
              <a:srgbClr val="00D730">
                <a:alpha val="49020"/>
              </a:srgbClr>
            </a:gs>
            <a:gs pos="100000">
              <a:srgbClr val="EEDCFF"/>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E1DA6-5B32-4625-1983-FEA82BEB8717}"/>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tx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3476506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_02">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703E04D-8035-E061-5BCE-C7D8F3702665}"/>
              </a:ext>
            </a:extLst>
          </p:cNvPr>
          <p:cNvSpPr>
            <a:spLocks noGrp="1"/>
          </p:cNvSpPr>
          <p:nvPr>
            <p:ph type="title" hasCustomPrompt="1"/>
          </p:nvPr>
        </p:nvSpPr>
        <p:spPr>
          <a:xfrm>
            <a:off x="339437" y="2766219"/>
            <a:ext cx="11513127" cy="1325563"/>
          </a:xfrm>
          <a:prstGeom prst="rect">
            <a:avLst/>
          </a:prstGeom>
        </p:spPr>
        <p:txBody>
          <a:bodyPr>
            <a:normAutofit/>
          </a:bodyPr>
          <a:lstStyle>
            <a:lvl1pPr algn="ctr">
              <a:defRPr sz="4400">
                <a:solidFill>
                  <a:schemeClr val="bg1"/>
                </a:solidFill>
              </a:defRPr>
            </a:lvl1pPr>
          </a:lstStyle>
          <a:p>
            <a:r>
              <a:rPr lang="en-GB"/>
              <a:t>Statement slide</a:t>
            </a:r>
            <a:endParaRPr lang="en-SE"/>
          </a:p>
        </p:txBody>
      </p:sp>
    </p:spTree>
    <p:extLst>
      <p:ext uri="{BB962C8B-B14F-4D97-AF65-F5344CB8AC3E}">
        <p14:creationId xmlns:p14="http://schemas.microsoft.com/office/powerpoint/2010/main" val="503522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99B6785-5CAD-DCDB-883C-34F3B90F89F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1655484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25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pillars purple">
    <p:bg>
      <p:bgPr>
        <a:solidFill>
          <a:schemeClr val="tx1"/>
        </a:solidFill>
        <a:effectLst/>
      </p:bgPr>
    </p:bg>
    <p:spTree>
      <p:nvGrpSpPr>
        <p:cNvPr id="1" name=""/>
        <p:cNvGrpSpPr/>
        <p:nvPr/>
      </p:nvGrpSpPr>
      <p:grpSpPr>
        <a:xfrm>
          <a:off x="0" y="0"/>
          <a:ext cx="0" cy="0"/>
          <a:chOff x="0" y="0"/>
          <a:chExt cx="0" cy="0"/>
        </a:xfrm>
      </p:grpSpPr>
      <p:sp>
        <p:nvSpPr>
          <p:cNvPr id="4" name="Round Same-side Corner of Rectangle 3">
            <a:extLst>
              <a:ext uri="{FF2B5EF4-FFF2-40B4-BE49-F238E27FC236}">
                <a16:creationId xmlns:a16="http://schemas.microsoft.com/office/drawing/2014/main" id="{96A43ACF-CE67-E291-B726-0EECEE0D8158}"/>
              </a:ext>
            </a:extLst>
          </p:cNvPr>
          <p:cNvSpPr/>
          <p:nvPr/>
        </p:nvSpPr>
        <p:spPr>
          <a:xfrm>
            <a:off x="327223" y="1748392"/>
            <a:ext cx="5745875" cy="810000"/>
          </a:xfrm>
          <a:prstGeom prst="round2SameRect">
            <a:avLst>
              <a:gd name="adj1" fmla="val 19743"/>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8" name="Round Same-side Corner of Rectangle 7">
            <a:extLst>
              <a:ext uri="{FF2B5EF4-FFF2-40B4-BE49-F238E27FC236}">
                <a16:creationId xmlns:a16="http://schemas.microsoft.com/office/drawing/2014/main" id="{38BD7A87-7DF3-9A8B-7378-9B215DAE7B98}"/>
              </a:ext>
            </a:extLst>
          </p:cNvPr>
          <p:cNvSpPr/>
          <p:nvPr/>
        </p:nvSpPr>
        <p:spPr>
          <a:xfrm>
            <a:off x="6118193" y="1760704"/>
            <a:ext cx="5742000" cy="810000"/>
          </a:xfrm>
          <a:prstGeom prst="round2SameRect">
            <a:avLst>
              <a:gd name="adj1" fmla="val 19743"/>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spAutoFit/>
          </a:bodyPr>
          <a:lstStyle/>
          <a:p>
            <a:endParaRPr lang="en-GB" sz="1400">
              <a:solidFill>
                <a:schemeClr val="bg1"/>
              </a:solidFill>
            </a:endParaRPr>
          </a:p>
          <a:p>
            <a:endParaRPr lang="en-GB" sz="1400">
              <a:solidFill>
                <a:schemeClr val="bg1"/>
              </a:solidFill>
            </a:endParaRPr>
          </a:p>
          <a:p>
            <a:endParaRPr lang="en-GB" sz="1400">
              <a:solidFill>
                <a:schemeClr val="bg1"/>
              </a:solidFill>
            </a:endParaRPr>
          </a:p>
        </p:txBody>
      </p:sp>
      <p:sp>
        <p:nvSpPr>
          <p:cNvPr id="13" name="Text Placeholder 8">
            <a:extLst>
              <a:ext uri="{FF2B5EF4-FFF2-40B4-BE49-F238E27FC236}">
                <a16:creationId xmlns:a16="http://schemas.microsoft.com/office/drawing/2014/main" id="{1FE0F98C-66A2-5973-4AB3-C81953D00195}"/>
              </a:ext>
            </a:extLst>
          </p:cNvPr>
          <p:cNvSpPr>
            <a:spLocks noGrp="1"/>
          </p:cNvSpPr>
          <p:nvPr>
            <p:ph type="body" sz="quarter" idx="21" hasCustomPrompt="1"/>
          </p:nvPr>
        </p:nvSpPr>
        <p:spPr>
          <a:xfrm>
            <a:off x="542843" y="2025810"/>
            <a:ext cx="5315320" cy="385781"/>
          </a:xfrm>
          <a:prstGeom prst="rect">
            <a:avLst/>
          </a:prstGeom>
          <a:noFill/>
        </p:spPr>
        <p:txBody>
          <a:bodyPr>
            <a:normAutofit/>
          </a:bodyPr>
          <a:lstStyle>
            <a:lvl1pPr marL="0" indent="0">
              <a:buFont typeface="Wingdings" pitchFamily="2" charset="2"/>
              <a:buNone/>
              <a:defRPr sz="1800">
                <a:solidFill>
                  <a:schemeClr val="bg1"/>
                </a:solidFill>
              </a:defRPr>
            </a:lvl1pPr>
          </a:lstStyle>
          <a:p>
            <a:pPr lvl="0"/>
            <a:r>
              <a:rPr lang="en-GB"/>
              <a:t>Click to add header</a:t>
            </a:r>
          </a:p>
        </p:txBody>
      </p:sp>
      <p:sp>
        <p:nvSpPr>
          <p:cNvPr id="15" name="Text Placeholder 8">
            <a:extLst>
              <a:ext uri="{FF2B5EF4-FFF2-40B4-BE49-F238E27FC236}">
                <a16:creationId xmlns:a16="http://schemas.microsoft.com/office/drawing/2014/main" id="{B8C74E70-6D3A-4B66-B077-1FC8EF82052A}"/>
              </a:ext>
            </a:extLst>
          </p:cNvPr>
          <p:cNvSpPr>
            <a:spLocks noGrp="1"/>
          </p:cNvSpPr>
          <p:nvPr>
            <p:ph type="body" sz="quarter" idx="22" hasCustomPrompt="1"/>
          </p:nvPr>
        </p:nvSpPr>
        <p:spPr>
          <a:xfrm>
            <a:off x="6333814" y="2025810"/>
            <a:ext cx="5315320" cy="385781"/>
          </a:xfrm>
          <a:prstGeom prst="rect">
            <a:avLst/>
          </a:prstGeom>
          <a:noFill/>
        </p:spPr>
        <p:txBody>
          <a:bodyPr>
            <a:normAutofit/>
          </a:bodyPr>
          <a:lstStyle>
            <a:lvl1pPr marL="0" indent="0">
              <a:buFont typeface="Wingdings" pitchFamily="2" charset="2"/>
              <a:buNone/>
              <a:defRPr sz="1800">
                <a:solidFill>
                  <a:schemeClr val="bg1"/>
                </a:solidFill>
              </a:defRPr>
            </a:lvl1pPr>
          </a:lstStyle>
          <a:p>
            <a:pPr lvl="0"/>
            <a:r>
              <a:rPr lang="en-GB"/>
              <a:t>Click to add header</a:t>
            </a:r>
          </a:p>
        </p:txBody>
      </p:sp>
      <p:sp>
        <p:nvSpPr>
          <p:cNvPr id="3" name="Rectangle 2">
            <a:extLst>
              <a:ext uri="{FF2B5EF4-FFF2-40B4-BE49-F238E27FC236}">
                <a16:creationId xmlns:a16="http://schemas.microsoft.com/office/drawing/2014/main" id="{B184F7CF-B406-C4D0-39A6-876C594B7AB7}"/>
              </a:ext>
            </a:extLst>
          </p:cNvPr>
          <p:cNvSpPr/>
          <p:nvPr userDrawn="1"/>
        </p:nvSpPr>
        <p:spPr>
          <a:xfrm>
            <a:off x="330387" y="2557393"/>
            <a:ext cx="5742000" cy="40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6" name="Rectangle 5">
            <a:extLst>
              <a:ext uri="{FF2B5EF4-FFF2-40B4-BE49-F238E27FC236}">
                <a16:creationId xmlns:a16="http://schemas.microsoft.com/office/drawing/2014/main" id="{C2509D93-4E6B-FA90-2CB5-80AA431C761B}"/>
              </a:ext>
            </a:extLst>
          </p:cNvPr>
          <p:cNvSpPr/>
          <p:nvPr userDrawn="1"/>
        </p:nvSpPr>
        <p:spPr>
          <a:xfrm>
            <a:off x="6118903" y="2557393"/>
            <a:ext cx="5742000" cy="40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2" name="Title 1">
            <a:extLst>
              <a:ext uri="{FF2B5EF4-FFF2-40B4-BE49-F238E27FC236}">
                <a16:creationId xmlns:a16="http://schemas.microsoft.com/office/drawing/2014/main" id="{A7130C61-4C73-3C4B-0365-1FBEFBDF0CD7}"/>
              </a:ext>
            </a:extLst>
          </p:cNvPr>
          <p:cNvSpPr>
            <a:spLocks noGrp="1"/>
          </p:cNvSpPr>
          <p:nvPr>
            <p:ph type="title" hasCustomPrompt="1"/>
          </p:nvPr>
        </p:nvSpPr>
        <p:spPr>
          <a:xfrm>
            <a:off x="339467" y="251427"/>
            <a:ext cx="5756533" cy="1351163"/>
          </a:xfrm>
          <a:prstGeom prst="rect">
            <a:avLst/>
          </a:prstGeom>
        </p:spPr>
        <p:txBody>
          <a:bodyPr anchor="t" anchorCtr="0">
            <a:normAutofit/>
          </a:bodyPr>
          <a:lstStyle>
            <a:lvl1pPr>
              <a:defRPr sz="3600">
                <a:solidFill>
                  <a:schemeClr val="bg1"/>
                </a:solidFill>
              </a:defRPr>
            </a:lvl1pPr>
          </a:lstStyle>
          <a:p>
            <a:r>
              <a:rPr lang="en-GB"/>
              <a:t>Click to add title </a:t>
            </a:r>
            <a:endParaRPr lang="en-SE"/>
          </a:p>
        </p:txBody>
      </p:sp>
      <p:sp>
        <p:nvSpPr>
          <p:cNvPr id="5" name="Text Placeholder 49">
            <a:extLst>
              <a:ext uri="{FF2B5EF4-FFF2-40B4-BE49-F238E27FC236}">
                <a16:creationId xmlns:a16="http://schemas.microsoft.com/office/drawing/2014/main" id="{6289812A-EFC2-E44D-7A23-A7B86263C336}"/>
              </a:ext>
            </a:extLst>
          </p:cNvPr>
          <p:cNvSpPr>
            <a:spLocks noGrp="1"/>
          </p:cNvSpPr>
          <p:nvPr>
            <p:ph type="body" sz="quarter" idx="28" hasCustomPrompt="1"/>
          </p:nvPr>
        </p:nvSpPr>
        <p:spPr>
          <a:xfrm>
            <a:off x="542277" y="2897084"/>
            <a:ext cx="5314661" cy="3500000"/>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7" name="Text Placeholder 49">
            <a:extLst>
              <a:ext uri="{FF2B5EF4-FFF2-40B4-BE49-F238E27FC236}">
                <a16:creationId xmlns:a16="http://schemas.microsoft.com/office/drawing/2014/main" id="{61E73299-A268-81B1-7A72-8B5044B695C0}"/>
              </a:ext>
            </a:extLst>
          </p:cNvPr>
          <p:cNvSpPr>
            <a:spLocks noGrp="1"/>
          </p:cNvSpPr>
          <p:nvPr>
            <p:ph type="body" sz="quarter" idx="29" hasCustomPrompt="1"/>
          </p:nvPr>
        </p:nvSpPr>
        <p:spPr>
          <a:xfrm>
            <a:off x="6335122" y="2897084"/>
            <a:ext cx="5314661" cy="3500000"/>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Tree>
    <p:extLst>
      <p:ext uri="{BB962C8B-B14F-4D97-AF65-F5344CB8AC3E}">
        <p14:creationId xmlns:p14="http://schemas.microsoft.com/office/powerpoint/2010/main" val="780183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s_WB">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F758F4C-1F18-A309-8818-248B1FBBF033}"/>
              </a:ext>
            </a:extLst>
          </p:cNvPr>
          <p:cNvSpPr>
            <a:spLocks noGrp="1"/>
          </p:cNvSpPr>
          <p:nvPr>
            <p:ph sz="half" idx="24" hasCustomPrompt="1"/>
          </p:nvPr>
        </p:nvSpPr>
        <p:spPr>
          <a:xfrm>
            <a:off x="339465" y="2149353"/>
            <a:ext cx="5675242" cy="4138012"/>
          </a:xfrm>
          <a:prstGeom prst="roundRect">
            <a:avLst>
              <a:gd name="adj" fmla="val 2762"/>
            </a:avLst>
          </a:prstGeom>
          <a:solidFill>
            <a:schemeClr val="bg2"/>
          </a:solidFill>
        </p:spPr>
        <p:txBody>
          <a:bodyPr wrap="square" lIns="180000" tIns="180000" rIns="180000" bIns="180000" anchor="t">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1" name="Text Placeholder 8">
            <a:extLst>
              <a:ext uri="{FF2B5EF4-FFF2-40B4-BE49-F238E27FC236}">
                <a16:creationId xmlns:a16="http://schemas.microsoft.com/office/drawing/2014/main" id="{BE454D23-7ED2-8374-77C9-A614CBDE42EB}"/>
              </a:ext>
            </a:extLst>
          </p:cNvPr>
          <p:cNvSpPr>
            <a:spLocks noGrp="1"/>
          </p:cNvSpPr>
          <p:nvPr>
            <p:ph type="body" sz="quarter" idx="25" hasCustomPrompt="1"/>
          </p:nvPr>
        </p:nvSpPr>
        <p:spPr>
          <a:xfrm>
            <a:off x="339465" y="1700214"/>
            <a:ext cx="5675242" cy="361457"/>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12" name="Content Placeholder 2">
            <a:extLst>
              <a:ext uri="{FF2B5EF4-FFF2-40B4-BE49-F238E27FC236}">
                <a16:creationId xmlns:a16="http://schemas.microsoft.com/office/drawing/2014/main" id="{171E5AE1-1159-9CB1-E85E-F6F0FBED2A2E}"/>
              </a:ext>
            </a:extLst>
          </p:cNvPr>
          <p:cNvSpPr>
            <a:spLocks noGrp="1"/>
          </p:cNvSpPr>
          <p:nvPr>
            <p:ph sz="half" idx="26" hasCustomPrompt="1"/>
          </p:nvPr>
        </p:nvSpPr>
        <p:spPr>
          <a:xfrm>
            <a:off x="6167109" y="2149353"/>
            <a:ext cx="5675242" cy="4138012"/>
          </a:xfrm>
          <a:prstGeom prst="roundRect">
            <a:avLst>
              <a:gd name="adj" fmla="val 2762"/>
            </a:avLst>
          </a:prstGeom>
          <a:solidFill>
            <a:schemeClr val="bg2"/>
          </a:solidFill>
        </p:spPr>
        <p:txBody>
          <a:bodyPr wrap="square" lIns="180000" tIns="180000" rIns="180000" bIns="180000" anchor="t">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4" name="Text Placeholder 8">
            <a:extLst>
              <a:ext uri="{FF2B5EF4-FFF2-40B4-BE49-F238E27FC236}">
                <a16:creationId xmlns:a16="http://schemas.microsoft.com/office/drawing/2014/main" id="{BE074BEB-25B9-F111-F51B-0EDF5E5BEEF6}"/>
              </a:ext>
            </a:extLst>
          </p:cNvPr>
          <p:cNvSpPr>
            <a:spLocks noGrp="1"/>
          </p:cNvSpPr>
          <p:nvPr>
            <p:ph type="body" sz="quarter" idx="27" hasCustomPrompt="1"/>
          </p:nvPr>
        </p:nvSpPr>
        <p:spPr>
          <a:xfrm>
            <a:off x="6167109" y="1700214"/>
            <a:ext cx="5675242" cy="361457"/>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2" name="Title 1">
            <a:extLst>
              <a:ext uri="{FF2B5EF4-FFF2-40B4-BE49-F238E27FC236}">
                <a16:creationId xmlns:a16="http://schemas.microsoft.com/office/drawing/2014/main" id="{9B5741A9-A41B-A03C-6FD2-EF26226CBC30}"/>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3" name="Text Placeholder 14">
            <a:extLst>
              <a:ext uri="{FF2B5EF4-FFF2-40B4-BE49-F238E27FC236}">
                <a16:creationId xmlns:a16="http://schemas.microsoft.com/office/drawing/2014/main" id="{401AFBA5-F0C3-3DE3-8877-403D18674522}"/>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1854677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WB">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2" name="Content Placeholder 2">
            <a:extLst>
              <a:ext uri="{FF2B5EF4-FFF2-40B4-BE49-F238E27FC236}">
                <a16:creationId xmlns:a16="http://schemas.microsoft.com/office/drawing/2014/main" id="{19354F87-B813-3D6D-A98E-64DA3C6665F0}"/>
              </a:ext>
            </a:extLst>
          </p:cNvPr>
          <p:cNvSpPr>
            <a:spLocks noGrp="1"/>
          </p:cNvSpPr>
          <p:nvPr>
            <p:ph idx="1" hasCustomPrompt="1"/>
          </p:nvPr>
        </p:nvSpPr>
        <p:spPr>
          <a:xfrm>
            <a:off x="339467" y="1593143"/>
            <a:ext cx="11517916" cy="4718205"/>
          </a:xfrm>
          <a:prstGeom prst="roundRect">
            <a:avLst>
              <a:gd name="adj" fmla="val 3668"/>
            </a:avLst>
          </a:prstGeom>
          <a:solidFill>
            <a:schemeClr val="bg2"/>
          </a:solidFill>
        </p:spPr>
        <p:txBody>
          <a:bodyPr wrap="square" lIns="180000" tIns="180000" rIns="180000" bIns="180000" anchor="t">
            <a:normAutofit/>
          </a:bodyPr>
          <a:lstStyle>
            <a:lvl1pPr>
              <a:defRPr sz="2000"/>
            </a:lvl1pPr>
          </a:lstStyle>
          <a:p>
            <a:pPr lvl="0"/>
            <a:r>
              <a:rPr lang="en-GB"/>
              <a:t>Click to add text, image, chart, or other content</a:t>
            </a:r>
          </a:p>
          <a:p>
            <a:pPr lvl="1"/>
            <a:r>
              <a:rPr lang="en-GB"/>
              <a:t>Second level</a:t>
            </a:r>
          </a:p>
        </p:txBody>
      </p:sp>
      <p:sp>
        <p:nvSpPr>
          <p:cNvPr id="3" name="Title 1">
            <a:extLst>
              <a:ext uri="{FF2B5EF4-FFF2-40B4-BE49-F238E27FC236}">
                <a16:creationId xmlns:a16="http://schemas.microsoft.com/office/drawing/2014/main" id="{ED708DF5-8CC0-608D-35AC-E6B0C7FF92F9}"/>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4" name="Text Placeholder 14">
            <a:extLst>
              <a:ext uri="{FF2B5EF4-FFF2-40B4-BE49-F238E27FC236}">
                <a16:creationId xmlns:a16="http://schemas.microsoft.com/office/drawing/2014/main" id="{CBEC804C-378E-9384-C5A7-33FCDE41D77D}"/>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1388313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VIEDOC">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00000"/>
          </a:solidFill>
          <a:ln w="12700">
            <a:solidFill>
              <a:srgbClr val="000000"/>
            </a:solidFill>
            <a:prstDash val="solid"/>
          </a:ln>
        </p:spPr>
        <p:txBody>
          <a:bodyPr/>
          <a:lstStyle/>
          <a:p>
            <a:endParaRPr lang="en-SE"/>
          </a:p>
        </p:txBody>
      </p:sp>
      <p:sp>
        <p:nvSpPr>
          <p:cNvPr id="3" name="Text 1"/>
          <p:cNvSpPr/>
          <p:nvPr/>
        </p:nvSpPr>
        <p:spPr>
          <a:xfrm>
            <a:off x="11292840" y="118872"/>
            <a:ext cx="658368" cy="210312"/>
          </a:xfrm>
          <a:prstGeom prst="rect">
            <a:avLst/>
          </a:prstGeom>
          <a:noFill/>
          <a:ln/>
        </p:spPr>
        <p:txBody>
          <a:bodyPr wrap="square" lIns="0" tIns="0" rIns="0" bIns="0" rtlCol="0" anchor="ctr"/>
          <a:lstStyle/>
          <a:p>
            <a:pPr marL="0" indent="0" algn="r">
              <a:buNone/>
            </a:pPr>
            <a:r>
              <a:rPr lang="en-US" sz="1200">
                <a:solidFill>
                  <a:srgbClr val="FFFFFF"/>
                </a:solidFill>
                <a:latin typeface="Arial" pitchFamily="34" charset="0"/>
                <a:ea typeface="Arial" pitchFamily="34" charset="-122"/>
                <a:cs typeface="Arial" pitchFamily="34" charset="-120"/>
              </a:rPr>
              <a:t>viedoc™</a:t>
            </a:r>
            <a:endParaRPr lang="en-US" sz="120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777777"/>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4102119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6383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2762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72101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0323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9547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61475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48598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24472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7106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79211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5417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B4E32771-817C-1974-E102-54C60CAABF5A}"/>
              </a:ext>
            </a:extLst>
          </p:cNvPr>
          <p:cNvSpPr/>
          <p:nvPr userDrawn="1"/>
        </p:nvSpPr>
        <p:spPr>
          <a:xfrm>
            <a:off x="0" y="0"/>
            <a:ext cx="12192000" cy="738000"/>
          </a:xfrm>
          <a:custGeom>
            <a:avLst/>
            <a:gdLst>
              <a:gd name="csX0" fmla="*/ 0 w 12192000"/>
              <a:gd name="csY0" fmla="*/ 0 h 738000"/>
              <a:gd name="csX1" fmla="*/ 12192000 w 12192000"/>
              <a:gd name="csY1" fmla="*/ 0 h 738000"/>
              <a:gd name="csX2" fmla="*/ 12192000 w 12192000"/>
              <a:gd name="csY2" fmla="*/ 738000 h 738000"/>
              <a:gd name="csX3" fmla="*/ 12190721 w 12192000"/>
              <a:gd name="csY3" fmla="*/ 738000 h 738000"/>
              <a:gd name="csX4" fmla="*/ 12187271 w 12192000"/>
              <a:gd name="csY4" fmla="*/ 703780 h 738000"/>
              <a:gd name="csX5" fmla="*/ 11959192 w 12192000"/>
              <a:gd name="csY5" fmla="*/ 517890 h 738000"/>
              <a:gd name="csX6" fmla="*/ 232810 w 12192000"/>
              <a:gd name="csY6" fmla="*/ 517890 h 738000"/>
              <a:gd name="csX7" fmla="*/ 4731 w 12192000"/>
              <a:gd name="csY7" fmla="*/ 703780 h 738000"/>
              <a:gd name="csX8" fmla="*/ 1281 w 12192000"/>
              <a:gd name="csY8" fmla="*/ 738000 h 738000"/>
              <a:gd name="csX9" fmla="*/ 0 w 12192000"/>
              <a:gd name="csY9" fmla="*/ 738000 h 738000"/>
              <a:gd name="csX10" fmla="*/ 0 w 12192000"/>
              <a:gd name="csY10" fmla="*/ 0 h 73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2000" h="738000">
                <a:moveTo>
                  <a:pt x="0" y="0"/>
                </a:moveTo>
                <a:lnTo>
                  <a:pt x="12192000" y="0"/>
                </a:lnTo>
                <a:lnTo>
                  <a:pt x="12192000" y="738000"/>
                </a:lnTo>
                <a:lnTo>
                  <a:pt x="12190721" y="738000"/>
                </a:lnTo>
                <a:lnTo>
                  <a:pt x="12187271" y="703780"/>
                </a:lnTo>
                <a:cubicBezTo>
                  <a:pt x="12165563" y="597693"/>
                  <a:pt x="12071697" y="517890"/>
                  <a:pt x="11959192" y="517890"/>
                </a:cubicBezTo>
                <a:lnTo>
                  <a:pt x="232810" y="517890"/>
                </a:lnTo>
                <a:cubicBezTo>
                  <a:pt x="120305" y="517890"/>
                  <a:pt x="26439" y="597693"/>
                  <a:pt x="4731" y="703780"/>
                </a:cubicBezTo>
                <a:lnTo>
                  <a:pt x="1281" y="738000"/>
                </a:lnTo>
                <a:lnTo>
                  <a:pt x="0" y="738000"/>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9" name="Title Placeholder 8">
            <a:extLst>
              <a:ext uri="{FF2B5EF4-FFF2-40B4-BE49-F238E27FC236}">
                <a16:creationId xmlns:a16="http://schemas.microsoft.com/office/drawing/2014/main" id="{F469AF90-27F4-6C8E-B9D4-EDF6C2F064C8}"/>
              </a:ext>
            </a:extLst>
          </p:cNvPr>
          <p:cNvSpPr>
            <a:spLocks noGrp="1"/>
          </p:cNvSpPr>
          <p:nvPr>
            <p:ph type="title"/>
          </p:nvPr>
        </p:nvSpPr>
        <p:spPr>
          <a:xfrm>
            <a:off x="337929" y="772767"/>
            <a:ext cx="11519453" cy="1325563"/>
          </a:xfrm>
          <a:prstGeom prst="rect">
            <a:avLst/>
          </a:prstGeom>
        </p:spPr>
        <p:txBody>
          <a:bodyPr vert="horz" lIns="91440" tIns="45720" rIns="91440" bIns="45720" rtlCol="0" anchor="ctr">
            <a:normAutofit/>
          </a:bodyPr>
          <a:lstStyle/>
          <a:p>
            <a:r>
              <a:rPr lang="en-GB"/>
              <a:t>Click to add title</a:t>
            </a:r>
            <a:endParaRPr lang="en-SE"/>
          </a:p>
        </p:txBody>
      </p:sp>
      <p:sp>
        <p:nvSpPr>
          <p:cNvPr id="11" name="Text Placeholder 10">
            <a:extLst>
              <a:ext uri="{FF2B5EF4-FFF2-40B4-BE49-F238E27FC236}">
                <a16:creationId xmlns:a16="http://schemas.microsoft.com/office/drawing/2014/main" id="{43D7559D-1D0E-C928-D441-C5BBA2967007}"/>
              </a:ext>
            </a:extLst>
          </p:cNvPr>
          <p:cNvSpPr>
            <a:spLocks noGrp="1"/>
          </p:cNvSpPr>
          <p:nvPr>
            <p:ph type="body" idx="1"/>
          </p:nvPr>
        </p:nvSpPr>
        <p:spPr>
          <a:xfrm>
            <a:off x="337929" y="2129565"/>
            <a:ext cx="11519453" cy="4047397"/>
          </a:xfrm>
          <a:prstGeom prst="rect">
            <a:avLst/>
          </a:prstGeom>
        </p:spPr>
        <p:txBody>
          <a:bodyPr vert="horz" lIns="91440" tIns="45720" rIns="91440" bIns="45720" rtlCol="0">
            <a:normAutofit/>
          </a:bodyPr>
          <a:lstStyle/>
          <a:p>
            <a:pPr lvl="0"/>
            <a:r>
              <a:rPr lang="en-GB"/>
              <a:t>Click to add text </a:t>
            </a:r>
          </a:p>
          <a:p>
            <a:pPr lvl="1"/>
            <a:r>
              <a:rPr lang="en-GB"/>
              <a:t>Second level</a:t>
            </a:r>
          </a:p>
          <a:p>
            <a:pPr lvl="2"/>
            <a:r>
              <a:rPr lang="en-GB"/>
              <a:t>Third level</a:t>
            </a:r>
          </a:p>
          <a:p>
            <a:pPr lvl="3"/>
            <a:r>
              <a:rPr lang="en-GB"/>
              <a:t>Fourth level</a:t>
            </a:r>
          </a:p>
          <a:p>
            <a:pPr lvl="4"/>
            <a:r>
              <a:rPr lang="en-GB"/>
              <a:t>Fifth level</a:t>
            </a:r>
            <a:endParaRPr lang="en-SE"/>
          </a:p>
          <a:p>
            <a:pPr lvl="0"/>
            <a:endParaRPr lang="en-GB"/>
          </a:p>
        </p:txBody>
      </p:sp>
      <p:sp>
        <p:nvSpPr>
          <p:cNvPr id="5" name="Footer Placeholder 4">
            <a:extLst>
              <a:ext uri="{FF2B5EF4-FFF2-40B4-BE49-F238E27FC236}">
                <a16:creationId xmlns:a16="http://schemas.microsoft.com/office/drawing/2014/main" id="{41F400E5-169D-5669-2AE9-332F5D255F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Date Placeholder 5">
            <a:extLst>
              <a:ext uri="{FF2B5EF4-FFF2-40B4-BE49-F238E27FC236}">
                <a16:creationId xmlns:a16="http://schemas.microsoft.com/office/drawing/2014/main" id="{3B22E5BF-5B22-2C16-7035-525ED29ABF4A}"/>
              </a:ext>
            </a:extLst>
          </p:cNvPr>
          <p:cNvSpPr>
            <a:spLocks noGrp="1"/>
          </p:cNvSpPr>
          <p:nvPr>
            <p:ph type="dt" sz="half" idx="2"/>
          </p:nvPr>
        </p:nvSpPr>
        <p:spPr>
          <a:xfrm>
            <a:off x="337929"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8D5FCF-E29E-4012-B1C8-FFA36BD03D1A}" type="datetimeFigureOut">
              <a:rPr lang="en-SE" smtClean="0"/>
              <a:t>10/08/2026</a:t>
            </a:fld>
            <a:endParaRPr lang="en-SE"/>
          </a:p>
        </p:txBody>
      </p:sp>
      <p:pic>
        <p:nvPicPr>
          <p:cNvPr id="3" name="Picture 2" descr="A white text on a black background&#10;&#10;Description automatically generated">
            <a:extLst>
              <a:ext uri="{FF2B5EF4-FFF2-40B4-BE49-F238E27FC236}">
                <a16:creationId xmlns:a16="http://schemas.microsoft.com/office/drawing/2014/main" id="{0DCF29D4-842B-C302-C4C9-E4EBE9AEECF6}"/>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330859" y="181227"/>
            <a:ext cx="669797" cy="159177"/>
          </a:xfrm>
          <a:prstGeom prst="rect">
            <a:avLst/>
          </a:prstGeom>
        </p:spPr>
      </p:pic>
    </p:spTree>
    <p:extLst>
      <p:ext uri="{BB962C8B-B14F-4D97-AF65-F5344CB8AC3E}">
        <p14:creationId xmlns:p14="http://schemas.microsoft.com/office/powerpoint/2010/main" val="674656448"/>
      </p:ext>
    </p:extLst>
  </p:cSld>
  <p:clrMap bg1="lt1" tx1="dk1" bg2="lt2" tx2="dk2" accent1="accent1" accent2="accent2" accent3="accent3" accent4="accent4" accent5="accent5" accent6="accent6" hlink="hlink" folHlink="folHlink"/>
  <p:sldLayoutIdLst>
    <p:sldLayoutId id="2147483834" r:id="rId1"/>
    <p:sldLayoutId id="2147483814" r:id="rId2"/>
    <p:sldLayoutId id="2147483830" r:id="rId3"/>
    <p:sldLayoutId id="2147483831" r:id="rId4"/>
    <p:sldLayoutId id="2147483832" r:id="rId5"/>
    <p:sldLayoutId id="2147483835" r:id="rId6"/>
    <p:sldLayoutId id="2147483797" r:id="rId7"/>
    <p:sldLayoutId id="2147483836" r:id="rId8"/>
    <p:sldLayoutId id="2147483852" r:id="rId9"/>
    <p:sldLayoutId id="2147483853" r:id="rId10"/>
    <p:sldLayoutId id="2147483854" r:id="rId11"/>
    <p:sldLayoutId id="2147483851" r:id="rId12"/>
  </p:sldLayoutIdLst>
  <p:txStyles>
    <p:titleStyle>
      <a:lvl1pPr algn="l" defTabSz="914400" rtl="0" eaLnBrk="1" latinLnBrk="0" hangingPunct="1">
        <a:lnSpc>
          <a:spcPct val="90000"/>
        </a:lnSpc>
        <a:spcBef>
          <a:spcPct val="0"/>
        </a:spcBef>
        <a:buNone/>
        <a:defRPr sz="4400" kern="1200">
          <a:solidFill>
            <a:schemeClr val="tx1"/>
          </a:solidFill>
          <a:latin typeface="Viedoc Monument Grotesk" panose="020B0504040202060203" pitchFamily="34" charset="0"/>
          <a:ea typeface="+mj-ea"/>
          <a:cs typeface="+mj-cs"/>
        </a:defRPr>
      </a:lvl1pPr>
    </p:titleStyle>
    <p:bodyStyle>
      <a:lvl1pPr marL="0" indent="0" algn="l" defTabSz="914400" rtl="0" eaLnBrk="1" latinLnBrk="0" hangingPunct="1">
        <a:lnSpc>
          <a:spcPct val="90000"/>
        </a:lnSpc>
        <a:spcBef>
          <a:spcPts val="1000"/>
        </a:spcBef>
        <a:spcAft>
          <a:spcPts val="600"/>
        </a:spcAft>
        <a:buSzPct val="85000"/>
        <a:buFont typeface="Wingdings" pitchFamily="2" charset="2"/>
        <a:buNone/>
        <a:defRPr sz="2000" kern="1200">
          <a:solidFill>
            <a:schemeClr val="tx1"/>
          </a:solidFill>
          <a:latin typeface="Viedoc Monument Grotesk" panose="020B0504040202060203" pitchFamily="34" charset="0"/>
          <a:ea typeface="+mn-ea"/>
          <a:cs typeface="+mn-cs"/>
        </a:defRPr>
      </a:lvl1pPr>
      <a:lvl2pPr marL="0" indent="-234900" algn="l" defTabSz="914400" rtl="0" eaLnBrk="1" latinLnBrk="0" hangingPunct="1">
        <a:lnSpc>
          <a:spcPct val="90000"/>
        </a:lnSpc>
        <a:spcBef>
          <a:spcPts val="500"/>
        </a:spcBef>
        <a:buSzPct val="100000"/>
        <a:buFont typeface="Wingdings" pitchFamily="2" charset="2"/>
        <a:buChar char="§"/>
        <a:defRPr sz="2000" kern="1200">
          <a:solidFill>
            <a:schemeClr val="tx1"/>
          </a:solidFill>
          <a:latin typeface="Viedoc Monument Grotesk" panose="020B0504040202060203" pitchFamily="34" charset="0"/>
          <a:ea typeface="+mn-ea"/>
          <a:cs typeface="+mn-cs"/>
        </a:defRPr>
      </a:lvl2pPr>
      <a:lvl3pPr marL="504000" indent="-198900" algn="l" defTabSz="914400" rtl="0" eaLnBrk="1" latinLnBrk="0" hangingPunct="1">
        <a:lnSpc>
          <a:spcPct val="90000"/>
        </a:lnSpc>
        <a:spcBef>
          <a:spcPts val="500"/>
        </a:spcBef>
        <a:buSzPct val="100000"/>
        <a:buFont typeface="Wingdings" pitchFamily="2" charset="2"/>
        <a:buChar char="§"/>
        <a:defRPr sz="1600" kern="1200">
          <a:solidFill>
            <a:schemeClr val="tx1"/>
          </a:solidFill>
          <a:latin typeface="Viedoc Monument Grotesk" panose="020B0504040202060203" pitchFamily="34" charset="0"/>
          <a:ea typeface="+mn-ea"/>
          <a:cs typeface="+mn-cs"/>
        </a:defRPr>
      </a:lvl3pPr>
      <a:lvl4pPr marL="864000" indent="-198000" algn="l" defTabSz="914400" rtl="0" eaLnBrk="1" latinLnBrk="0" hangingPunct="1">
        <a:lnSpc>
          <a:spcPct val="90000"/>
        </a:lnSpc>
        <a:spcBef>
          <a:spcPts val="500"/>
        </a:spcBef>
        <a:buFont typeface="Wingdings" pitchFamily="2" charset="2"/>
        <a:buChar char="§"/>
        <a:defRPr sz="1600" kern="1200">
          <a:solidFill>
            <a:schemeClr val="tx1"/>
          </a:solidFill>
          <a:latin typeface="Viedoc Monument Grotesk" panose="020B0504040202060203" pitchFamily="34" charset="0"/>
          <a:ea typeface="+mn-ea"/>
          <a:cs typeface="+mn-cs"/>
        </a:defRPr>
      </a:lvl4pPr>
      <a:lvl5pPr marL="1224000" indent="-198000" algn="l" defTabSz="914400" rtl="0" eaLnBrk="1" latinLnBrk="0" hangingPunct="1">
        <a:lnSpc>
          <a:spcPct val="90000"/>
        </a:lnSpc>
        <a:spcBef>
          <a:spcPts val="500"/>
        </a:spcBef>
        <a:buFont typeface="Wingdings" pitchFamily="2" charset="2"/>
        <a:buChar char="§"/>
        <a:defRPr sz="16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54066956"/>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hyperlink" Target="https://app.lokalise.com/workflows/1450373669d76427c0e7c3.62714062/workflow/0cac200e-1fe3-4777-af41-97ed7fd40b9d/edit"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t>Shaping day 1 — how releases actually work today</a:t>
            </a:r>
          </a:p>
        </p:txBody>
      </p:sp>
      <p:sp>
        <p:nvSpPr>
          <p:cNvPr id="6" name="Text Placeholder 5"/>
          <p:cNvSpPr>
            <a:spLocks noGrp="1"/>
          </p:cNvSpPr>
          <p:nvPr>
            <p:ph type="body" sz="quarter" idx="15"/>
          </p:nvPr>
        </p:nvSpPr>
        <p:spPr/>
        <p:txBody>
          <a:bodyPr/>
          <a:lstStyle/>
          <a:p>
            <a:r>
              <a:t>2026-08-18</a:t>
            </a:r>
          </a:p>
        </p:txBody>
      </p:sp>
      <p:sp>
        <p:nvSpPr>
          <p:cNvPr id="7" name="Text Placeholder 6"/>
          <p:cNvSpPr>
            <a:spLocks noGrp="1"/>
          </p:cNvSpPr>
          <p:nvPr>
            <p:ph type="body" sz="quarter" idx="21"/>
          </p:nvPr>
        </p:nvSpPr>
        <p:spPr/>
        <p:txBody>
          <a:bodyPr/>
          <a:lstStyle/>
          <a:p>
            <a:r>
              <a:t>Information security: Internal</a:t>
            </a:r>
          </a:p>
        </p:txBody>
      </p:sp>
      <p:sp>
        <p:nvSpPr>
          <p:cNvPr id="8" name="Text Placeholder 7"/>
          <p:cNvSpPr>
            <a:spLocks noGrp="1"/>
          </p:cNvSpPr>
          <p:nvPr>
            <p:ph type="body" sz="quarter" idx="22"/>
          </p:nvPr>
        </p:nvSpPr>
        <p:spPr/>
        <p:txBody>
          <a:bodyPr/>
          <a:lstStyle/>
          <a:p>
            <a:r>
              <a:t>Project Daybreak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Paste your slides here</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48840"/>
            <a:ext cx="5394960" cy="3931920"/>
          </a:xfrm>
          <a:prstGeom prst="rect">
            <a:avLst/>
          </a:prstGeom>
          <a:noFill/>
        </p:spPr>
        <p:txBody>
          <a:bodyPr wrap="square" lIns="0" tIns="0" rIns="0" bIns="0">
            <a:spAutoFit/>
          </a:bodyPr>
          <a:lstStyle/>
          <a:p>
            <a:pPr algn="l">
              <a:spcBef>
                <a:spcPts val="0"/>
              </a:spcBef>
              <a:spcAft>
                <a:spcPts val="1100"/>
              </a:spcAft>
            </a:pPr>
            <a:r>
              <a:rPr sz="1700" b="1">
                <a:solidFill>
                  <a:srgbClr val="000000"/>
                </a:solidFill>
                <a:latin typeface="Viedoc Monument Grotesk"/>
              </a:rPr>
              <a:t>How this works</a:t>
            </a:r>
          </a:p>
          <a:p>
            <a:pPr algn="l">
              <a:lnSpc>
                <a:spcPct val="112000"/>
              </a:lnSpc>
              <a:spcBef>
                <a:spcPts val="0"/>
              </a:spcBef>
              <a:spcAft>
                <a:spcPts val="1000"/>
              </a:spcAft>
            </a:pPr>
            <a:r>
              <a:rPr sz="1400" b="0">
                <a:solidFill>
                  <a:srgbClr val="5E5E5E"/>
                </a:solidFill>
                <a:latin typeface="Viedoc Monument Grotesk"/>
              </a:rPr>
              <a:t>•   Every speaker has a chapter slide with their name on it.</a:t>
            </a:r>
          </a:p>
          <a:p>
            <a:pPr algn="l">
              <a:lnSpc>
                <a:spcPct val="112000"/>
              </a:lnSpc>
              <a:spcBef>
                <a:spcPts val="0"/>
              </a:spcBef>
              <a:spcAft>
                <a:spcPts val="1000"/>
              </a:spcAft>
            </a:pPr>
            <a:r>
              <a:rPr sz="1400" b="0">
                <a:solidFill>
                  <a:srgbClr val="5E5E5E"/>
                </a:solidFill>
                <a:latin typeface="Viedoc Monument Grotesk"/>
              </a:rPr>
              <a:t>•   Find yours, and paste your slides straight after it.</a:t>
            </a:r>
          </a:p>
          <a:p>
            <a:pPr algn="l">
              <a:lnSpc>
                <a:spcPct val="112000"/>
              </a:lnSpc>
              <a:spcBef>
                <a:spcPts val="0"/>
              </a:spcBef>
              <a:spcAft>
                <a:spcPts val="1000"/>
              </a:spcAft>
            </a:pPr>
            <a:r>
              <a:rPr sz="1400" b="0">
                <a:solidFill>
                  <a:srgbClr val="5E5E5E"/>
                </a:solidFill>
                <a:latin typeface="Viedoc Monument Grotesk"/>
              </a:rPr>
              <a:t>•   Don't move anyone else's section — the order is the running order.</a:t>
            </a:r>
          </a:p>
          <a:p>
            <a:pPr algn="l">
              <a:lnSpc>
                <a:spcPct val="112000"/>
              </a:lnSpc>
              <a:spcBef>
                <a:spcPts val="0"/>
              </a:spcBef>
              <a:spcAft>
                <a:spcPts val="1000"/>
              </a:spcAft>
            </a:pPr>
            <a:r>
              <a:rPr sz="1400" b="0">
                <a:solidFill>
                  <a:srgbClr val="5E5E5E"/>
                </a:solidFill>
                <a:latin typeface="Viedoc Monument Grotesk"/>
              </a:rPr>
              <a:t>•   One deck stays open all day, so nobody juggles screen shares.</a:t>
            </a:r>
          </a:p>
        </p:txBody>
      </p:sp>
      <p:sp>
        <p:nvSpPr>
          <p:cNvPr id="5" name="TextBox 4"/>
          <p:cNvSpPr txBox="1"/>
          <p:nvPr/>
        </p:nvSpPr>
        <p:spPr>
          <a:xfrm>
            <a:off x="6309360" y="2148840"/>
            <a:ext cx="5486400" cy="3931920"/>
          </a:xfrm>
          <a:prstGeom prst="rect">
            <a:avLst/>
          </a:prstGeom>
          <a:noFill/>
        </p:spPr>
        <p:txBody>
          <a:bodyPr wrap="square" lIns="0" tIns="0" rIns="0" bIns="0">
            <a:spAutoFit/>
          </a:bodyPr>
          <a:lstStyle/>
          <a:p>
            <a:pPr algn="l">
              <a:spcBef>
                <a:spcPts val="0"/>
              </a:spcBef>
              <a:spcAft>
                <a:spcPts val="1100"/>
              </a:spcAft>
            </a:pPr>
            <a:r>
              <a:rPr sz="1700" b="1">
                <a:solidFill>
                  <a:srgbClr val="000000"/>
                </a:solidFill>
                <a:latin typeface="Viedoc Monument Grotesk"/>
              </a:rPr>
              <a:t>Nothing polished, please</a:t>
            </a:r>
          </a:p>
          <a:p>
            <a:pPr algn="l">
              <a:lnSpc>
                <a:spcPct val="112000"/>
              </a:lnSpc>
              <a:spcBef>
                <a:spcPts val="0"/>
              </a:spcBef>
              <a:spcAft>
                <a:spcPts val="1000"/>
              </a:spcAft>
            </a:pPr>
            <a:r>
              <a:rPr sz="1400" b="0">
                <a:solidFill>
                  <a:srgbClr val="5E5E5E"/>
                </a:solidFill>
                <a:latin typeface="Viedoc Monument Grotesk"/>
              </a:rPr>
              <a:t>•   A screenshot of the runbook beats a designed slide.</a:t>
            </a:r>
          </a:p>
          <a:p>
            <a:pPr algn="l">
              <a:lnSpc>
                <a:spcPct val="112000"/>
              </a:lnSpc>
              <a:spcBef>
                <a:spcPts val="0"/>
              </a:spcBef>
              <a:spcAft>
                <a:spcPts val="1000"/>
              </a:spcAft>
            </a:pPr>
            <a:r>
              <a:rPr sz="1400" b="0">
                <a:solidFill>
                  <a:srgbClr val="5E5E5E"/>
                </a:solidFill>
                <a:latin typeface="Viedoc Monument Grotesk"/>
              </a:rPr>
              <a:t>•   No slides at all is fine — talk and share your screen.</a:t>
            </a:r>
          </a:p>
          <a:p>
            <a:pPr algn="l">
              <a:lnSpc>
                <a:spcPct val="112000"/>
              </a:lnSpc>
              <a:spcBef>
                <a:spcPts val="0"/>
              </a:spcBef>
              <a:spcAft>
                <a:spcPts val="1000"/>
              </a:spcAft>
            </a:pPr>
            <a:r>
              <a:rPr sz="1400" b="0">
                <a:solidFill>
                  <a:srgbClr val="5E5E5E"/>
                </a:solidFill>
                <a:latin typeface="Viedoc Monument Grotesk"/>
              </a:rPr>
              <a:t>•   The deck is a container, not a standard to live up to.</a:t>
            </a:r>
          </a:p>
        </p:txBody>
      </p:sp>
      <p:sp>
        <p:nvSpPr>
          <p:cNvPr id="6" name="TextBox 5"/>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What we walk out with</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94560"/>
            <a:ext cx="548640" cy="731520"/>
          </a:xfrm>
          <a:prstGeom prst="rect">
            <a:avLst/>
          </a:prstGeom>
          <a:noFill/>
        </p:spPr>
        <p:txBody>
          <a:bodyPr wrap="square" lIns="0" tIns="0" rIns="0" bIns="0">
            <a:spAutoFit/>
          </a:bodyPr>
          <a:lstStyle/>
          <a:p>
            <a:pPr algn="l">
              <a:spcBef>
                <a:spcPts val="0"/>
              </a:spcBef>
              <a:spcAft>
                <a:spcPts val="0"/>
              </a:spcAft>
            </a:pPr>
            <a:r>
              <a:rPr sz="2800" b="1">
                <a:solidFill>
                  <a:srgbClr val="8E7DD2"/>
                </a:solidFill>
                <a:latin typeface="Viedoc Monument Grotesk"/>
              </a:rPr>
              <a:t>1</a:t>
            </a:r>
          </a:p>
        </p:txBody>
      </p:sp>
      <p:sp>
        <p:nvSpPr>
          <p:cNvPr id="5" name="TextBox 4"/>
          <p:cNvSpPr txBox="1"/>
          <p:nvPr/>
        </p:nvSpPr>
        <p:spPr>
          <a:xfrm>
            <a:off x="1097280" y="2194560"/>
            <a:ext cx="10607040" cy="1005840"/>
          </a:xfrm>
          <a:prstGeom prst="rect">
            <a:avLst/>
          </a:prstGeom>
          <a:noFill/>
        </p:spPr>
        <p:txBody>
          <a:bodyPr wrap="square" lIns="0" tIns="0" rIns="0" bIns="0">
            <a:spAutoFit/>
          </a:bodyPr>
          <a:lstStyle/>
          <a:p>
            <a:pPr algn="l">
              <a:spcBef>
                <a:spcPts val="0"/>
              </a:spcBef>
              <a:spcAft>
                <a:spcPts val="300"/>
              </a:spcAft>
            </a:pPr>
            <a:r>
              <a:rPr sz="2000" b="1">
                <a:solidFill>
                  <a:srgbClr val="000000"/>
                </a:solidFill>
                <a:latin typeface="Viedoc Monument Grotesk"/>
              </a:rPr>
              <a:t>The current process</a:t>
            </a:r>
          </a:p>
          <a:p>
            <a:pPr algn="l">
              <a:lnSpc>
                <a:spcPct val="115000"/>
              </a:lnSpc>
              <a:spcBef>
                <a:spcPts val="0"/>
              </a:spcBef>
              <a:spcAft>
                <a:spcPts val="0"/>
              </a:spcAft>
            </a:pPr>
            <a:r>
              <a:rPr sz="1300" b="0">
                <a:solidFill>
                  <a:srgbClr val="5E5E5E"/>
                </a:solidFill>
                <a:latin typeface="Viedoc Monument Grotesk"/>
              </a:rPr>
              <a:t>Every activity from defining a release to final deployment. Including the steps that aren't written down anywhere.</a:t>
            </a:r>
          </a:p>
        </p:txBody>
      </p:sp>
      <p:sp>
        <p:nvSpPr>
          <p:cNvPr id="6" name="TextBox 5"/>
          <p:cNvSpPr txBox="1"/>
          <p:nvPr/>
        </p:nvSpPr>
        <p:spPr>
          <a:xfrm>
            <a:off x="384048" y="3291839"/>
            <a:ext cx="548640" cy="731520"/>
          </a:xfrm>
          <a:prstGeom prst="rect">
            <a:avLst/>
          </a:prstGeom>
          <a:noFill/>
        </p:spPr>
        <p:txBody>
          <a:bodyPr wrap="square" lIns="0" tIns="0" rIns="0" bIns="0">
            <a:spAutoFit/>
          </a:bodyPr>
          <a:lstStyle/>
          <a:p>
            <a:pPr algn="l">
              <a:spcBef>
                <a:spcPts val="0"/>
              </a:spcBef>
              <a:spcAft>
                <a:spcPts val="0"/>
              </a:spcAft>
            </a:pPr>
            <a:r>
              <a:rPr sz="2800" b="1">
                <a:solidFill>
                  <a:srgbClr val="8E7DD2"/>
                </a:solidFill>
                <a:latin typeface="Viedoc Monument Grotesk"/>
              </a:rPr>
              <a:t>2</a:t>
            </a:r>
          </a:p>
        </p:txBody>
      </p:sp>
      <p:sp>
        <p:nvSpPr>
          <p:cNvPr id="7" name="TextBox 6"/>
          <p:cNvSpPr txBox="1"/>
          <p:nvPr/>
        </p:nvSpPr>
        <p:spPr>
          <a:xfrm>
            <a:off x="1097280" y="3291839"/>
            <a:ext cx="10607040" cy="1005840"/>
          </a:xfrm>
          <a:prstGeom prst="rect">
            <a:avLst/>
          </a:prstGeom>
          <a:noFill/>
        </p:spPr>
        <p:txBody>
          <a:bodyPr wrap="square" lIns="0" tIns="0" rIns="0" bIns="0">
            <a:spAutoFit/>
          </a:bodyPr>
          <a:lstStyle/>
          <a:p>
            <a:pPr algn="l">
              <a:spcBef>
                <a:spcPts val="0"/>
              </a:spcBef>
              <a:spcAft>
                <a:spcPts val="300"/>
              </a:spcAft>
            </a:pPr>
            <a:r>
              <a:rPr sz="2000" b="1">
                <a:solidFill>
                  <a:srgbClr val="000000"/>
                </a:solidFill>
                <a:latin typeface="Viedoc Monument Grotesk"/>
              </a:rPr>
              <a:t>The timing</a:t>
            </a:r>
          </a:p>
          <a:p>
            <a:pPr algn="l">
              <a:lnSpc>
                <a:spcPct val="115000"/>
              </a:lnSpc>
              <a:spcBef>
                <a:spcPts val="0"/>
              </a:spcBef>
              <a:spcAft>
                <a:spcPts val="0"/>
              </a:spcAft>
            </a:pPr>
            <a:r>
              <a:rPr sz="1300" b="0">
                <a:solidFill>
                  <a:srgbClr val="5E5E5E"/>
                </a:solidFill>
                <a:latin typeface="Viedoc Monument Grotesk"/>
              </a:rPr>
              <a:t>How long each activity actually takes, and what it waits on.</a:t>
            </a:r>
          </a:p>
        </p:txBody>
      </p:sp>
      <p:sp>
        <p:nvSpPr>
          <p:cNvPr id="8" name="TextBox 7"/>
          <p:cNvSpPr txBox="1"/>
          <p:nvPr/>
        </p:nvSpPr>
        <p:spPr>
          <a:xfrm>
            <a:off x="384048" y="4389120"/>
            <a:ext cx="548640" cy="731520"/>
          </a:xfrm>
          <a:prstGeom prst="rect">
            <a:avLst/>
          </a:prstGeom>
          <a:noFill/>
        </p:spPr>
        <p:txBody>
          <a:bodyPr wrap="square" lIns="0" tIns="0" rIns="0" bIns="0">
            <a:spAutoFit/>
          </a:bodyPr>
          <a:lstStyle/>
          <a:p>
            <a:pPr algn="l">
              <a:spcBef>
                <a:spcPts val="0"/>
              </a:spcBef>
              <a:spcAft>
                <a:spcPts val="0"/>
              </a:spcAft>
            </a:pPr>
            <a:r>
              <a:rPr sz="2800" b="1">
                <a:solidFill>
                  <a:srgbClr val="8E7DD2"/>
                </a:solidFill>
                <a:latin typeface="Viedoc Monument Grotesk"/>
              </a:rPr>
              <a:t>3</a:t>
            </a:r>
          </a:p>
        </p:txBody>
      </p:sp>
      <p:sp>
        <p:nvSpPr>
          <p:cNvPr id="9" name="TextBox 8"/>
          <p:cNvSpPr txBox="1"/>
          <p:nvPr/>
        </p:nvSpPr>
        <p:spPr>
          <a:xfrm>
            <a:off x="1097280" y="4389120"/>
            <a:ext cx="10607040" cy="1005840"/>
          </a:xfrm>
          <a:prstGeom prst="rect">
            <a:avLst/>
          </a:prstGeom>
          <a:noFill/>
        </p:spPr>
        <p:txBody>
          <a:bodyPr wrap="square" lIns="0" tIns="0" rIns="0" bIns="0">
            <a:spAutoFit/>
          </a:bodyPr>
          <a:lstStyle/>
          <a:p>
            <a:pPr algn="l">
              <a:spcBef>
                <a:spcPts val="0"/>
              </a:spcBef>
              <a:spcAft>
                <a:spcPts val="300"/>
              </a:spcAft>
            </a:pPr>
            <a:r>
              <a:rPr sz="2000" b="1">
                <a:solidFill>
                  <a:srgbClr val="000000"/>
                </a:solidFill>
                <a:latin typeface="Viedoc Monument Grotesk"/>
              </a:rPr>
              <a:t>The problems</a:t>
            </a:r>
          </a:p>
          <a:p>
            <a:pPr algn="l">
              <a:lnSpc>
                <a:spcPct val="115000"/>
              </a:lnSpc>
              <a:spcBef>
                <a:spcPts val="0"/>
              </a:spcBef>
              <a:spcAft>
                <a:spcPts val="0"/>
              </a:spcAft>
            </a:pPr>
            <a:r>
              <a:rPr sz="1300" b="0">
                <a:solidFill>
                  <a:srgbClr val="5E5E5E"/>
                </a:solidFill>
                <a:latin typeface="Viedoc Monument Grotesk"/>
              </a:rPr>
              <a:t>As concrete as we can get them, then prioritized.</a:t>
            </a:r>
          </a:p>
        </p:txBody>
      </p:sp>
      <p:sp>
        <p:nvSpPr>
          <p:cNvPr id="10" name="TextBox 9"/>
          <p:cNvSpPr txBox="1"/>
          <p:nvPr/>
        </p:nvSpPr>
        <p:spPr>
          <a:xfrm>
            <a:off x="384048" y="5623560"/>
            <a:ext cx="11430000" cy="548640"/>
          </a:xfrm>
          <a:prstGeom prst="rect">
            <a:avLst/>
          </a:prstGeom>
          <a:noFill/>
        </p:spPr>
        <p:txBody>
          <a:bodyPr wrap="square" lIns="0" tIns="0" rIns="0" bIns="0">
            <a:spAutoFit/>
          </a:bodyPr>
          <a:lstStyle/>
          <a:p>
            <a:pPr algn="l">
              <a:lnSpc>
                <a:spcPct val="115000"/>
              </a:lnSpc>
              <a:spcBef>
                <a:spcPts val="0"/>
              </a:spcBef>
              <a:spcAft>
                <a:spcPts val="0"/>
              </a:spcAft>
            </a:pPr>
            <a:r>
              <a:rPr sz="1300" b="1">
                <a:solidFill>
                  <a:srgbClr val="000000"/>
                </a:solidFill>
                <a:latin typeface="Viedoc Monument Grotesk"/>
              </a:rPr>
              <a:t>We are not designing solutions today. We're mapping what happens, not what's supposed to happen — where those differ, the gap is the useful part.</a:t>
            </a:r>
          </a:p>
        </p:txBody>
      </p:sp>
      <p:sp>
        <p:nvSpPr>
          <p:cNvPr id="11" name="TextBox 10"/>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If you're speaking, cover these four</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 y="2240280"/>
            <a:ext cx="457200" cy="36576"/>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4048" y="2468880"/>
            <a:ext cx="5212080" cy="1554480"/>
          </a:xfrm>
          <a:prstGeom prst="rect">
            <a:avLst/>
          </a:prstGeom>
          <a:noFill/>
        </p:spPr>
        <p:txBody>
          <a:bodyPr wrap="square" lIns="0" tIns="0" rIns="0" bIns="0">
            <a:spAutoFit/>
          </a:bodyPr>
          <a:lstStyle/>
          <a:p>
            <a:pPr algn="l">
              <a:spcBef>
                <a:spcPts val="0"/>
              </a:spcBef>
              <a:spcAft>
                <a:spcPts val="600"/>
              </a:spcAft>
            </a:pPr>
            <a:r>
              <a:rPr sz="1800" b="1">
                <a:solidFill>
                  <a:srgbClr val="000000"/>
                </a:solidFill>
                <a:latin typeface="Viedoc Monument Grotesk"/>
              </a:rPr>
              <a:t>The steps you actually perform</a:t>
            </a:r>
          </a:p>
          <a:p>
            <a:pPr algn="l">
              <a:lnSpc>
                <a:spcPct val="115000"/>
              </a:lnSpc>
              <a:spcBef>
                <a:spcPts val="0"/>
              </a:spcBef>
              <a:spcAft>
                <a:spcPts val="0"/>
              </a:spcAft>
            </a:pPr>
            <a:r>
              <a:rPr sz="1300" b="0">
                <a:solidFill>
                  <a:srgbClr val="5E5E5E"/>
                </a:solidFill>
                <a:latin typeface="Viedoc Monument Grotesk"/>
              </a:rPr>
              <a:t>Including the undocumented ones, and the workarounds.</a:t>
            </a:r>
          </a:p>
        </p:txBody>
      </p:sp>
      <p:sp>
        <p:nvSpPr>
          <p:cNvPr id="6" name="Rectangle 5"/>
          <p:cNvSpPr/>
          <p:nvPr/>
        </p:nvSpPr>
        <p:spPr>
          <a:xfrm>
            <a:off x="6309360" y="2240280"/>
            <a:ext cx="457200" cy="36576"/>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2468880"/>
            <a:ext cx="5212080" cy="1554480"/>
          </a:xfrm>
          <a:prstGeom prst="rect">
            <a:avLst/>
          </a:prstGeom>
          <a:noFill/>
        </p:spPr>
        <p:txBody>
          <a:bodyPr wrap="square" lIns="0" tIns="0" rIns="0" bIns="0">
            <a:spAutoFit/>
          </a:bodyPr>
          <a:lstStyle/>
          <a:p>
            <a:pPr algn="l">
              <a:spcBef>
                <a:spcPts val="0"/>
              </a:spcBef>
              <a:spcAft>
                <a:spcPts val="600"/>
              </a:spcAft>
            </a:pPr>
            <a:r>
              <a:rPr sz="1800" b="1">
                <a:solidFill>
                  <a:srgbClr val="000000"/>
                </a:solidFill>
                <a:latin typeface="Viedoc Monument Grotesk"/>
              </a:rPr>
              <a:t>Roughly how long each takes</a:t>
            </a:r>
          </a:p>
          <a:p>
            <a:pPr algn="l">
              <a:lnSpc>
                <a:spcPct val="115000"/>
              </a:lnSpc>
              <a:spcBef>
                <a:spcPts val="0"/>
              </a:spcBef>
              <a:spcAft>
                <a:spcPts val="0"/>
              </a:spcAft>
            </a:pPr>
            <a:r>
              <a:rPr sz="1300" b="0">
                <a:solidFill>
                  <a:srgbClr val="5E5E5E"/>
                </a:solidFill>
                <a:latin typeface="Viedoc Monument Grotesk"/>
              </a:rPr>
              <a:t>Wall-clock, not effort. Waiting counts.</a:t>
            </a:r>
          </a:p>
        </p:txBody>
      </p:sp>
      <p:sp>
        <p:nvSpPr>
          <p:cNvPr id="8" name="Rectangle 7"/>
          <p:cNvSpPr/>
          <p:nvPr/>
        </p:nvSpPr>
        <p:spPr>
          <a:xfrm>
            <a:off x="384048" y="4160520"/>
            <a:ext cx="457200" cy="36576"/>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4048" y="4389120"/>
            <a:ext cx="5212080" cy="1554480"/>
          </a:xfrm>
          <a:prstGeom prst="rect">
            <a:avLst/>
          </a:prstGeom>
          <a:noFill/>
        </p:spPr>
        <p:txBody>
          <a:bodyPr wrap="square" lIns="0" tIns="0" rIns="0" bIns="0">
            <a:spAutoFit/>
          </a:bodyPr>
          <a:lstStyle/>
          <a:p>
            <a:pPr algn="l">
              <a:spcBef>
                <a:spcPts val="0"/>
              </a:spcBef>
              <a:spcAft>
                <a:spcPts val="600"/>
              </a:spcAft>
            </a:pPr>
            <a:r>
              <a:rPr sz="1800" b="1">
                <a:solidFill>
                  <a:srgbClr val="000000"/>
                </a:solidFill>
                <a:latin typeface="Viedoc Monument Grotesk"/>
              </a:rPr>
              <a:t>The parts that annoy you</a:t>
            </a:r>
          </a:p>
          <a:p>
            <a:pPr algn="l">
              <a:lnSpc>
                <a:spcPct val="115000"/>
              </a:lnSpc>
              <a:spcBef>
                <a:spcPts val="0"/>
              </a:spcBef>
              <a:spcAft>
                <a:spcPts val="0"/>
              </a:spcAft>
            </a:pPr>
            <a:r>
              <a:rPr sz="1300" b="0">
                <a:solidFill>
                  <a:srgbClr val="5E5E5E"/>
                </a:solidFill>
                <a:latin typeface="Viedoc Monument Grotesk"/>
              </a:rPr>
              <a:t>The bits you dread. Say them out loud.</a:t>
            </a:r>
          </a:p>
        </p:txBody>
      </p:sp>
      <p:sp>
        <p:nvSpPr>
          <p:cNvPr id="10" name="Rectangle 9"/>
          <p:cNvSpPr/>
          <p:nvPr/>
        </p:nvSpPr>
        <p:spPr>
          <a:xfrm>
            <a:off x="6309360" y="4160520"/>
            <a:ext cx="457200" cy="36576"/>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4389120"/>
            <a:ext cx="5212080" cy="1554480"/>
          </a:xfrm>
          <a:prstGeom prst="rect">
            <a:avLst/>
          </a:prstGeom>
          <a:noFill/>
        </p:spPr>
        <p:txBody>
          <a:bodyPr wrap="square" lIns="0" tIns="0" rIns="0" bIns="0">
            <a:spAutoFit/>
          </a:bodyPr>
          <a:lstStyle/>
          <a:p>
            <a:pPr algn="l">
              <a:spcBef>
                <a:spcPts val="0"/>
              </a:spcBef>
              <a:spcAft>
                <a:spcPts val="600"/>
              </a:spcAft>
            </a:pPr>
            <a:r>
              <a:rPr sz="1800" b="1">
                <a:solidFill>
                  <a:srgbClr val="000000"/>
                </a:solidFill>
                <a:latin typeface="Viedoc Monument Grotesk"/>
              </a:rPr>
              <a:t>Anything you do because you believe it's required</a:t>
            </a:r>
          </a:p>
          <a:p>
            <a:pPr algn="l">
              <a:lnSpc>
                <a:spcPct val="115000"/>
              </a:lnSpc>
              <a:spcBef>
                <a:spcPts val="0"/>
              </a:spcBef>
              <a:spcAft>
                <a:spcPts val="0"/>
              </a:spcAft>
            </a:pPr>
            <a:r>
              <a:rPr sz="1300" b="0">
                <a:solidFill>
                  <a:srgbClr val="5E5E5E"/>
                </a:solidFill>
                <a:latin typeface="Viedoc Monument Grotesk"/>
              </a:rPr>
              <a:t>And who you think requires it. Some of those turn out to be worth checking.</a:t>
            </a:r>
          </a:p>
        </p:txBody>
      </p:sp>
      <p:sp>
        <p:nvSpPr>
          <p:cNvPr id="12" name="TextBox 11"/>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Morning — walkthroughs</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48840"/>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09:00</a:t>
            </a:r>
          </a:p>
        </p:txBody>
      </p:sp>
      <p:sp>
        <p:nvSpPr>
          <p:cNvPr id="5" name="TextBox 4"/>
          <p:cNvSpPr txBox="1"/>
          <p:nvPr/>
        </p:nvSpPr>
        <p:spPr>
          <a:xfrm>
            <a:off x="1463040" y="2148840"/>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Framing, and how the wall works</a:t>
            </a:r>
          </a:p>
        </p:txBody>
      </p:sp>
      <p:sp>
        <p:nvSpPr>
          <p:cNvPr id="6" name="TextBox 5"/>
          <p:cNvSpPr txBox="1"/>
          <p:nvPr/>
        </p:nvSpPr>
        <p:spPr>
          <a:xfrm>
            <a:off x="7132320" y="2148840"/>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Majd</a:t>
            </a:r>
          </a:p>
        </p:txBody>
      </p:sp>
      <p:sp>
        <p:nvSpPr>
          <p:cNvPr id="7" name="TextBox 6"/>
          <p:cNvSpPr txBox="1"/>
          <p:nvPr/>
        </p:nvSpPr>
        <p:spPr>
          <a:xfrm>
            <a:off x="384048" y="2496312"/>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09:15</a:t>
            </a:r>
          </a:p>
        </p:txBody>
      </p:sp>
      <p:sp>
        <p:nvSpPr>
          <p:cNvPr id="8" name="TextBox 7"/>
          <p:cNvSpPr txBox="1"/>
          <p:nvPr/>
        </p:nvSpPr>
        <p:spPr>
          <a:xfrm>
            <a:off x="1463040" y="2496312"/>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The map we already have</a:t>
            </a:r>
          </a:p>
        </p:txBody>
      </p:sp>
      <p:sp>
        <p:nvSpPr>
          <p:cNvPr id="9" name="TextBox 8"/>
          <p:cNvSpPr txBox="1"/>
          <p:nvPr/>
        </p:nvSpPr>
        <p:spPr>
          <a:xfrm>
            <a:off x="7132320" y="2496312"/>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Lina Gaggi</a:t>
            </a:r>
          </a:p>
        </p:txBody>
      </p:sp>
      <p:sp>
        <p:nvSpPr>
          <p:cNvPr id="10" name="TextBox 9"/>
          <p:cNvSpPr txBox="1"/>
          <p:nvPr/>
        </p:nvSpPr>
        <p:spPr>
          <a:xfrm>
            <a:off x="384048" y="2843784"/>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09:30</a:t>
            </a:r>
          </a:p>
        </p:txBody>
      </p:sp>
      <p:sp>
        <p:nvSpPr>
          <p:cNvPr id="11" name="TextBox 10"/>
          <p:cNvSpPr txBox="1"/>
          <p:nvPr/>
        </p:nvSpPr>
        <p:spPr>
          <a:xfrm>
            <a:off x="1463040" y="2843784"/>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What developers do to prepare a release</a:t>
            </a:r>
          </a:p>
        </p:txBody>
      </p:sp>
      <p:sp>
        <p:nvSpPr>
          <p:cNvPr id="12" name="TextBox 11"/>
          <p:cNvSpPr txBox="1"/>
          <p:nvPr/>
        </p:nvSpPr>
        <p:spPr>
          <a:xfrm>
            <a:off x="7132320" y="2843784"/>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Oscar</a:t>
            </a:r>
          </a:p>
        </p:txBody>
      </p:sp>
      <p:sp>
        <p:nvSpPr>
          <p:cNvPr id="13" name="TextBox 12"/>
          <p:cNvSpPr txBox="1"/>
          <p:nvPr/>
        </p:nvSpPr>
        <p:spPr>
          <a:xfrm>
            <a:off x="384048" y="3191256"/>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09:50</a:t>
            </a:r>
          </a:p>
        </p:txBody>
      </p:sp>
      <p:sp>
        <p:nvSpPr>
          <p:cNvPr id="14" name="TextBox 13"/>
          <p:cNvSpPr txBox="1"/>
          <p:nvPr/>
        </p:nvSpPr>
        <p:spPr>
          <a:xfrm>
            <a:off x="1463040" y="3191256"/>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Pre-staging and release bundles</a:t>
            </a:r>
          </a:p>
        </p:txBody>
      </p:sp>
      <p:sp>
        <p:nvSpPr>
          <p:cNvPr id="15" name="TextBox 14"/>
          <p:cNvSpPr txBox="1"/>
          <p:nvPr/>
        </p:nvSpPr>
        <p:spPr>
          <a:xfrm>
            <a:off x="7132320" y="3191256"/>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Jins Thomas</a:t>
            </a:r>
          </a:p>
        </p:txBody>
      </p:sp>
      <p:sp>
        <p:nvSpPr>
          <p:cNvPr id="16" name="TextBox 15"/>
          <p:cNvSpPr txBox="1"/>
          <p:nvPr/>
        </p:nvSpPr>
        <p:spPr>
          <a:xfrm>
            <a:off x="384048" y="3538727"/>
            <a:ext cx="914400" cy="320040"/>
          </a:xfrm>
          <a:prstGeom prst="rect">
            <a:avLst/>
          </a:prstGeom>
          <a:noFill/>
        </p:spPr>
        <p:txBody>
          <a:bodyPr wrap="square" lIns="0" tIns="0" rIns="0" bIns="0">
            <a:spAutoFit/>
          </a:bodyPr>
          <a:lstStyle/>
          <a:p>
            <a:pPr algn="l">
              <a:spcBef>
                <a:spcPts val="0"/>
              </a:spcBef>
              <a:spcAft>
                <a:spcPts val="0"/>
              </a:spcAft>
            </a:pPr>
            <a:r>
              <a:rPr sz="1400" b="1">
                <a:solidFill>
                  <a:srgbClr val="A0A0A0"/>
                </a:solidFill>
                <a:latin typeface="Viedoc Monument Grotesk"/>
              </a:rPr>
              <a:t>10:10</a:t>
            </a:r>
          </a:p>
        </p:txBody>
      </p:sp>
      <p:sp>
        <p:nvSpPr>
          <p:cNvPr id="17" name="TextBox 16"/>
          <p:cNvSpPr txBox="1"/>
          <p:nvPr/>
        </p:nvSpPr>
        <p:spPr>
          <a:xfrm>
            <a:off x="1463040" y="3538727"/>
            <a:ext cx="5486400" cy="320040"/>
          </a:xfrm>
          <a:prstGeom prst="rect">
            <a:avLst/>
          </a:prstGeom>
          <a:noFill/>
        </p:spPr>
        <p:txBody>
          <a:bodyPr wrap="square" lIns="0" tIns="0" rIns="0" bIns="0">
            <a:spAutoFit/>
          </a:bodyPr>
          <a:lstStyle/>
          <a:p>
            <a:pPr algn="l">
              <a:spcBef>
                <a:spcPts val="0"/>
              </a:spcBef>
              <a:spcAft>
                <a:spcPts val="0"/>
              </a:spcAft>
            </a:pPr>
            <a:r>
              <a:rPr sz="1400" b="0">
                <a:solidFill>
                  <a:srgbClr val="A0A0A0"/>
                </a:solidFill>
                <a:latin typeface="Viedoc Monument Grotesk"/>
              </a:rPr>
              <a:t>Break</a:t>
            </a:r>
          </a:p>
        </p:txBody>
      </p:sp>
      <p:sp>
        <p:nvSpPr>
          <p:cNvPr id="18" name="TextBox 17"/>
          <p:cNvSpPr txBox="1"/>
          <p:nvPr/>
        </p:nvSpPr>
        <p:spPr>
          <a:xfrm>
            <a:off x="7132320" y="3538727"/>
            <a:ext cx="4663440" cy="320040"/>
          </a:xfrm>
          <a:prstGeom prst="rect">
            <a:avLst/>
          </a:prstGeom>
          <a:noFill/>
        </p:spPr>
        <p:txBody>
          <a:bodyPr wrap="square" lIns="0" tIns="0" rIns="0" bIns="0">
            <a:spAutoFit/>
          </a:bodyPr>
          <a:lstStyle/>
          <a:p>
            <a:pPr algn="l">
              <a:spcBef>
                <a:spcPts val="0"/>
              </a:spcBef>
              <a:spcAft>
                <a:spcPts val="0"/>
              </a:spcAft>
            </a:pPr>
            <a:endParaRPr/>
          </a:p>
        </p:txBody>
      </p:sp>
      <p:sp>
        <p:nvSpPr>
          <p:cNvPr id="19" name="TextBox 18"/>
          <p:cNvSpPr txBox="1"/>
          <p:nvPr/>
        </p:nvSpPr>
        <p:spPr>
          <a:xfrm>
            <a:off x="384048" y="3886200"/>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10:25</a:t>
            </a:r>
          </a:p>
        </p:txBody>
      </p:sp>
      <p:sp>
        <p:nvSpPr>
          <p:cNvPr id="20" name="TextBox 19"/>
          <p:cNvSpPr txBox="1"/>
          <p:nvPr/>
        </p:nvSpPr>
        <p:spPr>
          <a:xfrm>
            <a:off x="1463040" y="3886200"/>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The release, end to end</a:t>
            </a:r>
          </a:p>
        </p:txBody>
      </p:sp>
      <p:sp>
        <p:nvSpPr>
          <p:cNvPr id="21" name="TextBox 20"/>
          <p:cNvSpPr txBox="1"/>
          <p:nvPr/>
        </p:nvSpPr>
        <p:spPr>
          <a:xfrm>
            <a:off x="7132320" y="3886200"/>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Isaak Vié</a:t>
            </a:r>
          </a:p>
        </p:txBody>
      </p:sp>
      <p:sp>
        <p:nvSpPr>
          <p:cNvPr id="22" name="TextBox 21"/>
          <p:cNvSpPr txBox="1"/>
          <p:nvPr/>
        </p:nvSpPr>
        <p:spPr>
          <a:xfrm>
            <a:off x="384048" y="4233672"/>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11:05</a:t>
            </a:r>
          </a:p>
        </p:txBody>
      </p:sp>
      <p:sp>
        <p:nvSpPr>
          <p:cNvPr id="23" name="TextBox 22"/>
          <p:cNvSpPr txBox="1"/>
          <p:nvPr/>
        </p:nvSpPr>
        <p:spPr>
          <a:xfrm>
            <a:off x="1463040" y="4233672"/>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The VIRP process</a:t>
            </a:r>
          </a:p>
        </p:txBody>
      </p:sp>
      <p:sp>
        <p:nvSpPr>
          <p:cNvPr id="24" name="TextBox 23"/>
          <p:cNvSpPr txBox="1"/>
          <p:nvPr/>
        </p:nvSpPr>
        <p:spPr>
          <a:xfrm>
            <a:off x="7132320" y="4233672"/>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Yupei Li</a:t>
            </a:r>
          </a:p>
        </p:txBody>
      </p:sp>
      <p:sp>
        <p:nvSpPr>
          <p:cNvPr id="25" name="TextBox 24"/>
          <p:cNvSpPr txBox="1"/>
          <p:nvPr/>
        </p:nvSpPr>
        <p:spPr>
          <a:xfrm>
            <a:off x="384048" y="4581144"/>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11:20</a:t>
            </a:r>
          </a:p>
        </p:txBody>
      </p:sp>
      <p:sp>
        <p:nvSpPr>
          <p:cNvPr id="26" name="TextBox 25"/>
          <p:cNvSpPr txBox="1"/>
          <p:nvPr/>
        </p:nvSpPr>
        <p:spPr>
          <a:xfrm>
            <a:off x="1463040" y="4581144"/>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The translation process</a:t>
            </a:r>
          </a:p>
        </p:txBody>
      </p:sp>
      <p:sp>
        <p:nvSpPr>
          <p:cNvPr id="27" name="TextBox 26"/>
          <p:cNvSpPr txBox="1"/>
          <p:nvPr/>
        </p:nvSpPr>
        <p:spPr>
          <a:xfrm>
            <a:off x="7132320" y="4581144"/>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Yupei Li</a:t>
            </a:r>
          </a:p>
        </p:txBody>
      </p:sp>
      <p:sp>
        <p:nvSpPr>
          <p:cNvPr id="28" name="TextBox 27"/>
          <p:cNvSpPr txBox="1"/>
          <p:nvPr/>
        </p:nvSpPr>
        <p:spPr>
          <a:xfrm>
            <a:off x="384048" y="4928616"/>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11:35</a:t>
            </a:r>
          </a:p>
        </p:txBody>
      </p:sp>
      <p:sp>
        <p:nvSpPr>
          <p:cNvPr id="29" name="TextBox 28"/>
          <p:cNvSpPr txBox="1"/>
          <p:nvPr/>
        </p:nvSpPr>
        <p:spPr>
          <a:xfrm>
            <a:off x="1463040" y="4928616"/>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QA during a release</a:t>
            </a:r>
          </a:p>
        </p:txBody>
      </p:sp>
      <p:sp>
        <p:nvSpPr>
          <p:cNvPr id="30" name="TextBox 29"/>
          <p:cNvSpPr txBox="1"/>
          <p:nvPr/>
        </p:nvSpPr>
        <p:spPr>
          <a:xfrm>
            <a:off x="7132320" y="4928616"/>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Surya Paul · Marialuisa Baldi</a:t>
            </a:r>
          </a:p>
        </p:txBody>
      </p:sp>
      <p:sp>
        <p:nvSpPr>
          <p:cNvPr id="31" name="TextBox 30"/>
          <p:cNvSpPr txBox="1"/>
          <p:nvPr/>
        </p:nvSpPr>
        <p:spPr>
          <a:xfrm>
            <a:off x="384048" y="5276088"/>
            <a:ext cx="914400" cy="320040"/>
          </a:xfrm>
          <a:prstGeom prst="rect">
            <a:avLst/>
          </a:prstGeom>
          <a:noFill/>
        </p:spPr>
        <p:txBody>
          <a:bodyPr wrap="square" lIns="0" tIns="0" rIns="0" bIns="0">
            <a:spAutoFit/>
          </a:bodyPr>
          <a:lstStyle/>
          <a:p>
            <a:pPr algn="l">
              <a:spcBef>
                <a:spcPts val="0"/>
              </a:spcBef>
              <a:spcAft>
                <a:spcPts val="0"/>
              </a:spcAft>
            </a:pPr>
            <a:r>
              <a:rPr sz="1400" b="1">
                <a:solidFill>
                  <a:srgbClr val="A0A0A0"/>
                </a:solidFill>
                <a:latin typeface="Viedoc Monument Grotesk"/>
              </a:rPr>
              <a:t>12:00</a:t>
            </a:r>
          </a:p>
        </p:txBody>
      </p:sp>
      <p:sp>
        <p:nvSpPr>
          <p:cNvPr id="32" name="TextBox 31"/>
          <p:cNvSpPr txBox="1"/>
          <p:nvPr/>
        </p:nvSpPr>
        <p:spPr>
          <a:xfrm>
            <a:off x="1463040" y="5276088"/>
            <a:ext cx="5486400" cy="320040"/>
          </a:xfrm>
          <a:prstGeom prst="rect">
            <a:avLst/>
          </a:prstGeom>
          <a:noFill/>
        </p:spPr>
        <p:txBody>
          <a:bodyPr wrap="square" lIns="0" tIns="0" rIns="0" bIns="0">
            <a:spAutoFit/>
          </a:bodyPr>
          <a:lstStyle/>
          <a:p>
            <a:pPr algn="l">
              <a:spcBef>
                <a:spcPts val="0"/>
              </a:spcBef>
              <a:spcAft>
                <a:spcPts val="0"/>
              </a:spcAft>
            </a:pPr>
            <a:r>
              <a:rPr sz="1400" b="0">
                <a:solidFill>
                  <a:srgbClr val="A0A0A0"/>
                </a:solidFill>
                <a:latin typeface="Viedoc Monument Grotesk"/>
              </a:rPr>
              <a:t>Lunch</a:t>
            </a:r>
          </a:p>
        </p:txBody>
      </p:sp>
      <p:sp>
        <p:nvSpPr>
          <p:cNvPr id="33" name="TextBox 32"/>
          <p:cNvSpPr txBox="1"/>
          <p:nvPr/>
        </p:nvSpPr>
        <p:spPr>
          <a:xfrm>
            <a:off x="7132320" y="5276088"/>
            <a:ext cx="4663440" cy="320040"/>
          </a:xfrm>
          <a:prstGeom prst="rect">
            <a:avLst/>
          </a:prstGeom>
          <a:noFill/>
        </p:spPr>
        <p:txBody>
          <a:bodyPr wrap="square" lIns="0" tIns="0" rIns="0" bIns="0">
            <a:spAutoFit/>
          </a:bodyPr>
          <a:lstStyle/>
          <a:p>
            <a:pPr algn="l">
              <a:spcBef>
                <a:spcPts val="0"/>
              </a:spcBef>
              <a:spcAft>
                <a:spcPts val="0"/>
              </a:spcAft>
            </a:pPr>
            <a:endParaRPr/>
          </a:p>
        </p:txBody>
      </p:sp>
      <p:sp>
        <p:nvSpPr>
          <p:cNvPr id="34" name="TextBox 33"/>
          <p:cNvSpPr txBox="1"/>
          <p:nvPr/>
        </p:nvSpPr>
        <p:spPr>
          <a:xfrm>
            <a:off x="384048" y="5897880"/>
            <a:ext cx="11430000" cy="411480"/>
          </a:xfrm>
          <a:prstGeom prst="rect">
            <a:avLst/>
          </a:prstGeom>
          <a:noFill/>
        </p:spPr>
        <p:txBody>
          <a:bodyPr wrap="square" lIns="0" tIns="0" rIns="0" bIns="0">
            <a:spAutoFit/>
          </a:bodyPr>
          <a:lstStyle/>
          <a:p>
            <a:pPr algn="l">
              <a:lnSpc>
                <a:spcPct val="115000"/>
              </a:lnSpc>
              <a:spcBef>
                <a:spcPts val="0"/>
              </a:spcBef>
              <a:spcAft>
                <a:spcPts val="0"/>
              </a:spcAft>
            </a:pPr>
            <a:r>
              <a:rPr sz="1200" b="0">
                <a:solidFill>
                  <a:srgbClr val="5E5E5E"/>
                </a:solidFill>
                <a:latin typeface="Viedoc Monument Grotesk"/>
              </a:rPr>
              <a:t>Times are hard. Each slot ends with five minutes for putting cards on the wall, so a 15-minute slot is 10 minutes of talking.</a:t>
            </a:r>
          </a:p>
        </p:txBody>
      </p:sp>
      <p:sp>
        <p:nvSpPr>
          <p:cNvPr id="35" name="TextBox 34"/>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Afternoon — building the map</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48840"/>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13:00</a:t>
            </a:r>
          </a:p>
        </p:txBody>
      </p:sp>
      <p:sp>
        <p:nvSpPr>
          <p:cNvPr id="5" name="TextBox 4"/>
          <p:cNvSpPr txBox="1"/>
          <p:nvPr/>
        </p:nvSpPr>
        <p:spPr>
          <a:xfrm>
            <a:off x="1463040" y="2148840"/>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What's actually required of us</a:t>
            </a:r>
          </a:p>
        </p:txBody>
      </p:sp>
      <p:sp>
        <p:nvSpPr>
          <p:cNvPr id="6" name="TextBox 5"/>
          <p:cNvSpPr txBox="1"/>
          <p:nvPr/>
        </p:nvSpPr>
        <p:spPr>
          <a:xfrm>
            <a:off x="7132320" y="2148840"/>
            <a:ext cx="4663440" cy="200055"/>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 Marialuisa Baldi</a:t>
            </a:r>
          </a:p>
        </p:txBody>
      </p:sp>
      <p:sp>
        <p:nvSpPr>
          <p:cNvPr id="7" name="TextBox 6"/>
          <p:cNvSpPr txBox="1"/>
          <p:nvPr/>
        </p:nvSpPr>
        <p:spPr>
          <a:xfrm>
            <a:off x="384048" y="2496312"/>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13:30</a:t>
            </a:r>
          </a:p>
        </p:txBody>
      </p:sp>
      <p:sp>
        <p:nvSpPr>
          <p:cNvPr id="8" name="TextBox 7"/>
          <p:cNvSpPr txBox="1"/>
          <p:nvPr/>
        </p:nvSpPr>
        <p:spPr>
          <a:xfrm>
            <a:off x="1463040" y="2496312"/>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Running the PQ scripts</a:t>
            </a:r>
          </a:p>
        </p:txBody>
      </p:sp>
      <p:sp>
        <p:nvSpPr>
          <p:cNvPr id="9" name="TextBox 8"/>
          <p:cNvSpPr txBox="1"/>
          <p:nvPr/>
        </p:nvSpPr>
        <p:spPr>
          <a:xfrm>
            <a:off x="7132320" y="2496312"/>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Ganesh Karthick Sekar</a:t>
            </a:r>
          </a:p>
        </p:txBody>
      </p:sp>
      <p:sp>
        <p:nvSpPr>
          <p:cNvPr id="10" name="TextBox 9"/>
          <p:cNvSpPr txBox="1"/>
          <p:nvPr/>
        </p:nvSpPr>
        <p:spPr>
          <a:xfrm>
            <a:off x="384048" y="2843784"/>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13:40</a:t>
            </a:r>
          </a:p>
        </p:txBody>
      </p:sp>
      <p:sp>
        <p:nvSpPr>
          <p:cNvPr id="11" name="TextBox 10"/>
          <p:cNvSpPr txBox="1"/>
          <p:nvPr/>
        </p:nvSpPr>
        <p:spPr>
          <a:xfrm>
            <a:off x="1463040" y="2843784"/>
            <a:ext cx="5486400" cy="215444"/>
          </a:xfrm>
          <a:prstGeom prst="rect">
            <a:avLst/>
          </a:prstGeom>
          <a:noFill/>
        </p:spPr>
        <p:txBody>
          <a:bodyPr wrap="square" lIns="0" tIns="0" rIns="0" bIns="0" anchor="t">
            <a:spAutoFit/>
          </a:bodyPr>
          <a:lstStyle/>
          <a:p>
            <a:r>
              <a:rPr sz="1400" b="1">
                <a:solidFill>
                  <a:srgbClr val="000000"/>
                </a:solidFill>
                <a:latin typeface="Viedoc Monument Grotesk"/>
              </a:rPr>
              <a:t>Release notes and </a:t>
            </a:r>
            <a:r>
              <a:rPr lang="en-US" sz="1400" b="1">
                <a:solidFill>
                  <a:srgbClr val="000000"/>
                </a:solidFill>
                <a:latin typeface="Viedoc Monument Grotesk"/>
              </a:rPr>
              <a:t> Viedoc Learning</a:t>
            </a:r>
          </a:p>
        </p:txBody>
      </p:sp>
      <p:sp>
        <p:nvSpPr>
          <p:cNvPr id="12" name="TextBox 11"/>
          <p:cNvSpPr txBox="1"/>
          <p:nvPr/>
        </p:nvSpPr>
        <p:spPr>
          <a:xfrm>
            <a:off x="7132320" y="2843784"/>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Rachel McKie</a:t>
            </a:r>
          </a:p>
        </p:txBody>
      </p:sp>
      <p:sp>
        <p:nvSpPr>
          <p:cNvPr id="13" name="TextBox 12"/>
          <p:cNvSpPr txBox="1"/>
          <p:nvPr/>
        </p:nvSpPr>
        <p:spPr>
          <a:xfrm>
            <a:off x="384048" y="3191256"/>
            <a:ext cx="914400" cy="320040"/>
          </a:xfrm>
          <a:prstGeom prst="rect">
            <a:avLst/>
          </a:prstGeom>
          <a:noFill/>
        </p:spPr>
        <p:txBody>
          <a:bodyPr wrap="square" lIns="0" tIns="0" rIns="0" bIns="0">
            <a:spAutoFit/>
          </a:bodyPr>
          <a:lstStyle/>
          <a:p>
            <a:pPr algn="l">
              <a:spcBef>
                <a:spcPts val="0"/>
              </a:spcBef>
              <a:spcAft>
                <a:spcPts val="0"/>
              </a:spcAft>
            </a:pPr>
            <a:r>
              <a:rPr sz="1400" b="1">
                <a:solidFill>
                  <a:srgbClr val="A0A0A0"/>
                </a:solidFill>
                <a:latin typeface="Viedoc Monument Grotesk"/>
              </a:rPr>
              <a:t>13:50</a:t>
            </a:r>
          </a:p>
        </p:txBody>
      </p:sp>
      <p:sp>
        <p:nvSpPr>
          <p:cNvPr id="14" name="TextBox 13"/>
          <p:cNvSpPr txBox="1"/>
          <p:nvPr/>
        </p:nvSpPr>
        <p:spPr>
          <a:xfrm>
            <a:off x="1463040" y="3191256"/>
            <a:ext cx="5486400" cy="320040"/>
          </a:xfrm>
          <a:prstGeom prst="rect">
            <a:avLst/>
          </a:prstGeom>
          <a:noFill/>
        </p:spPr>
        <p:txBody>
          <a:bodyPr wrap="square" lIns="0" tIns="0" rIns="0" bIns="0">
            <a:spAutoFit/>
          </a:bodyPr>
          <a:lstStyle/>
          <a:p>
            <a:pPr algn="l">
              <a:spcBef>
                <a:spcPts val="0"/>
              </a:spcBef>
              <a:spcAft>
                <a:spcPts val="0"/>
              </a:spcAft>
            </a:pPr>
            <a:r>
              <a:rPr sz="1400" b="0">
                <a:solidFill>
                  <a:srgbClr val="A0A0A0"/>
                </a:solidFill>
                <a:latin typeface="Viedoc Monument Grotesk"/>
              </a:rPr>
              <a:t>Break</a:t>
            </a:r>
          </a:p>
        </p:txBody>
      </p:sp>
      <p:sp>
        <p:nvSpPr>
          <p:cNvPr id="15" name="TextBox 14"/>
          <p:cNvSpPr txBox="1"/>
          <p:nvPr/>
        </p:nvSpPr>
        <p:spPr>
          <a:xfrm>
            <a:off x="7132320" y="3191256"/>
            <a:ext cx="4663440" cy="320040"/>
          </a:xfrm>
          <a:prstGeom prst="rect">
            <a:avLst/>
          </a:prstGeom>
          <a:noFill/>
        </p:spPr>
        <p:txBody>
          <a:bodyPr wrap="square" lIns="0" tIns="0" rIns="0" bIns="0">
            <a:spAutoFit/>
          </a:bodyPr>
          <a:lstStyle/>
          <a:p>
            <a:pPr algn="l">
              <a:spcBef>
                <a:spcPts val="0"/>
              </a:spcBef>
              <a:spcAft>
                <a:spcPts val="0"/>
              </a:spcAft>
            </a:pPr>
            <a:endParaRPr/>
          </a:p>
        </p:txBody>
      </p:sp>
      <p:sp>
        <p:nvSpPr>
          <p:cNvPr id="16" name="TextBox 15"/>
          <p:cNvSpPr txBox="1"/>
          <p:nvPr/>
        </p:nvSpPr>
        <p:spPr>
          <a:xfrm>
            <a:off x="384048" y="3538727"/>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14:00</a:t>
            </a:r>
          </a:p>
        </p:txBody>
      </p:sp>
      <p:sp>
        <p:nvSpPr>
          <p:cNvPr id="17" name="TextBox 16"/>
          <p:cNvSpPr txBox="1"/>
          <p:nvPr/>
        </p:nvSpPr>
        <p:spPr>
          <a:xfrm>
            <a:off x="1463040" y="3538727"/>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Fill the gaps, then vote</a:t>
            </a:r>
          </a:p>
        </p:txBody>
      </p:sp>
      <p:sp>
        <p:nvSpPr>
          <p:cNvPr id="18" name="TextBox 17"/>
          <p:cNvSpPr txBox="1"/>
          <p:nvPr/>
        </p:nvSpPr>
        <p:spPr>
          <a:xfrm>
            <a:off x="7132320" y="3538727"/>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Everyone</a:t>
            </a:r>
          </a:p>
        </p:txBody>
      </p:sp>
      <p:sp>
        <p:nvSpPr>
          <p:cNvPr id="19" name="TextBox 18"/>
          <p:cNvSpPr txBox="1"/>
          <p:nvPr/>
        </p:nvSpPr>
        <p:spPr>
          <a:xfrm>
            <a:off x="384048" y="3886200"/>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14:30</a:t>
            </a:r>
          </a:p>
        </p:txBody>
      </p:sp>
      <p:sp>
        <p:nvSpPr>
          <p:cNvPr id="20" name="TextBox 19"/>
          <p:cNvSpPr txBox="1"/>
          <p:nvPr/>
        </p:nvSpPr>
        <p:spPr>
          <a:xfrm>
            <a:off x="1463040" y="3886200"/>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Walk the line</a:t>
            </a:r>
          </a:p>
        </p:txBody>
      </p:sp>
      <p:sp>
        <p:nvSpPr>
          <p:cNvPr id="21" name="TextBox 20"/>
          <p:cNvSpPr txBox="1"/>
          <p:nvPr/>
        </p:nvSpPr>
        <p:spPr>
          <a:xfrm>
            <a:off x="7132320" y="3886200"/>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Everyone</a:t>
            </a:r>
          </a:p>
        </p:txBody>
      </p:sp>
      <p:sp>
        <p:nvSpPr>
          <p:cNvPr id="22" name="TextBox 21"/>
          <p:cNvSpPr txBox="1"/>
          <p:nvPr/>
        </p:nvSpPr>
        <p:spPr>
          <a:xfrm>
            <a:off x="384048" y="4233672"/>
            <a:ext cx="914400" cy="32004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14:50</a:t>
            </a:r>
          </a:p>
        </p:txBody>
      </p:sp>
      <p:sp>
        <p:nvSpPr>
          <p:cNvPr id="23" name="TextBox 22"/>
          <p:cNvSpPr txBox="1"/>
          <p:nvPr/>
        </p:nvSpPr>
        <p:spPr>
          <a:xfrm>
            <a:off x="1463040" y="4233672"/>
            <a:ext cx="5486400" cy="320040"/>
          </a:xfrm>
          <a:prstGeom prst="rect">
            <a:avLst/>
          </a:prstGeom>
          <a:noFill/>
        </p:spPr>
        <p:txBody>
          <a:bodyPr wrap="square" lIns="0" tIns="0" rIns="0" bIns="0">
            <a:spAutoFit/>
          </a:bodyPr>
          <a:lstStyle/>
          <a:p>
            <a:pPr algn="l">
              <a:spcBef>
                <a:spcPts val="0"/>
              </a:spcBef>
              <a:spcAft>
                <a:spcPts val="0"/>
              </a:spcAft>
            </a:pPr>
            <a:r>
              <a:rPr sz="1400" b="1">
                <a:solidFill>
                  <a:srgbClr val="000000"/>
                </a:solidFill>
                <a:latin typeface="Viedoc Monument Grotesk"/>
              </a:rPr>
              <a:t>Wrap</a:t>
            </a:r>
          </a:p>
        </p:txBody>
      </p:sp>
      <p:sp>
        <p:nvSpPr>
          <p:cNvPr id="24" name="TextBox 23"/>
          <p:cNvSpPr txBox="1"/>
          <p:nvPr/>
        </p:nvSpPr>
        <p:spPr>
          <a:xfrm>
            <a:off x="7132320" y="4233672"/>
            <a:ext cx="4663440" cy="32004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Majd</a:t>
            </a:r>
          </a:p>
        </p:txBody>
      </p:sp>
      <p:sp>
        <p:nvSpPr>
          <p:cNvPr id="25" name="TextBox 24"/>
          <p:cNvSpPr txBox="1"/>
          <p:nvPr/>
        </p:nvSpPr>
        <p:spPr>
          <a:xfrm>
            <a:off x="384048" y="4581144"/>
            <a:ext cx="914400" cy="320040"/>
          </a:xfrm>
          <a:prstGeom prst="rect">
            <a:avLst/>
          </a:prstGeom>
          <a:noFill/>
        </p:spPr>
        <p:txBody>
          <a:bodyPr wrap="square" lIns="0" tIns="0" rIns="0" bIns="0">
            <a:spAutoFit/>
          </a:bodyPr>
          <a:lstStyle/>
          <a:p>
            <a:pPr algn="l">
              <a:spcBef>
                <a:spcPts val="0"/>
              </a:spcBef>
              <a:spcAft>
                <a:spcPts val="0"/>
              </a:spcAft>
            </a:pPr>
            <a:r>
              <a:rPr sz="1400" b="1">
                <a:solidFill>
                  <a:srgbClr val="A0A0A0"/>
                </a:solidFill>
                <a:latin typeface="Viedoc Monument Grotesk"/>
              </a:rPr>
              <a:t>15:00</a:t>
            </a:r>
          </a:p>
        </p:txBody>
      </p:sp>
      <p:sp>
        <p:nvSpPr>
          <p:cNvPr id="26" name="TextBox 25"/>
          <p:cNvSpPr txBox="1"/>
          <p:nvPr/>
        </p:nvSpPr>
        <p:spPr>
          <a:xfrm>
            <a:off x="1463040" y="4581144"/>
            <a:ext cx="5486400" cy="320040"/>
          </a:xfrm>
          <a:prstGeom prst="rect">
            <a:avLst/>
          </a:prstGeom>
          <a:noFill/>
        </p:spPr>
        <p:txBody>
          <a:bodyPr wrap="square" lIns="0" tIns="0" rIns="0" bIns="0">
            <a:spAutoFit/>
          </a:bodyPr>
          <a:lstStyle/>
          <a:p>
            <a:pPr algn="l">
              <a:spcBef>
                <a:spcPts val="0"/>
              </a:spcBef>
              <a:spcAft>
                <a:spcPts val="0"/>
              </a:spcAft>
            </a:pPr>
            <a:r>
              <a:rPr sz="1400" b="0">
                <a:solidFill>
                  <a:srgbClr val="A0A0A0"/>
                </a:solidFill>
                <a:latin typeface="Viedoc Monument Grotesk"/>
              </a:rPr>
              <a:t>End</a:t>
            </a:r>
          </a:p>
        </p:txBody>
      </p:sp>
      <p:sp>
        <p:nvSpPr>
          <p:cNvPr id="27" name="TextBox 26"/>
          <p:cNvSpPr txBox="1"/>
          <p:nvPr/>
        </p:nvSpPr>
        <p:spPr>
          <a:xfrm>
            <a:off x="7132320" y="4581144"/>
            <a:ext cx="4663440" cy="320040"/>
          </a:xfrm>
          <a:prstGeom prst="rect">
            <a:avLst/>
          </a:prstGeom>
          <a:noFill/>
        </p:spPr>
        <p:txBody>
          <a:bodyPr wrap="square" lIns="0" tIns="0" rIns="0" bIns="0">
            <a:spAutoFit/>
          </a:bodyPr>
          <a:lstStyle/>
          <a:p>
            <a:pPr algn="l">
              <a:spcBef>
                <a:spcPts val="0"/>
              </a:spcBef>
              <a:spcAft>
                <a:spcPts val="0"/>
              </a:spcAft>
            </a:pPr>
            <a:endParaRPr/>
          </a:p>
        </p:txBody>
      </p:sp>
      <p:sp>
        <p:nvSpPr>
          <p:cNvPr id="28" name="TextBox 27"/>
          <p:cNvSpPr txBox="1"/>
          <p:nvPr/>
        </p:nvSpPr>
        <p:spPr>
          <a:xfrm>
            <a:off x="384048" y="5897880"/>
            <a:ext cx="11430000" cy="411480"/>
          </a:xfrm>
          <a:prstGeom prst="rect">
            <a:avLst/>
          </a:prstGeom>
          <a:noFill/>
        </p:spPr>
        <p:txBody>
          <a:bodyPr wrap="square" lIns="0" tIns="0" rIns="0" bIns="0">
            <a:spAutoFit/>
          </a:bodyPr>
          <a:lstStyle/>
          <a:p>
            <a:pPr algn="l">
              <a:lnSpc>
                <a:spcPct val="115000"/>
              </a:lnSpc>
              <a:spcBef>
                <a:spcPts val="0"/>
              </a:spcBef>
              <a:spcAft>
                <a:spcPts val="0"/>
              </a:spcAft>
            </a:pPr>
            <a:r>
              <a:rPr sz="1200" b="0">
                <a:solidFill>
                  <a:srgbClr val="5E5E5E"/>
                </a:solidFill>
                <a:latin typeface="Viedoc Monument Grotesk"/>
              </a:rPr>
              <a:t>The break is short on purpose. From 14:00 everyone is on their feet at the wall for the rest of the day. We finish at 15:00.</a:t>
            </a:r>
          </a:p>
        </p:txBody>
      </p:sp>
      <p:sp>
        <p:nvSpPr>
          <p:cNvPr id="29" name="TextBox 28"/>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How we build the map: the release line</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48840"/>
            <a:ext cx="11430000" cy="731520"/>
          </a:xfrm>
          <a:prstGeom prst="rect">
            <a:avLst/>
          </a:prstGeom>
          <a:noFill/>
        </p:spPr>
        <p:txBody>
          <a:bodyPr wrap="square" lIns="0" tIns="0" rIns="0" bIns="0">
            <a:spAutoFit/>
          </a:bodyPr>
          <a:lstStyle/>
          <a:p>
            <a:pPr algn="l">
              <a:lnSpc>
                <a:spcPct val="120000"/>
              </a:lnSpc>
              <a:spcBef>
                <a:spcPts val="0"/>
              </a:spcBef>
              <a:spcAft>
                <a:spcPts val="0"/>
              </a:spcAft>
            </a:pPr>
            <a:r>
              <a:rPr sz="1600" b="1">
                <a:solidFill>
                  <a:srgbClr val="8E7DD2"/>
                </a:solidFill>
                <a:latin typeface="Viedoc Monument Grotesk"/>
              </a:rPr>
              <a:t>One line across the wall, from "we're doing a release" to "it's live everywhere". It gets built all day, not at the end.</a:t>
            </a:r>
          </a:p>
        </p:txBody>
      </p:sp>
      <p:sp>
        <p:nvSpPr>
          <p:cNvPr id="5" name="TextBox 4"/>
          <p:cNvSpPr txBox="1"/>
          <p:nvPr/>
        </p:nvSpPr>
        <p:spPr>
          <a:xfrm>
            <a:off x="384048" y="3017520"/>
            <a:ext cx="2468880" cy="45720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While someone talks</a:t>
            </a:r>
          </a:p>
        </p:txBody>
      </p:sp>
      <p:sp>
        <p:nvSpPr>
          <p:cNvPr id="6" name="TextBox 5"/>
          <p:cNvSpPr txBox="1"/>
          <p:nvPr/>
        </p:nvSpPr>
        <p:spPr>
          <a:xfrm>
            <a:off x="3017520" y="3017520"/>
            <a:ext cx="8778240" cy="457200"/>
          </a:xfrm>
          <a:prstGeom prst="rect">
            <a:avLst/>
          </a:prstGeom>
          <a:noFill/>
        </p:spPr>
        <p:txBody>
          <a:bodyPr wrap="square" lIns="0" tIns="0" rIns="0" bIns="0">
            <a:spAutoFit/>
          </a:bodyPr>
          <a:lstStyle/>
          <a:p>
            <a:pPr algn="l">
              <a:lnSpc>
                <a:spcPct val="115000"/>
              </a:lnSpc>
              <a:spcBef>
                <a:spcPts val="0"/>
              </a:spcBef>
              <a:spcAft>
                <a:spcPts val="0"/>
              </a:spcAft>
            </a:pPr>
            <a:r>
              <a:rPr sz="1400" b="0">
                <a:solidFill>
                  <a:srgbClr val="000000"/>
                </a:solidFill>
                <a:latin typeface="Viedoc Monument Grotesk"/>
              </a:rPr>
              <a:t>Everyone writes cards for what they hear. One activity per card.</a:t>
            </a:r>
          </a:p>
        </p:txBody>
      </p:sp>
      <p:sp>
        <p:nvSpPr>
          <p:cNvPr id="7" name="TextBox 6"/>
          <p:cNvSpPr txBox="1"/>
          <p:nvPr/>
        </p:nvSpPr>
        <p:spPr>
          <a:xfrm>
            <a:off x="384048" y="3520439"/>
            <a:ext cx="2468880" cy="45720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When they finish</a:t>
            </a:r>
          </a:p>
        </p:txBody>
      </p:sp>
      <p:sp>
        <p:nvSpPr>
          <p:cNvPr id="8" name="TextBox 7"/>
          <p:cNvSpPr txBox="1"/>
          <p:nvPr/>
        </p:nvSpPr>
        <p:spPr>
          <a:xfrm>
            <a:off x="3017520" y="3520439"/>
            <a:ext cx="8778240" cy="457200"/>
          </a:xfrm>
          <a:prstGeom prst="rect">
            <a:avLst/>
          </a:prstGeom>
          <a:noFill/>
        </p:spPr>
        <p:txBody>
          <a:bodyPr wrap="square" lIns="0" tIns="0" rIns="0" bIns="0">
            <a:spAutoFit/>
          </a:bodyPr>
          <a:lstStyle/>
          <a:p>
            <a:pPr algn="l">
              <a:lnSpc>
                <a:spcPct val="115000"/>
              </a:lnSpc>
              <a:spcBef>
                <a:spcPts val="0"/>
              </a:spcBef>
              <a:spcAft>
                <a:spcPts val="0"/>
              </a:spcAft>
            </a:pPr>
            <a:r>
              <a:rPr sz="1400" b="0">
                <a:solidFill>
                  <a:srgbClr val="000000"/>
                </a:solidFill>
                <a:latin typeface="Viedoc Monument Grotesk"/>
              </a:rPr>
              <a:t>Five minutes to stick them on the line, in the row for whoever does it.</a:t>
            </a:r>
          </a:p>
        </p:txBody>
      </p:sp>
      <p:sp>
        <p:nvSpPr>
          <p:cNvPr id="9" name="TextBox 8"/>
          <p:cNvSpPr txBox="1"/>
          <p:nvPr/>
        </p:nvSpPr>
        <p:spPr>
          <a:xfrm>
            <a:off x="384048" y="4023359"/>
            <a:ext cx="2468880" cy="45720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By lunch</a:t>
            </a:r>
          </a:p>
        </p:txBody>
      </p:sp>
      <p:sp>
        <p:nvSpPr>
          <p:cNvPr id="10" name="TextBox 9"/>
          <p:cNvSpPr txBox="1"/>
          <p:nvPr/>
        </p:nvSpPr>
        <p:spPr>
          <a:xfrm>
            <a:off x="3017520" y="4023359"/>
            <a:ext cx="8778240" cy="457200"/>
          </a:xfrm>
          <a:prstGeom prst="rect">
            <a:avLst/>
          </a:prstGeom>
          <a:noFill/>
        </p:spPr>
        <p:txBody>
          <a:bodyPr wrap="square" lIns="0" tIns="0" rIns="0" bIns="0">
            <a:spAutoFit/>
          </a:bodyPr>
          <a:lstStyle/>
          <a:p>
            <a:pPr algn="l">
              <a:lnSpc>
                <a:spcPct val="115000"/>
              </a:lnSpc>
              <a:spcBef>
                <a:spcPts val="0"/>
              </a:spcBef>
              <a:spcAft>
                <a:spcPts val="0"/>
              </a:spcAft>
            </a:pPr>
            <a:r>
              <a:rPr sz="1400" b="0">
                <a:solidFill>
                  <a:srgbClr val="000000"/>
                </a:solidFill>
                <a:latin typeface="Viedoc Monument Grotesk"/>
              </a:rPr>
              <a:t>Most of the map exists. Wrong and missing is fine — that's the afternoon.</a:t>
            </a:r>
          </a:p>
        </p:txBody>
      </p:sp>
      <p:sp>
        <p:nvSpPr>
          <p:cNvPr id="11" name="TextBox 10"/>
          <p:cNvSpPr txBox="1"/>
          <p:nvPr/>
        </p:nvSpPr>
        <p:spPr>
          <a:xfrm>
            <a:off x="384048" y="4526279"/>
            <a:ext cx="2468880" cy="45720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14:00</a:t>
            </a:r>
          </a:p>
        </p:txBody>
      </p:sp>
      <p:sp>
        <p:nvSpPr>
          <p:cNvPr id="12" name="TextBox 11"/>
          <p:cNvSpPr txBox="1"/>
          <p:nvPr/>
        </p:nvSpPr>
        <p:spPr>
          <a:xfrm>
            <a:off x="3017520" y="4526279"/>
            <a:ext cx="8778240" cy="457200"/>
          </a:xfrm>
          <a:prstGeom prst="rect">
            <a:avLst/>
          </a:prstGeom>
          <a:noFill/>
        </p:spPr>
        <p:txBody>
          <a:bodyPr wrap="square" lIns="0" tIns="0" rIns="0" bIns="0">
            <a:spAutoFit/>
          </a:bodyPr>
          <a:lstStyle/>
          <a:p>
            <a:pPr algn="l">
              <a:lnSpc>
                <a:spcPct val="115000"/>
              </a:lnSpc>
              <a:spcBef>
                <a:spcPts val="0"/>
              </a:spcBef>
              <a:spcAft>
                <a:spcPts val="0"/>
              </a:spcAft>
            </a:pPr>
            <a:r>
              <a:rPr sz="1400" b="0">
                <a:solidFill>
                  <a:srgbClr val="000000"/>
                </a:solidFill>
                <a:latin typeface="Viedoc Monument Grotesk"/>
              </a:rPr>
              <a:t>Everyone at the wall, filling in what the talks didn't cover, then voting.</a:t>
            </a:r>
          </a:p>
        </p:txBody>
      </p:sp>
      <p:sp>
        <p:nvSpPr>
          <p:cNvPr id="13" name="TextBox 12"/>
          <p:cNvSpPr txBox="1"/>
          <p:nvPr/>
        </p:nvSpPr>
        <p:spPr>
          <a:xfrm>
            <a:off x="384048" y="5029199"/>
            <a:ext cx="2468880" cy="457200"/>
          </a:xfrm>
          <a:prstGeom prst="rect">
            <a:avLst/>
          </a:prstGeom>
          <a:noFill/>
        </p:spPr>
        <p:txBody>
          <a:bodyPr wrap="square" lIns="0" tIns="0" rIns="0" bIns="0">
            <a:spAutoFit/>
          </a:bodyPr>
          <a:lstStyle/>
          <a:p>
            <a:pPr algn="l">
              <a:spcBef>
                <a:spcPts val="0"/>
              </a:spcBef>
              <a:spcAft>
                <a:spcPts val="0"/>
              </a:spcAft>
            </a:pPr>
            <a:r>
              <a:rPr sz="1400" b="1">
                <a:solidFill>
                  <a:srgbClr val="8E7DD2"/>
                </a:solidFill>
                <a:latin typeface="Viedoc Monument Grotesk"/>
              </a:rPr>
              <a:t>14:30</a:t>
            </a:r>
          </a:p>
        </p:txBody>
      </p:sp>
      <p:sp>
        <p:nvSpPr>
          <p:cNvPr id="14" name="TextBox 13"/>
          <p:cNvSpPr txBox="1"/>
          <p:nvPr/>
        </p:nvSpPr>
        <p:spPr>
          <a:xfrm>
            <a:off x="3017520" y="5029199"/>
            <a:ext cx="8778240" cy="457200"/>
          </a:xfrm>
          <a:prstGeom prst="rect">
            <a:avLst/>
          </a:prstGeom>
          <a:noFill/>
        </p:spPr>
        <p:txBody>
          <a:bodyPr wrap="square" lIns="0" tIns="0" rIns="0" bIns="0">
            <a:spAutoFit/>
          </a:bodyPr>
          <a:lstStyle/>
          <a:p>
            <a:pPr algn="l">
              <a:lnSpc>
                <a:spcPct val="115000"/>
              </a:lnSpc>
              <a:spcBef>
                <a:spcPts val="0"/>
              </a:spcBef>
              <a:spcAft>
                <a:spcPts val="0"/>
              </a:spcAft>
            </a:pPr>
            <a:r>
              <a:rPr sz="1400" b="0">
                <a:solidFill>
                  <a:srgbClr val="000000"/>
                </a:solidFill>
                <a:latin typeface="Viedoc Monument Grotesk"/>
              </a:rPr>
              <a:t>Walk the whole line out loud and fix it, top to bottom.</a:t>
            </a:r>
          </a:p>
        </p:txBody>
      </p:sp>
      <p:sp>
        <p:nvSpPr>
          <p:cNvPr id="15" name="TextBox 14"/>
          <p:cNvSpPr txBox="1"/>
          <p:nvPr/>
        </p:nvSpPr>
        <p:spPr>
          <a:xfrm>
            <a:off x="384048" y="5715000"/>
            <a:ext cx="11430000" cy="548640"/>
          </a:xfrm>
          <a:prstGeom prst="rect">
            <a:avLst/>
          </a:prstGeom>
          <a:noFill/>
        </p:spPr>
        <p:txBody>
          <a:bodyPr wrap="square" lIns="0" tIns="0" rIns="0" bIns="0">
            <a:spAutoFit/>
          </a:bodyPr>
          <a:lstStyle/>
          <a:p>
            <a:pPr algn="l">
              <a:lnSpc>
                <a:spcPct val="115000"/>
              </a:lnSpc>
              <a:spcBef>
                <a:spcPts val="0"/>
              </a:spcBef>
              <a:spcAft>
                <a:spcPts val="0"/>
              </a:spcAft>
            </a:pPr>
            <a:r>
              <a:rPr sz="1200" b="0">
                <a:solidFill>
                  <a:srgbClr val="5E5E5E"/>
                </a:solidFill>
                <a:latin typeface="Viedoc Monument Grotesk"/>
              </a:rPr>
              <a:t>Rows are who does the work — Platform, Development, QA, Product, Translation, Release &amp; Response, everyone else. The wall is open all day: add a card whenever one occurs to you, lunch included.</a:t>
            </a:r>
          </a:p>
        </p:txBody>
      </p:sp>
      <p:sp>
        <p:nvSpPr>
          <p:cNvPr id="16" name="TextBox 15"/>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The wall</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1965960"/>
            <a:ext cx="11430000" cy="365760"/>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Columns are when, rows are who. The phases and steps are Viedoc's own, off Confluence — we're not inventing structure today.</a:t>
            </a:r>
          </a:p>
        </p:txBody>
      </p:sp>
      <p:sp>
        <p:nvSpPr>
          <p:cNvPr id="5" name="TextBox 4"/>
          <p:cNvSpPr txBox="1"/>
          <p:nvPr/>
        </p:nvSpPr>
        <p:spPr>
          <a:xfrm>
            <a:off x="384048" y="2286000"/>
            <a:ext cx="11430000" cy="320040"/>
          </a:xfrm>
          <a:prstGeom prst="rect">
            <a:avLst/>
          </a:prstGeom>
          <a:noFill/>
        </p:spPr>
        <p:txBody>
          <a:bodyPr wrap="square" lIns="0" tIns="0" rIns="0" bIns="0">
            <a:spAutoFit/>
          </a:bodyPr>
          <a:lstStyle/>
          <a:p>
            <a:pPr algn="l">
              <a:spcBef>
                <a:spcPts val="0"/>
              </a:spcBef>
              <a:spcAft>
                <a:spcPts val="0"/>
              </a:spcAft>
            </a:pPr>
            <a:r>
              <a:rPr sz="1200" b="1">
                <a:solidFill>
                  <a:srgbClr val="000000"/>
                </a:solidFill>
                <a:latin typeface="Viedoc Monument Grotesk"/>
              </a:rPr>
              <a:t>Two blank rows on purpose. A row still empty at the end of the day is a finding, not untidiness.</a:t>
            </a:r>
          </a:p>
        </p:txBody>
      </p:sp>
      <p:sp>
        <p:nvSpPr>
          <p:cNvPr id="6" name="Rectangle 5"/>
          <p:cNvSpPr/>
          <p:nvPr/>
        </p:nvSpPr>
        <p:spPr>
          <a:xfrm>
            <a:off x="2331720" y="2788920"/>
            <a:ext cx="1316736" cy="512064"/>
          </a:xfrm>
          <a:prstGeom prst="rect">
            <a:avLst/>
          </a:prstGeom>
          <a:solidFill>
            <a:srgbClr val="A7B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423160" y="2834639"/>
            <a:ext cx="1133856" cy="420624"/>
          </a:xfrm>
          <a:prstGeom prst="rect">
            <a:avLst/>
          </a:prstGeom>
          <a:noFill/>
        </p:spPr>
        <p:txBody>
          <a:bodyPr wrap="square" lIns="0" tIns="0" rIns="0" bIns="0">
            <a:spAutoFit/>
          </a:bodyPr>
          <a:lstStyle/>
          <a:p>
            <a:pPr algn="l">
              <a:spcBef>
                <a:spcPts val="0"/>
              </a:spcBef>
              <a:spcAft>
                <a:spcPts val="0"/>
              </a:spcAft>
            </a:pPr>
            <a:r>
              <a:rPr sz="800" b="1">
                <a:solidFill>
                  <a:srgbClr val="FFFFFF"/>
                </a:solidFill>
                <a:latin typeface="Viedoc Monument Grotesk"/>
              </a:rPr>
              <a:t>Phase 1</a:t>
            </a:r>
          </a:p>
          <a:p>
            <a:pPr algn="l">
              <a:spcBef>
                <a:spcPts val="0"/>
              </a:spcBef>
              <a:spcAft>
                <a:spcPts val="0"/>
              </a:spcAft>
            </a:pPr>
            <a:r>
              <a:rPr sz="1100" b="1">
                <a:solidFill>
                  <a:srgbClr val="FFFFFF"/>
                </a:solidFill>
                <a:latin typeface="Viedoc Monument Grotesk"/>
              </a:rPr>
              <a:t>Active development</a:t>
            </a:r>
          </a:p>
        </p:txBody>
      </p:sp>
      <p:sp>
        <p:nvSpPr>
          <p:cNvPr id="8" name="TextBox 7"/>
          <p:cNvSpPr txBox="1"/>
          <p:nvPr/>
        </p:nvSpPr>
        <p:spPr>
          <a:xfrm>
            <a:off x="2423160" y="3364991"/>
            <a:ext cx="1133856" cy="566928"/>
          </a:xfrm>
          <a:prstGeom prst="rect">
            <a:avLst/>
          </a:prstGeom>
          <a:noFill/>
        </p:spPr>
        <p:txBody>
          <a:bodyPr wrap="square" lIns="0" tIns="0" rIns="0" bIns="0">
            <a:spAutoFit/>
          </a:bodyPr>
          <a:lstStyle/>
          <a:p>
            <a:pPr algn="l">
              <a:lnSpc>
                <a:spcPct val="110000"/>
              </a:lnSpc>
              <a:spcBef>
                <a:spcPts val="0"/>
              </a:spcBef>
              <a:spcAft>
                <a:spcPts val="0"/>
              </a:spcAft>
            </a:pPr>
            <a:r>
              <a:rPr sz="800" b="0">
                <a:solidFill>
                  <a:srgbClr val="5E5E5E"/>
                </a:solidFill>
                <a:latin typeface="Viedoc Monument Grotesk"/>
              </a:rPr>
              <a:t>What's in the release</a:t>
            </a:r>
          </a:p>
        </p:txBody>
      </p:sp>
      <p:sp>
        <p:nvSpPr>
          <p:cNvPr id="9" name="Rectangle 8"/>
          <p:cNvSpPr/>
          <p:nvPr/>
        </p:nvSpPr>
        <p:spPr>
          <a:xfrm>
            <a:off x="3703320" y="2788920"/>
            <a:ext cx="3694176" cy="512064"/>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94759" y="2834639"/>
            <a:ext cx="3511296" cy="420624"/>
          </a:xfrm>
          <a:prstGeom prst="rect">
            <a:avLst/>
          </a:prstGeom>
          <a:noFill/>
        </p:spPr>
        <p:txBody>
          <a:bodyPr wrap="square" lIns="0" tIns="0" rIns="0" bIns="0">
            <a:spAutoFit/>
          </a:bodyPr>
          <a:lstStyle/>
          <a:p>
            <a:pPr algn="l">
              <a:spcBef>
                <a:spcPts val="0"/>
              </a:spcBef>
              <a:spcAft>
                <a:spcPts val="0"/>
              </a:spcAft>
            </a:pPr>
            <a:r>
              <a:rPr sz="800" b="1">
                <a:solidFill>
                  <a:srgbClr val="FFFFFF"/>
                </a:solidFill>
                <a:latin typeface="Viedoc Monument Grotesk"/>
              </a:rPr>
              <a:t>Phase 2</a:t>
            </a:r>
          </a:p>
          <a:p>
            <a:pPr algn="l">
              <a:spcBef>
                <a:spcPts val="0"/>
              </a:spcBef>
              <a:spcAft>
                <a:spcPts val="0"/>
              </a:spcAft>
            </a:pPr>
            <a:r>
              <a:rPr sz="1100" b="1">
                <a:solidFill>
                  <a:srgbClr val="FFFFFF"/>
                </a:solidFill>
                <a:latin typeface="Viedoc Monument Grotesk"/>
              </a:rPr>
              <a:t>Release stabilization</a:t>
            </a:r>
          </a:p>
        </p:txBody>
      </p:sp>
      <p:sp>
        <p:nvSpPr>
          <p:cNvPr id="11" name="TextBox 10"/>
          <p:cNvSpPr txBox="1"/>
          <p:nvPr/>
        </p:nvSpPr>
        <p:spPr>
          <a:xfrm>
            <a:off x="3794759" y="3364991"/>
            <a:ext cx="3511296" cy="566928"/>
          </a:xfrm>
          <a:prstGeom prst="rect">
            <a:avLst/>
          </a:prstGeom>
          <a:noFill/>
        </p:spPr>
        <p:txBody>
          <a:bodyPr wrap="square" lIns="0" tIns="0" rIns="0" bIns="0">
            <a:spAutoFit/>
          </a:bodyPr>
          <a:lstStyle/>
          <a:p>
            <a:pPr algn="l">
              <a:lnSpc>
                <a:spcPct val="110000"/>
              </a:lnSpc>
              <a:spcBef>
                <a:spcPts val="0"/>
              </a:spcBef>
              <a:spcAft>
                <a:spcPts val="0"/>
              </a:spcAft>
            </a:pPr>
            <a:r>
              <a:rPr sz="800" b="0">
                <a:solidFill>
                  <a:srgbClr val="5E5E5E"/>
                </a:solidFill>
                <a:latin typeface="Viedoc Monument Grotesk"/>
              </a:rPr>
              <a:t>Steps 0–8 — code freeze · translations · configuration report · bundles · regression</a:t>
            </a:r>
          </a:p>
        </p:txBody>
      </p:sp>
      <p:sp>
        <p:nvSpPr>
          <p:cNvPr id="12" name="Rectangle 11"/>
          <p:cNvSpPr/>
          <p:nvPr/>
        </p:nvSpPr>
        <p:spPr>
          <a:xfrm>
            <a:off x="7452359" y="2788920"/>
            <a:ext cx="2322576" cy="512064"/>
          </a:xfrm>
          <a:prstGeom prst="rect">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799" y="2834639"/>
            <a:ext cx="2139696" cy="420624"/>
          </a:xfrm>
          <a:prstGeom prst="rect">
            <a:avLst/>
          </a:prstGeom>
          <a:noFill/>
        </p:spPr>
        <p:txBody>
          <a:bodyPr wrap="square" lIns="0" tIns="0" rIns="0" bIns="0">
            <a:spAutoFit/>
          </a:bodyPr>
          <a:lstStyle/>
          <a:p>
            <a:pPr algn="l">
              <a:spcBef>
                <a:spcPts val="0"/>
              </a:spcBef>
              <a:spcAft>
                <a:spcPts val="0"/>
              </a:spcAft>
            </a:pPr>
            <a:r>
              <a:rPr sz="800" b="1">
                <a:solidFill>
                  <a:srgbClr val="FFFFFF"/>
                </a:solidFill>
                <a:latin typeface="Viedoc Monument Grotesk"/>
              </a:rPr>
              <a:t>Phase 3</a:t>
            </a:r>
          </a:p>
          <a:p>
            <a:pPr algn="l">
              <a:spcBef>
                <a:spcPts val="0"/>
              </a:spcBef>
              <a:spcAft>
                <a:spcPts val="0"/>
              </a:spcAft>
            </a:pPr>
            <a:r>
              <a:rPr sz="1100" b="1">
                <a:solidFill>
                  <a:srgbClr val="FFFFFF"/>
                </a:solidFill>
                <a:latin typeface="Viedoc Monument Grotesk"/>
              </a:rPr>
              <a:t>Qualification</a:t>
            </a:r>
          </a:p>
        </p:txBody>
      </p:sp>
      <p:sp>
        <p:nvSpPr>
          <p:cNvPr id="14" name="TextBox 13"/>
          <p:cNvSpPr txBox="1"/>
          <p:nvPr/>
        </p:nvSpPr>
        <p:spPr>
          <a:xfrm>
            <a:off x="7543799" y="3364991"/>
            <a:ext cx="2139696" cy="566928"/>
          </a:xfrm>
          <a:prstGeom prst="rect">
            <a:avLst/>
          </a:prstGeom>
          <a:noFill/>
        </p:spPr>
        <p:txBody>
          <a:bodyPr wrap="square" lIns="0" tIns="0" rIns="0" bIns="0">
            <a:spAutoFit/>
          </a:bodyPr>
          <a:lstStyle/>
          <a:p>
            <a:pPr algn="l">
              <a:lnSpc>
                <a:spcPct val="110000"/>
              </a:lnSpc>
              <a:spcBef>
                <a:spcPts val="0"/>
              </a:spcBef>
              <a:spcAft>
                <a:spcPts val="0"/>
              </a:spcAft>
            </a:pPr>
            <a:r>
              <a:rPr sz="800" b="0">
                <a:solidFill>
                  <a:srgbClr val="5E5E5E"/>
                </a:solidFill>
                <a:latin typeface="Viedoc Monument Grotesk"/>
              </a:rPr>
              <a:t>Step 9 handover · stage · IQ / OQ / PQ · approvals</a:t>
            </a:r>
          </a:p>
        </p:txBody>
      </p:sp>
      <p:sp>
        <p:nvSpPr>
          <p:cNvPr id="15" name="Rectangle 14"/>
          <p:cNvSpPr/>
          <p:nvPr/>
        </p:nvSpPr>
        <p:spPr>
          <a:xfrm>
            <a:off x="9829799" y="2788920"/>
            <a:ext cx="1865376" cy="512064"/>
          </a:xfrm>
          <a:prstGeom prst="rect">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21239" y="2834639"/>
            <a:ext cx="1682496" cy="420624"/>
          </a:xfrm>
          <a:prstGeom prst="rect">
            <a:avLst/>
          </a:prstGeom>
          <a:noFill/>
        </p:spPr>
        <p:txBody>
          <a:bodyPr wrap="square" lIns="0" tIns="0" rIns="0" bIns="0">
            <a:spAutoFit/>
          </a:bodyPr>
          <a:lstStyle/>
          <a:p>
            <a:pPr algn="l">
              <a:spcBef>
                <a:spcPts val="0"/>
              </a:spcBef>
              <a:spcAft>
                <a:spcPts val="0"/>
              </a:spcAft>
            </a:pPr>
            <a:r>
              <a:rPr sz="800" b="1">
                <a:solidFill>
                  <a:srgbClr val="FFFFFF"/>
                </a:solidFill>
                <a:latin typeface="Viedoc Monument Grotesk"/>
              </a:rPr>
              <a:t>Phase 4</a:t>
            </a:r>
          </a:p>
          <a:p>
            <a:pPr algn="l">
              <a:spcBef>
                <a:spcPts val="0"/>
              </a:spcBef>
              <a:spcAft>
                <a:spcPts val="0"/>
              </a:spcAft>
            </a:pPr>
            <a:r>
              <a:rPr sz="1100" b="1">
                <a:solidFill>
                  <a:srgbClr val="FFFFFF"/>
                </a:solidFill>
                <a:latin typeface="Viedoc Monument Grotesk"/>
              </a:rPr>
              <a:t>Go live</a:t>
            </a:r>
          </a:p>
        </p:txBody>
      </p:sp>
      <p:sp>
        <p:nvSpPr>
          <p:cNvPr id="17" name="TextBox 16"/>
          <p:cNvSpPr txBox="1"/>
          <p:nvPr/>
        </p:nvSpPr>
        <p:spPr>
          <a:xfrm>
            <a:off x="9921239" y="3364991"/>
            <a:ext cx="1682496" cy="566928"/>
          </a:xfrm>
          <a:prstGeom prst="rect">
            <a:avLst/>
          </a:prstGeom>
          <a:noFill/>
        </p:spPr>
        <p:txBody>
          <a:bodyPr wrap="square" lIns="0" tIns="0" rIns="0" bIns="0">
            <a:spAutoFit/>
          </a:bodyPr>
          <a:lstStyle/>
          <a:p>
            <a:pPr algn="l">
              <a:lnSpc>
                <a:spcPct val="110000"/>
              </a:lnSpc>
              <a:spcBef>
                <a:spcPts val="0"/>
              </a:spcBef>
              <a:spcAft>
                <a:spcPts val="0"/>
              </a:spcAft>
            </a:pPr>
            <a:r>
              <a:rPr sz="800" b="0">
                <a:solidFill>
                  <a:srgbClr val="5E5E5E"/>
                </a:solidFill>
                <a:latin typeface="Viedoc Monument Grotesk"/>
              </a:rPr>
              <a:t>Training and production, 9 environments · VIRP · down-merge</a:t>
            </a:r>
          </a:p>
        </p:txBody>
      </p:sp>
      <p:sp>
        <p:nvSpPr>
          <p:cNvPr id="18" name="Rectangle 17"/>
          <p:cNvSpPr/>
          <p:nvPr/>
        </p:nvSpPr>
        <p:spPr>
          <a:xfrm>
            <a:off x="2331720" y="3995928"/>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3858768"/>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Product</a:t>
            </a:r>
          </a:p>
        </p:txBody>
      </p:sp>
      <p:sp>
        <p:nvSpPr>
          <p:cNvPr id="20" name="Rectangle 19"/>
          <p:cNvSpPr/>
          <p:nvPr/>
        </p:nvSpPr>
        <p:spPr>
          <a:xfrm>
            <a:off x="2331720" y="4197096"/>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4059935"/>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Development</a:t>
            </a:r>
          </a:p>
        </p:txBody>
      </p:sp>
      <p:sp>
        <p:nvSpPr>
          <p:cNvPr id="22" name="Rectangle 21"/>
          <p:cNvSpPr/>
          <p:nvPr/>
        </p:nvSpPr>
        <p:spPr>
          <a:xfrm>
            <a:off x="2331720" y="4398264"/>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4261103"/>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Translation</a:t>
            </a:r>
          </a:p>
        </p:txBody>
      </p:sp>
      <p:sp>
        <p:nvSpPr>
          <p:cNvPr id="24" name="Rectangle 23"/>
          <p:cNvSpPr/>
          <p:nvPr/>
        </p:nvSpPr>
        <p:spPr>
          <a:xfrm>
            <a:off x="2331720" y="4599431"/>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4462271"/>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QA</a:t>
            </a:r>
          </a:p>
        </p:txBody>
      </p:sp>
      <p:sp>
        <p:nvSpPr>
          <p:cNvPr id="26" name="Rectangle 25"/>
          <p:cNvSpPr/>
          <p:nvPr/>
        </p:nvSpPr>
        <p:spPr>
          <a:xfrm>
            <a:off x="2331720" y="4800599"/>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4663439"/>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Platform / IT</a:t>
            </a:r>
          </a:p>
        </p:txBody>
      </p:sp>
      <p:sp>
        <p:nvSpPr>
          <p:cNvPr id="28" name="Rectangle 27"/>
          <p:cNvSpPr/>
          <p:nvPr/>
        </p:nvSpPr>
        <p:spPr>
          <a:xfrm>
            <a:off x="2331720" y="5001767"/>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4864607"/>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Release &amp; Response</a:t>
            </a:r>
          </a:p>
        </p:txBody>
      </p:sp>
      <p:sp>
        <p:nvSpPr>
          <p:cNvPr id="30" name="Rectangle 29"/>
          <p:cNvSpPr/>
          <p:nvPr/>
        </p:nvSpPr>
        <p:spPr>
          <a:xfrm>
            <a:off x="2331720" y="5202935"/>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5065775"/>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Support / PS</a:t>
            </a:r>
          </a:p>
        </p:txBody>
      </p:sp>
      <p:sp>
        <p:nvSpPr>
          <p:cNvPr id="32" name="Rectangle 31"/>
          <p:cNvSpPr/>
          <p:nvPr/>
        </p:nvSpPr>
        <p:spPr>
          <a:xfrm>
            <a:off x="2331720" y="5404103"/>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5266943"/>
            <a:ext cx="1828800" cy="237744"/>
          </a:xfrm>
          <a:prstGeom prst="rect">
            <a:avLst/>
          </a:prstGeom>
          <a:noFill/>
        </p:spPr>
        <p:txBody>
          <a:bodyPr wrap="square" lIns="0" tIns="0" rIns="0" bIns="0">
            <a:spAutoFit/>
          </a:bodyPr>
          <a:lstStyle/>
          <a:p>
            <a:pPr algn="l">
              <a:spcBef>
                <a:spcPts val="0"/>
              </a:spcBef>
              <a:spcAft>
                <a:spcPts val="0"/>
              </a:spcAft>
            </a:pPr>
            <a:r>
              <a:rPr sz="1000" b="0">
                <a:solidFill>
                  <a:srgbClr val="000000"/>
                </a:solidFill>
                <a:latin typeface="Viedoc Monument Grotesk"/>
              </a:rPr>
              <a:t>Approvers</a:t>
            </a:r>
          </a:p>
        </p:txBody>
      </p:sp>
      <p:sp>
        <p:nvSpPr>
          <p:cNvPr id="34" name="Rectangle 33"/>
          <p:cNvSpPr/>
          <p:nvPr/>
        </p:nvSpPr>
        <p:spPr>
          <a:xfrm>
            <a:off x="2331720" y="5605271"/>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5468111"/>
            <a:ext cx="1828800" cy="237744"/>
          </a:xfrm>
          <a:prstGeom prst="rect">
            <a:avLst/>
          </a:prstGeom>
          <a:noFill/>
        </p:spPr>
        <p:txBody>
          <a:bodyPr wrap="square" lIns="0" tIns="0" rIns="0" bIns="0">
            <a:spAutoFit/>
          </a:bodyPr>
          <a:lstStyle/>
          <a:p>
            <a:pPr algn="l">
              <a:spcBef>
                <a:spcPts val="0"/>
              </a:spcBef>
              <a:spcAft>
                <a:spcPts val="0"/>
              </a:spcAft>
            </a:pPr>
            <a:r>
              <a:rPr sz="1000" b="0">
                <a:solidFill>
                  <a:srgbClr val="A0A0A0"/>
                </a:solidFill>
                <a:latin typeface="Viedoc Monument Grotesk"/>
              </a:rPr>
              <a:t>(blank)</a:t>
            </a:r>
          </a:p>
        </p:txBody>
      </p:sp>
      <p:sp>
        <p:nvSpPr>
          <p:cNvPr id="36" name="Rectangle 35"/>
          <p:cNvSpPr/>
          <p:nvPr/>
        </p:nvSpPr>
        <p:spPr>
          <a:xfrm>
            <a:off x="2331720" y="5806439"/>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5669279"/>
            <a:ext cx="1828800" cy="237744"/>
          </a:xfrm>
          <a:prstGeom prst="rect">
            <a:avLst/>
          </a:prstGeom>
          <a:noFill/>
        </p:spPr>
        <p:txBody>
          <a:bodyPr wrap="square" lIns="0" tIns="0" rIns="0" bIns="0">
            <a:spAutoFit/>
          </a:bodyPr>
          <a:lstStyle/>
          <a:p>
            <a:pPr algn="l">
              <a:spcBef>
                <a:spcPts val="0"/>
              </a:spcBef>
              <a:spcAft>
                <a:spcPts val="0"/>
              </a:spcAft>
            </a:pPr>
            <a:r>
              <a:rPr sz="1000" b="0">
                <a:solidFill>
                  <a:srgbClr val="A0A0A0"/>
                </a:solidFill>
                <a:latin typeface="Viedoc Monument Grotesk"/>
              </a:rPr>
              <a:t>(blank)</a:t>
            </a:r>
          </a:p>
        </p:txBody>
      </p:sp>
      <p:sp>
        <p:nvSpPr>
          <p:cNvPr id="38" name="Rectangle 37"/>
          <p:cNvSpPr/>
          <p:nvPr/>
        </p:nvSpPr>
        <p:spPr>
          <a:xfrm>
            <a:off x="2331720" y="6007607"/>
            <a:ext cx="9418320" cy="10972"/>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4048" y="6053327"/>
            <a:ext cx="1828800" cy="237744"/>
          </a:xfrm>
          <a:prstGeom prst="rect">
            <a:avLst/>
          </a:prstGeom>
          <a:noFill/>
        </p:spPr>
        <p:txBody>
          <a:bodyPr wrap="square" lIns="0" tIns="0" rIns="0" bIns="0">
            <a:spAutoFit/>
          </a:bodyPr>
          <a:lstStyle/>
          <a:p>
            <a:pPr algn="l">
              <a:spcBef>
                <a:spcPts val="0"/>
              </a:spcBef>
              <a:spcAft>
                <a:spcPts val="0"/>
              </a:spcAft>
            </a:pPr>
            <a:r>
              <a:rPr sz="1000" b="1">
                <a:solidFill>
                  <a:srgbClr val="8E7DD2"/>
                </a:solidFill>
                <a:latin typeface="Viedoc Monument Grotesk"/>
              </a:rPr>
              <a:t>How long</a:t>
            </a:r>
          </a:p>
        </p:txBody>
      </p:sp>
      <p:sp>
        <p:nvSpPr>
          <p:cNvPr id="40" name="TextBox 39"/>
          <p:cNvSpPr txBox="1"/>
          <p:nvPr/>
        </p:nvSpPr>
        <p:spPr>
          <a:xfrm>
            <a:off x="2423160" y="6053327"/>
            <a:ext cx="7315200" cy="237744"/>
          </a:xfrm>
          <a:prstGeom prst="rect">
            <a:avLst/>
          </a:prstGeom>
          <a:noFill/>
        </p:spPr>
        <p:txBody>
          <a:bodyPr wrap="square" lIns="0" tIns="0" rIns="0" bIns="0">
            <a:spAutoFit/>
          </a:bodyPr>
          <a:lstStyle/>
          <a:p>
            <a:pPr algn="l">
              <a:spcBef>
                <a:spcPts val="0"/>
              </a:spcBef>
              <a:spcAft>
                <a:spcPts val="0"/>
              </a:spcAft>
            </a:pPr>
            <a:r>
              <a:rPr sz="900" b="0">
                <a:solidFill>
                  <a:srgbClr val="5E5E5E"/>
                </a:solidFill>
                <a:latin typeface="Viedoc Monument Grotesk"/>
              </a:rPr>
              <a:t>one duration per column, totalled during the walk</a:t>
            </a:r>
          </a:p>
        </p:txBody>
      </p:sp>
      <p:sp>
        <p:nvSpPr>
          <p:cNvPr id="41" name="TextBox 40"/>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What goes on a card</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2240280"/>
            <a:ext cx="2834640" cy="2834640"/>
          </a:xfrm>
          <a:prstGeom prst="roundRect">
            <a:avLst>
              <a:gd name="adj" fmla="val 6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2468880"/>
            <a:ext cx="2377440" cy="2377440"/>
          </a:xfrm>
          <a:prstGeom prst="rect">
            <a:avLst/>
          </a:prstGeom>
          <a:noFill/>
        </p:spPr>
        <p:txBody>
          <a:bodyPr wrap="square" lIns="0" tIns="0" rIns="0" bIns="0">
            <a:spAutoFit/>
          </a:bodyPr>
          <a:lstStyle/>
          <a:p>
            <a:pPr algn="l">
              <a:spcBef>
                <a:spcPts val="0"/>
              </a:spcBef>
              <a:spcAft>
                <a:spcPts val="800"/>
              </a:spcAft>
            </a:pPr>
            <a:r>
              <a:rPr sz="1600" b="1">
                <a:solidFill>
                  <a:srgbClr val="000000"/>
                </a:solidFill>
                <a:latin typeface="Viedoc Monument Grotesk"/>
              </a:rPr>
              <a:t>Start the workers</a:t>
            </a:r>
          </a:p>
          <a:p>
            <a:pPr algn="l">
              <a:spcBef>
                <a:spcPts val="0"/>
              </a:spcBef>
              <a:spcAft>
                <a:spcPts val="400"/>
              </a:spcAft>
            </a:pPr>
            <a:r>
              <a:rPr sz="1300" b="0">
                <a:solidFill>
                  <a:srgbClr val="000000"/>
                </a:solidFill>
                <a:latin typeface="Viedoc Monument Grotesk"/>
              </a:rPr>
              <a:t>Isaak</a:t>
            </a:r>
          </a:p>
          <a:p>
            <a:pPr algn="l">
              <a:spcBef>
                <a:spcPts val="0"/>
              </a:spcBef>
              <a:spcAft>
                <a:spcPts val="400"/>
              </a:spcAft>
            </a:pPr>
            <a:r>
              <a:rPr sz="1300" b="0">
                <a:solidFill>
                  <a:srgbClr val="000000"/>
                </a:solidFill>
                <a:latin typeface="Viedoc Monument Grotesk"/>
              </a:rPr>
              <a:t>? hours</a:t>
            </a:r>
          </a:p>
          <a:p>
            <a:pPr algn="l">
              <a:spcBef>
                <a:spcPts val="0"/>
              </a:spcBef>
              <a:spcAft>
                <a:spcPts val="0"/>
              </a:spcAft>
            </a:pPr>
            <a:r>
              <a:rPr sz="1100" b="0">
                <a:solidFill>
                  <a:srgbClr val="000000"/>
                </a:solidFill>
                <a:latin typeface="Viedoc Monument Grotesk"/>
              </a:rPr>
              <a:t>By hand, on every machine</a:t>
            </a:r>
          </a:p>
        </p:txBody>
      </p:sp>
      <p:sp>
        <p:nvSpPr>
          <p:cNvPr id="6" name="TextBox 5"/>
          <p:cNvSpPr txBox="1"/>
          <p:nvPr/>
        </p:nvSpPr>
        <p:spPr>
          <a:xfrm>
            <a:off x="3931920" y="2240280"/>
            <a:ext cx="7863840" cy="822960"/>
          </a:xfrm>
          <a:prstGeom prst="rect">
            <a:avLst/>
          </a:prstGeom>
          <a:noFill/>
        </p:spPr>
        <p:txBody>
          <a:bodyPr wrap="square" lIns="0" tIns="0" rIns="0" bIns="0">
            <a:spAutoFit/>
          </a:bodyPr>
          <a:lstStyle/>
          <a:p>
            <a:pPr algn="l">
              <a:spcBef>
                <a:spcPts val="0"/>
              </a:spcBef>
              <a:spcAft>
                <a:spcPts val="300"/>
              </a:spcAft>
            </a:pPr>
            <a:r>
              <a:rPr sz="1700" b="1">
                <a:solidFill>
                  <a:srgbClr val="000000"/>
                </a:solidFill>
                <a:latin typeface="Viedoc Monument Grotesk"/>
              </a:rPr>
              <a:t>What happens</a:t>
            </a:r>
          </a:p>
          <a:p>
            <a:pPr algn="l">
              <a:lnSpc>
                <a:spcPct val="115000"/>
              </a:lnSpc>
              <a:spcBef>
                <a:spcPts val="0"/>
              </a:spcBef>
              <a:spcAft>
                <a:spcPts val="0"/>
              </a:spcAft>
            </a:pPr>
            <a:r>
              <a:rPr sz="1300" b="0">
                <a:solidFill>
                  <a:srgbClr val="5E5E5E"/>
                </a:solidFill>
                <a:latin typeface="Viedoc Monument Grotesk"/>
              </a:rPr>
              <a:t>Verb first. "Start the workers", not "worker startup".</a:t>
            </a:r>
          </a:p>
        </p:txBody>
      </p:sp>
      <p:sp>
        <p:nvSpPr>
          <p:cNvPr id="7" name="TextBox 6"/>
          <p:cNvSpPr txBox="1"/>
          <p:nvPr/>
        </p:nvSpPr>
        <p:spPr>
          <a:xfrm>
            <a:off x="3931920" y="3108960"/>
            <a:ext cx="7863840" cy="822960"/>
          </a:xfrm>
          <a:prstGeom prst="rect">
            <a:avLst/>
          </a:prstGeom>
          <a:noFill/>
        </p:spPr>
        <p:txBody>
          <a:bodyPr wrap="square" lIns="0" tIns="0" rIns="0" bIns="0">
            <a:spAutoFit/>
          </a:bodyPr>
          <a:lstStyle/>
          <a:p>
            <a:pPr algn="l">
              <a:spcBef>
                <a:spcPts val="0"/>
              </a:spcBef>
              <a:spcAft>
                <a:spcPts val="300"/>
              </a:spcAft>
            </a:pPr>
            <a:r>
              <a:rPr sz="1700" b="1">
                <a:solidFill>
                  <a:srgbClr val="000000"/>
                </a:solidFill>
                <a:latin typeface="Viedoc Monument Grotesk"/>
              </a:rPr>
              <a:t>Who does it</a:t>
            </a:r>
          </a:p>
          <a:p>
            <a:pPr algn="l">
              <a:lnSpc>
                <a:spcPct val="115000"/>
              </a:lnSpc>
              <a:spcBef>
                <a:spcPts val="0"/>
              </a:spcBef>
              <a:spcAft>
                <a:spcPts val="0"/>
              </a:spcAft>
            </a:pPr>
            <a:r>
              <a:rPr sz="1300" b="0">
                <a:solidFill>
                  <a:srgbClr val="5E5E5E"/>
                </a:solidFill>
                <a:latin typeface="Viedoc Monument Grotesk"/>
              </a:rPr>
              <a:t>A name, not a team. Names show where the single points are.</a:t>
            </a:r>
          </a:p>
        </p:txBody>
      </p:sp>
      <p:sp>
        <p:nvSpPr>
          <p:cNvPr id="8" name="TextBox 7"/>
          <p:cNvSpPr txBox="1"/>
          <p:nvPr/>
        </p:nvSpPr>
        <p:spPr>
          <a:xfrm>
            <a:off x="3931920" y="3977640"/>
            <a:ext cx="7863840" cy="822960"/>
          </a:xfrm>
          <a:prstGeom prst="rect">
            <a:avLst/>
          </a:prstGeom>
          <a:noFill/>
        </p:spPr>
        <p:txBody>
          <a:bodyPr wrap="square" lIns="0" tIns="0" rIns="0" bIns="0">
            <a:spAutoFit/>
          </a:bodyPr>
          <a:lstStyle/>
          <a:p>
            <a:pPr algn="l">
              <a:spcBef>
                <a:spcPts val="0"/>
              </a:spcBef>
              <a:spcAft>
                <a:spcPts val="300"/>
              </a:spcAft>
            </a:pPr>
            <a:r>
              <a:rPr sz="1700" b="1">
                <a:solidFill>
                  <a:srgbClr val="000000"/>
                </a:solidFill>
                <a:latin typeface="Viedoc Monument Grotesk"/>
              </a:rPr>
              <a:t>How long</a:t>
            </a:r>
          </a:p>
          <a:p>
            <a:pPr algn="l">
              <a:lnSpc>
                <a:spcPct val="115000"/>
              </a:lnSpc>
              <a:spcBef>
                <a:spcPts val="0"/>
              </a:spcBef>
              <a:spcAft>
                <a:spcPts val="0"/>
              </a:spcAft>
            </a:pPr>
            <a:r>
              <a:rPr sz="1300" b="0">
                <a:solidFill>
                  <a:srgbClr val="5E5E5E"/>
                </a:solidFill>
                <a:latin typeface="Viedoc Monument Grotesk"/>
              </a:rPr>
              <a:t>Wall-clock, not effort. Ten minutes of work spread over two days is two days. Nobody knows yet? Put a question mark — that's the whole point of today.</a:t>
            </a:r>
          </a:p>
        </p:txBody>
      </p:sp>
      <p:sp>
        <p:nvSpPr>
          <p:cNvPr id="9" name="Rounded Rectangle 8"/>
          <p:cNvSpPr/>
          <p:nvPr/>
        </p:nvSpPr>
        <p:spPr>
          <a:xfrm>
            <a:off x="3931920" y="5029200"/>
            <a:ext cx="457200" cy="457200"/>
          </a:xfrm>
          <a:prstGeom prst="roundRect">
            <a:avLst>
              <a:gd name="adj" fmla="val 6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1879" y="5596128"/>
            <a:ext cx="1737360" cy="548640"/>
          </a:xfrm>
          <a:prstGeom prst="rect">
            <a:avLst/>
          </a:prstGeom>
          <a:noFill/>
        </p:spPr>
        <p:txBody>
          <a:bodyPr wrap="square" lIns="0" tIns="0" rIns="0" bIns="0">
            <a:spAutoFit/>
          </a:bodyPr>
          <a:lstStyle/>
          <a:p>
            <a:pPr algn="ctr">
              <a:lnSpc>
                <a:spcPct val="110000"/>
              </a:lnSpc>
              <a:spcBef>
                <a:spcPts val="0"/>
              </a:spcBef>
              <a:spcAft>
                <a:spcPts val="0"/>
              </a:spcAft>
            </a:pPr>
            <a:r>
              <a:rPr sz="1000" b="0">
                <a:solidFill>
                  <a:srgbClr val="5E5E5E"/>
                </a:solidFill>
                <a:latin typeface="Viedoc Monument Grotesk"/>
              </a:rPr>
              <a:t>A person does it</a:t>
            </a:r>
          </a:p>
        </p:txBody>
      </p:sp>
      <p:sp>
        <p:nvSpPr>
          <p:cNvPr id="11" name="Rounded Rectangle 10"/>
          <p:cNvSpPr/>
          <p:nvPr/>
        </p:nvSpPr>
        <p:spPr>
          <a:xfrm>
            <a:off x="5760720" y="5029200"/>
            <a:ext cx="457200" cy="457200"/>
          </a:xfrm>
          <a:prstGeom prst="roundRect">
            <a:avLst>
              <a:gd name="adj" fmla="val 6000"/>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40680" y="5596128"/>
            <a:ext cx="1737360" cy="548640"/>
          </a:xfrm>
          <a:prstGeom prst="rect">
            <a:avLst/>
          </a:prstGeom>
          <a:noFill/>
        </p:spPr>
        <p:txBody>
          <a:bodyPr wrap="square" lIns="0" tIns="0" rIns="0" bIns="0">
            <a:spAutoFit/>
          </a:bodyPr>
          <a:lstStyle/>
          <a:p>
            <a:pPr algn="ctr">
              <a:lnSpc>
                <a:spcPct val="110000"/>
              </a:lnSpc>
              <a:spcBef>
                <a:spcPts val="0"/>
              </a:spcBef>
              <a:spcAft>
                <a:spcPts val="0"/>
              </a:spcAft>
            </a:pPr>
            <a:r>
              <a:rPr sz="1000" b="0">
                <a:solidFill>
                  <a:srgbClr val="5E5E5E"/>
                </a:solidFill>
                <a:latin typeface="Viedoc Monument Grotesk"/>
              </a:rPr>
              <a:t>It's automatic</a:t>
            </a:r>
          </a:p>
        </p:txBody>
      </p:sp>
      <p:sp>
        <p:nvSpPr>
          <p:cNvPr id="13" name="Rounded Rectangle 12"/>
          <p:cNvSpPr/>
          <p:nvPr/>
        </p:nvSpPr>
        <p:spPr>
          <a:xfrm>
            <a:off x="7589520" y="5029200"/>
            <a:ext cx="457200" cy="457200"/>
          </a:xfrm>
          <a:prstGeom prst="roundRect">
            <a:avLst>
              <a:gd name="adj" fmla="val 6000"/>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69480" y="5596128"/>
            <a:ext cx="1737360" cy="548640"/>
          </a:xfrm>
          <a:prstGeom prst="rect">
            <a:avLst/>
          </a:prstGeom>
          <a:noFill/>
        </p:spPr>
        <p:txBody>
          <a:bodyPr wrap="square" lIns="0" tIns="0" rIns="0" bIns="0">
            <a:spAutoFit/>
          </a:bodyPr>
          <a:lstStyle/>
          <a:p>
            <a:pPr algn="ctr">
              <a:lnSpc>
                <a:spcPct val="110000"/>
              </a:lnSpc>
              <a:spcBef>
                <a:spcPts val="0"/>
              </a:spcBef>
              <a:spcAft>
                <a:spcPts val="0"/>
              </a:spcAft>
            </a:pPr>
            <a:r>
              <a:rPr sz="1000" b="0">
                <a:solidFill>
                  <a:srgbClr val="5E5E5E"/>
                </a:solidFill>
                <a:latin typeface="Viedoc Monument Grotesk"/>
              </a:rPr>
              <a:t>Waiting on someone</a:t>
            </a:r>
          </a:p>
        </p:txBody>
      </p:sp>
      <p:sp>
        <p:nvSpPr>
          <p:cNvPr id="15" name="Rounded Rectangle 14"/>
          <p:cNvSpPr/>
          <p:nvPr/>
        </p:nvSpPr>
        <p:spPr>
          <a:xfrm>
            <a:off x="9418320" y="5029200"/>
            <a:ext cx="457200" cy="457200"/>
          </a:xfrm>
          <a:prstGeom prst="roundRect">
            <a:avLst>
              <a:gd name="adj" fmla="val 6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98280" y="5596128"/>
            <a:ext cx="1737360" cy="548640"/>
          </a:xfrm>
          <a:prstGeom prst="rect">
            <a:avLst/>
          </a:prstGeom>
          <a:noFill/>
        </p:spPr>
        <p:txBody>
          <a:bodyPr wrap="square" lIns="0" tIns="0" rIns="0" bIns="0">
            <a:spAutoFit/>
          </a:bodyPr>
          <a:lstStyle/>
          <a:p>
            <a:pPr algn="ctr">
              <a:lnSpc>
                <a:spcPct val="110000"/>
              </a:lnSpc>
              <a:spcBef>
                <a:spcPts val="0"/>
              </a:spcBef>
              <a:spcAft>
                <a:spcPts val="0"/>
              </a:spcAft>
            </a:pPr>
            <a:r>
              <a:rPr sz="1000" b="0">
                <a:solidFill>
                  <a:srgbClr val="5E5E5E"/>
                </a:solidFill>
                <a:latin typeface="Viedoc Monument Grotesk"/>
              </a:rPr>
              <a:t>Hurts, or nobody knows</a:t>
            </a:r>
          </a:p>
        </p:txBody>
      </p:sp>
      <p:sp>
        <p:nvSpPr>
          <p:cNvPr id="17" name="TextBox 16"/>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Five rules</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48840"/>
            <a:ext cx="457200" cy="548640"/>
          </a:xfrm>
          <a:prstGeom prst="rect">
            <a:avLst/>
          </a:prstGeom>
          <a:noFill/>
        </p:spPr>
        <p:txBody>
          <a:bodyPr wrap="square" lIns="0" tIns="0" rIns="0" bIns="0">
            <a:spAutoFit/>
          </a:bodyPr>
          <a:lstStyle/>
          <a:p>
            <a:pPr algn="l">
              <a:spcBef>
                <a:spcPts val="0"/>
              </a:spcBef>
              <a:spcAft>
                <a:spcPts val="0"/>
              </a:spcAft>
            </a:pPr>
            <a:r>
              <a:rPr sz="2200" b="1">
                <a:solidFill>
                  <a:srgbClr val="8E7DD2"/>
                </a:solidFill>
                <a:latin typeface="Viedoc Monument Grotesk"/>
              </a:rPr>
              <a:t>1</a:t>
            </a:r>
          </a:p>
        </p:txBody>
      </p:sp>
      <p:sp>
        <p:nvSpPr>
          <p:cNvPr id="5" name="TextBox 4"/>
          <p:cNvSpPr txBox="1"/>
          <p:nvPr/>
        </p:nvSpPr>
        <p:spPr>
          <a:xfrm>
            <a:off x="1051560" y="2148840"/>
            <a:ext cx="10698480" cy="777240"/>
          </a:xfrm>
          <a:prstGeom prst="rect">
            <a:avLst/>
          </a:prstGeom>
          <a:noFill/>
        </p:spPr>
        <p:txBody>
          <a:bodyPr wrap="square" lIns="0" tIns="0" rIns="0" bIns="0">
            <a:spAutoFit/>
          </a:bodyPr>
          <a:lstStyle/>
          <a:p>
            <a:pPr algn="l">
              <a:spcBef>
                <a:spcPts val="0"/>
              </a:spcBef>
              <a:spcAft>
                <a:spcPts val="200"/>
              </a:spcAft>
            </a:pPr>
            <a:r>
              <a:rPr sz="1700" b="1">
                <a:solidFill>
                  <a:srgbClr val="000000"/>
                </a:solidFill>
                <a:latin typeface="Viedoc Monument Grotesk"/>
              </a:rPr>
              <a:t>Undocumented steps count double.</a:t>
            </a:r>
          </a:p>
          <a:p>
            <a:pPr algn="l">
              <a:lnSpc>
                <a:spcPct val="115000"/>
              </a:lnSpc>
              <a:spcBef>
                <a:spcPts val="0"/>
              </a:spcBef>
              <a:spcAft>
                <a:spcPts val="0"/>
              </a:spcAft>
            </a:pPr>
            <a:r>
              <a:rPr sz="1300" b="0">
                <a:solidFill>
                  <a:srgbClr val="5E5E5E"/>
                </a:solidFill>
                <a:latin typeface="Viedoc Monument Grotesk"/>
              </a:rPr>
              <a:t>The ones that aren't written anywhere are the whole point of today.</a:t>
            </a:r>
          </a:p>
        </p:txBody>
      </p:sp>
      <p:sp>
        <p:nvSpPr>
          <p:cNvPr id="6" name="TextBox 5"/>
          <p:cNvSpPr txBox="1"/>
          <p:nvPr/>
        </p:nvSpPr>
        <p:spPr>
          <a:xfrm>
            <a:off x="384048" y="2953512"/>
            <a:ext cx="457200" cy="548640"/>
          </a:xfrm>
          <a:prstGeom prst="rect">
            <a:avLst/>
          </a:prstGeom>
          <a:noFill/>
        </p:spPr>
        <p:txBody>
          <a:bodyPr wrap="square" lIns="0" tIns="0" rIns="0" bIns="0">
            <a:spAutoFit/>
          </a:bodyPr>
          <a:lstStyle/>
          <a:p>
            <a:pPr algn="l">
              <a:spcBef>
                <a:spcPts val="0"/>
              </a:spcBef>
              <a:spcAft>
                <a:spcPts val="0"/>
              </a:spcAft>
            </a:pPr>
            <a:r>
              <a:rPr sz="2200" b="1">
                <a:solidFill>
                  <a:srgbClr val="8E7DD2"/>
                </a:solidFill>
                <a:latin typeface="Viedoc Monument Grotesk"/>
              </a:rPr>
              <a:t>2</a:t>
            </a:r>
          </a:p>
        </p:txBody>
      </p:sp>
      <p:sp>
        <p:nvSpPr>
          <p:cNvPr id="7" name="TextBox 6"/>
          <p:cNvSpPr txBox="1"/>
          <p:nvPr/>
        </p:nvSpPr>
        <p:spPr>
          <a:xfrm>
            <a:off x="1051560" y="2953512"/>
            <a:ext cx="10698480" cy="777240"/>
          </a:xfrm>
          <a:prstGeom prst="rect">
            <a:avLst/>
          </a:prstGeom>
          <a:noFill/>
        </p:spPr>
        <p:txBody>
          <a:bodyPr wrap="square" lIns="0" tIns="0" rIns="0" bIns="0">
            <a:spAutoFit/>
          </a:bodyPr>
          <a:lstStyle/>
          <a:p>
            <a:pPr algn="l">
              <a:spcBef>
                <a:spcPts val="0"/>
              </a:spcBef>
              <a:spcAft>
                <a:spcPts val="200"/>
              </a:spcAft>
            </a:pPr>
            <a:r>
              <a:rPr sz="1700" b="1">
                <a:solidFill>
                  <a:srgbClr val="000000"/>
                </a:solidFill>
                <a:latin typeface="Viedoc Monument Grotesk"/>
              </a:rPr>
              <a:t>Disagreement goes up as two cards.</a:t>
            </a:r>
          </a:p>
          <a:p>
            <a:pPr algn="l">
              <a:lnSpc>
                <a:spcPct val="115000"/>
              </a:lnSpc>
              <a:spcBef>
                <a:spcPts val="0"/>
              </a:spcBef>
              <a:spcAft>
                <a:spcPts val="0"/>
              </a:spcAft>
            </a:pPr>
            <a:r>
              <a:rPr sz="1300" b="0">
                <a:solidFill>
                  <a:srgbClr val="5E5E5E"/>
                </a:solidFill>
                <a:latin typeface="Viedoc Monument Grotesk"/>
              </a:rPr>
              <a:t>Don't resolve it at the wall. Two people running the same step differently is a finding.</a:t>
            </a:r>
          </a:p>
        </p:txBody>
      </p:sp>
      <p:sp>
        <p:nvSpPr>
          <p:cNvPr id="8" name="TextBox 7"/>
          <p:cNvSpPr txBox="1"/>
          <p:nvPr/>
        </p:nvSpPr>
        <p:spPr>
          <a:xfrm>
            <a:off x="384048" y="3758184"/>
            <a:ext cx="457200" cy="548640"/>
          </a:xfrm>
          <a:prstGeom prst="rect">
            <a:avLst/>
          </a:prstGeom>
          <a:noFill/>
        </p:spPr>
        <p:txBody>
          <a:bodyPr wrap="square" lIns="0" tIns="0" rIns="0" bIns="0">
            <a:spAutoFit/>
          </a:bodyPr>
          <a:lstStyle/>
          <a:p>
            <a:pPr algn="l">
              <a:spcBef>
                <a:spcPts val="0"/>
              </a:spcBef>
              <a:spcAft>
                <a:spcPts val="0"/>
              </a:spcAft>
            </a:pPr>
            <a:r>
              <a:rPr sz="2200" b="1">
                <a:solidFill>
                  <a:srgbClr val="8E7DD2"/>
                </a:solidFill>
                <a:latin typeface="Viedoc Monument Grotesk"/>
              </a:rPr>
              <a:t>3</a:t>
            </a:r>
          </a:p>
        </p:txBody>
      </p:sp>
      <p:sp>
        <p:nvSpPr>
          <p:cNvPr id="9" name="TextBox 8"/>
          <p:cNvSpPr txBox="1"/>
          <p:nvPr/>
        </p:nvSpPr>
        <p:spPr>
          <a:xfrm>
            <a:off x="1051560" y="3758184"/>
            <a:ext cx="10698480" cy="777240"/>
          </a:xfrm>
          <a:prstGeom prst="rect">
            <a:avLst/>
          </a:prstGeom>
          <a:noFill/>
        </p:spPr>
        <p:txBody>
          <a:bodyPr wrap="square" lIns="0" tIns="0" rIns="0" bIns="0">
            <a:spAutoFit/>
          </a:bodyPr>
          <a:lstStyle/>
          <a:p>
            <a:pPr algn="l">
              <a:spcBef>
                <a:spcPts val="0"/>
              </a:spcBef>
              <a:spcAft>
                <a:spcPts val="200"/>
              </a:spcAft>
            </a:pPr>
            <a:r>
              <a:rPr sz="1700" b="1">
                <a:solidFill>
                  <a:srgbClr val="000000"/>
                </a:solidFill>
                <a:latin typeface="Viedoc Monument Grotesk"/>
              </a:rPr>
              <a:t>Waiting is a step.</a:t>
            </a:r>
          </a:p>
          <a:p>
            <a:pPr algn="l">
              <a:lnSpc>
                <a:spcPct val="115000"/>
              </a:lnSpc>
              <a:spcBef>
                <a:spcPts val="0"/>
              </a:spcBef>
              <a:spcAft>
                <a:spcPts val="0"/>
              </a:spcAft>
            </a:pPr>
            <a:r>
              <a:rPr sz="1300" b="0">
                <a:solidFill>
                  <a:srgbClr val="5E5E5E"/>
                </a:solidFill>
                <a:latin typeface="Viedoc Monument Grotesk"/>
              </a:rPr>
              <a:t>"Sat in someone's inbox for three days" gets its own card.</a:t>
            </a:r>
          </a:p>
        </p:txBody>
      </p:sp>
      <p:sp>
        <p:nvSpPr>
          <p:cNvPr id="10" name="TextBox 9"/>
          <p:cNvSpPr txBox="1"/>
          <p:nvPr/>
        </p:nvSpPr>
        <p:spPr>
          <a:xfrm>
            <a:off x="384048" y="4562856"/>
            <a:ext cx="457200" cy="548640"/>
          </a:xfrm>
          <a:prstGeom prst="rect">
            <a:avLst/>
          </a:prstGeom>
          <a:noFill/>
        </p:spPr>
        <p:txBody>
          <a:bodyPr wrap="square" lIns="0" tIns="0" rIns="0" bIns="0">
            <a:spAutoFit/>
          </a:bodyPr>
          <a:lstStyle/>
          <a:p>
            <a:pPr algn="l">
              <a:spcBef>
                <a:spcPts val="0"/>
              </a:spcBef>
              <a:spcAft>
                <a:spcPts val="0"/>
              </a:spcAft>
            </a:pPr>
            <a:r>
              <a:rPr sz="2200" b="1">
                <a:solidFill>
                  <a:srgbClr val="8E7DD2"/>
                </a:solidFill>
                <a:latin typeface="Viedoc Monument Grotesk"/>
              </a:rPr>
              <a:t>4</a:t>
            </a:r>
          </a:p>
        </p:txBody>
      </p:sp>
      <p:sp>
        <p:nvSpPr>
          <p:cNvPr id="11" name="TextBox 10"/>
          <p:cNvSpPr txBox="1"/>
          <p:nvPr/>
        </p:nvSpPr>
        <p:spPr>
          <a:xfrm>
            <a:off x="1051560" y="4562856"/>
            <a:ext cx="10698480" cy="777240"/>
          </a:xfrm>
          <a:prstGeom prst="rect">
            <a:avLst/>
          </a:prstGeom>
          <a:noFill/>
        </p:spPr>
        <p:txBody>
          <a:bodyPr wrap="square" lIns="0" tIns="0" rIns="0" bIns="0">
            <a:spAutoFit/>
          </a:bodyPr>
          <a:lstStyle/>
          <a:p>
            <a:pPr algn="l">
              <a:spcBef>
                <a:spcPts val="0"/>
              </a:spcBef>
              <a:spcAft>
                <a:spcPts val="200"/>
              </a:spcAft>
            </a:pPr>
            <a:r>
              <a:rPr sz="1700" b="1">
                <a:solidFill>
                  <a:srgbClr val="000000"/>
                </a:solidFill>
                <a:latin typeface="Viedoc Monument Grotesk"/>
              </a:rPr>
              <a:t>Nobody knows? Write the question.</a:t>
            </a:r>
          </a:p>
          <a:p>
            <a:pPr algn="l">
              <a:lnSpc>
                <a:spcPct val="115000"/>
              </a:lnSpc>
              <a:spcBef>
                <a:spcPts val="0"/>
              </a:spcBef>
              <a:spcAft>
                <a:spcPts val="0"/>
              </a:spcAft>
            </a:pPr>
            <a:r>
              <a:rPr sz="1300" b="0">
                <a:solidFill>
                  <a:srgbClr val="5E5E5E"/>
                </a:solidFill>
                <a:latin typeface="Viedoc Monument Grotesk"/>
              </a:rPr>
              <a:t>A coral card with a question mark is worth as much as an answer.</a:t>
            </a:r>
          </a:p>
        </p:txBody>
      </p:sp>
      <p:sp>
        <p:nvSpPr>
          <p:cNvPr id="12" name="TextBox 11"/>
          <p:cNvSpPr txBox="1"/>
          <p:nvPr/>
        </p:nvSpPr>
        <p:spPr>
          <a:xfrm>
            <a:off x="384048" y="5367528"/>
            <a:ext cx="457200" cy="548640"/>
          </a:xfrm>
          <a:prstGeom prst="rect">
            <a:avLst/>
          </a:prstGeom>
          <a:noFill/>
        </p:spPr>
        <p:txBody>
          <a:bodyPr wrap="square" lIns="0" tIns="0" rIns="0" bIns="0">
            <a:spAutoFit/>
          </a:bodyPr>
          <a:lstStyle/>
          <a:p>
            <a:pPr algn="l">
              <a:spcBef>
                <a:spcPts val="0"/>
              </a:spcBef>
              <a:spcAft>
                <a:spcPts val="0"/>
              </a:spcAft>
            </a:pPr>
            <a:r>
              <a:rPr sz="2200" b="1">
                <a:solidFill>
                  <a:srgbClr val="8E7DD2"/>
                </a:solidFill>
                <a:latin typeface="Viedoc Monument Grotesk"/>
              </a:rPr>
              <a:t>5</a:t>
            </a:r>
          </a:p>
        </p:txBody>
      </p:sp>
      <p:sp>
        <p:nvSpPr>
          <p:cNvPr id="13" name="TextBox 12"/>
          <p:cNvSpPr txBox="1"/>
          <p:nvPr/>
        </p:nvSpPr>
        <p:spPr>
          <a:xfrm>
            <a:off x="1051560" y="5367528"/>
            <a:ext cx="10698480" cy="777240"/>
          </a:xfrm>
          <a:prstGeom prst="rect">
            <a:avLst/>
          </a:prstGeom>
          <a:noFill/>
        </p:spPr>
        <p:txBody>
          <a:bodyPr wrap="square" lIns="0" tIns="0" rIns="0" bIns="0">
            <a:spAutoFit/>
          </a:bodyPr>
          <a:lstStyle/>
          <a:p>
            <a:pPr algn="l">
              <a:spcBef>
                <a:spcPts val="0"/>
              </a:spcBef>
              <a:spcAft>
                <a:spcPts val="200"/>
              </a:spcAft>
            </a:pPr>
            <a:r>
              <a:rPr sz="1700" b="1">
                <a:solidFill>
                  <a:srgbClr val="000000"/>
                </a:solidFill>
                <a:latin typeface="Viedoc Monument Grotesk"/>
              </a:rPr>
              <a:t>No solutions on the line.</a:t>
            </a:r>
          </a:p>
          <a:p>
            <a:pPr algn="l">
              <a:lnSpc>
                <a:spcPct val="115000"/>
              </a:lnSpc>
              <a:spcBef>
                <a:spcPts val="0"/>
              </a:spcBef>
              <a:spcAft>
                <a:spcPts val="0"/>
              </a:spcAft>
            </a:pPr>
            <a:r>
              <a:rPr sz="1300" b="0">
                <a:solidFill>
                  <a:srgbClr val="5E5E5E"/>
                </a:solidFill>
                <a:latin typeface="Viedoc Monument Grotesk"/>
              </a:rPr>
              <a:t>Ideas go on the sheet by the door. Thursday is for fixing.</a:t>
            </a:r>
          </a:p>
        </p:txBody>
      </p:sp>
      <p:sp>
        <p:nvSpPr>
          <p:cNvPr id="14" name="TextBox 13"/>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pic>
        <p:nvPicPr>
          <p:cNvPr id="15" name="Picture 14">
            <a:extLst>
              <a:ext uri="{FF2B5EF4-FFF2-40B4-BE49-F238E27FC236}">
                <a16:creationId xmlns:a16="http://schemas.microsoft.com/office/drawing/2014/main" id="{C3B225E0-0685-A4B1-5EFC-BC4A0A2A7140}"/>
              </a:ext>
            </a:extLst>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Rounded Corners 138">
            <a:extLst>
              <a:ext uri="{FF2B5EF4-FFF2-40B4-BE49-F238E27FC236}">
                <a16:creationId xmlns:a16="http://schemas.microsoft.com/office/drawing/2014/main" id="{7673D3E7-39AB-45BB-0AD6-BC950658D9D1}"/>
              </a:ext>
            </a:extLst>
          </p:cNvPr>
          <p:cNvSpPr/>
          <p:nvPr/>
        </p:nvSpPr>
        <p:spPr>
          <a:xfrm>
            <a:off x="11426952" y="4151918"/>
            <a:ext cx="802781" cy="774911"/>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G2M activities</a:t>
            </a:r>
            <a:endParaRPr lang="LID4096" sz="900">
              <a:solidFill>
                <a:schemeClr val="tx1"/>
              </a:solidFill>
            </a:endParaRPr>
          </a:p>
        </p:txBody>
      </p:sp>
      <p:sp>
        <p:nvSpPr>
          <p:cNvPr id="109" name="Rectangle: Rounded Corners 108">
            <a:extLst>
              <a:ext uri="{FF2B5EF4-FFF2-40B4-BE49-F238E27FC236}">
                <a16:creationId xmlns:a16="http://schemas.microsoft.com/office/drawing/2014/main" id="{0292A9D4-416E-A7F0-CED3-C2B96B09B02E}"/>
              </a:ext>
            </a:extLst>
          </p:cNvPr>
          <p:cNvSpPr/>
          <p:nvPr/>
        </p:nvSpPr>
        <p:spPr>
          <a:xfrm>
            <a:off x="5886082" y="3361636"/>
            <a:ext cx="1487838" cy="41838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Write RN</a:t>
            </a:r>
            <a:endParaRPr lang="LID4096" sz="900">
              <a:solidFill>
                <a:schemeClr val="tx1"/>
              </a:solidFill>
            </a:endParaRPr>
          </a:p>
        </p:txBody>
      </p:sp>
      <p:sp>
        <p:nvSpPr>
          <p:cNvPr id="55" name="Rectangle: Rounded Corners 54">
            <a:extLst>
              <a:ext uri="{FF2B5EF4-FFF2-40B4-BE49-F238E27FC236}">
                <a16:creationId xmlns:a16="http://schemas.microsoft.com/office/drawing/2014/main" id="{5C3E8D81-9B54-3825-6D4C-02B9393EEE07}"/>
              </a:ext>
            </a:extLst>
          </p:cNvPr>
          <p:cNvSpPr/>
          <p:nvPr/>
        </p:nvSpPr>
        <p:spPr>
          <a:xfrm>
            <a:off x="2667918" y="3978344"/>
            <a:ext cx="1487838" cy="27533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Training materials</a:t>
            </a:r>
            <a:endParaRPr lang="LID4096" sz="900">
              <a:solidFill>
                <a:schemeClr val="tx1"/>
              </a:solidFill>
            </a:endParaRPr>
          </a:p>
        </p:txBody>
      </p:sp>
      <p:sp>
        <p:nvSpPr>
          <p:cNvPr id="85" name="Rectangle: Rounded Corners 84">
            <a:extLst>
              <a:ext uri="{FF2B5EF4-FFF2-40B4-BE49-F238E27FC236}">
                <a16:creationId xmlns:a16="http://schemas.microsoft.com/office/drawing/2014/main" id="{1916E35C-2689-73ED-662D-893AD503C008}"/>
              </a:ext>
            </a:extLst>
          </p:cNvPr>
          <p:cNvSpPr/>
          <p:nvPr/>
        </p:nvSpPr>
        <p:spPr>
          <a:xfrm>
            <a:off x="5352081" y="5848086"/>
            <a:ext cx="1487838" cy="33288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Approve PQ documentation</a:t>
            </a:r>
            <a:endParaRPr lang="LID4096" sz="900">
              <a:solidFill>
                <a:schemeClr val="tx1"/>
              </a:solidFill>
            </a:endParaRPr>
          </a:p>
        </p:txBody>
      </p:sp>
      <p:sp>
        <p:nvSpPr>
          <p:cNvPr id="65" name="Rectangle: Rounded Corners 64">
            <a:extLst>
              <a:ext uri="{FF2B5EF4-FFF2-40B4-BE49-F238E27FC236}">
                <a16:creationId xmlns:a16="http://schemas.microsoft.com/office/drawing/2014/main" id="{E478EAF4-157B-3414-52FC-C6117A13C340}"/>
              </a:ext>
            </a:extLst>
          </p:cNvPr>
          <p:cNvSpPr/>
          <p:nvPr/>
        </p:nvSpPr>
        <p:spPr>
          <a:xfrm>
            <a:off x="1545551" y="4123987"/>
            <a:ext cx="802781" cy="84890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GTM materials</a:t>
            </a:r>
            <a:endParaRPr lang="LID4096" sz="900">
              <a:solidFill>
                <a:schemeClr val="tx1"/>
              </a:solidFill>
            </a:endParaRPr>
          </a:p>
        </p:txBody>
      </p:sp>
      <p:sp>
        <p:nvSpPr>
          <p:cNvPr id="49" name="Rectangle: Rounded Corners 48">
            <a:extLst>
              <a:ext uri="{FF2B5EF4-FFF2-40B4-BE49-F238E27FC236}">
                <a16:creationId xmlns:a16="http://schemas.microsoft.com/office/drawing/2014/main" id="{D772786A-3A47-A3A6-F5CF-B3F3B10581BE}"/>
              </a:ext>
            </a:extLst>
          </p:cNvPr>
          <p:cNvSpPr/>
          <p:nvPr/>
        </p:nvSpPr>
        <p:spPr>
          <a:xfrm>
            <a:off x="2667918" y="3170533"/>
            <a:ext cx="1487838" cy="37549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Translation</a:t>
            </a:r>
            <a:endParaRPr lang="LID4096" sz="900">
              <a:solidFill>
                <a:schemeClr val="tx1"/>
              </a:solidFill>
            </a:endParaRPr>
          </a:p>
        </p:txBody>
      </p:sp>
      <p:sp>
        <p:nvSpPr>
          <p:cNvPr id="2" name="Title 1"/>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The map we already have</a:t>
            </a:r>
          </a:p>
        </p:txBody>
      </p:sp>
      <p:sp>
        <p:nvSpPr>
          <p:cNvPr id="5" name="TextBox 4"/>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cxnSp>
        <p:nvCxnSpPr>
          <p:cNvPr id="7" name="Straight Connector 6">
            <a:extLst>
              <a:ext uri="{FF2B5EF4-FFF2-40B4-BE49-F238E27FC236}">
                <a16:creationId xmlns:a16="http://schemas.microsoft.com/office/drawing/2014/main" id="{A0B96CCC-B598-0BBD-5EC3-B022A103CF57}"/>
              </a:ext>
            </a:extLst>
          </p:cNvPr>
          <p:cNvCxnSpPr>
            <a:cxnSpLocks/>
          </p:cNvCxnSpPr>
          <p:nvPr/>
        </p:nvCxnSpPr>
        <p:spPr>
          <a:xfrm>
            <a:off x="521208" y="2375131"/>
            <a:ext cx="11513774" cy="0"/>
          </a:xfrm>
          <a:prstGeom prst="line">
            <a:avLst/>
          </a:prstGeom>
          <a:ln w="15875">
            <a:tailEnd type="none"/>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9B8F8887-90B7-21B5-B5E9-FFBC79421ED2}"/>
              </a:ext>
            </a:extLst>
          </p:cNvPr>
          <p:cNvCxnSpPr>
            <a:cxnSpLocks/>
          </p:cNvCxnSpPr>
          <p:nvPr/>
        </p:nvCxnSpPr>
        <p:spPr>
          <a:xfrm>
            <a:off x="521208" y="3462188"/>
            <a:ext cx="11513774" cy="0"/>
          </a:xfrm>
          <a:prstGeom prst="line">
            <a:avLst/>
          </a:prstGeom>
          <a:ln w="15875">
            <a:tailEnd type="none"/>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5F6E2C6-1BC5-6916-B99C-B72737727CC6}"/>
              </a:ext>
            </a:extLst>
          </p:cNvPr>
          <p:cNvCxnSpPr>
            <a:cxnSpLocks/>
          </p:cNvCxnSpPr>
          <p:nvPr/>
        </p:nvCxnSpPr>
        <p:spPr>
          <a:xfrm>
            <a:off x="521208" y="4301377"/>
            <a:ext cx="11513774" cy="0"/>
          </a:xfrm>
          <a:prstGeom prst="line">
            <a:avLst/>
          </a:prstGeom>
          <a:ln w="15875">
            <a:tailEnd type="non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46BB937-83FF-08E5-69AA-A7C6EAD15CBE}"/>
              </a:ext>
            </a:extLst>
          </p:cNvPr>
          <p:cNvCxnSpPr>
            <a:cxnSpLocks/>
          </p:cNvCxnSpPr>
          <p:nvPr/>
        </p:nvCxnSpPr>
        <p:spPr>
          <a:xfrm>
            <a:off x="521208" y="4780362"/>
            <a:ext cx="11513774" cy="0"/>
          </a:xfrm>
          <a:prstGeom prst="line">
            <a:avLst/>
          </a:prstGeom>
          <a:ln w="15875">
            <a:tailEnd type="none"/>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85A40664-3AF9-829E-7027-FCC828771954}"/>
              </a:ext>
            </a:extLst>
          </p:cNvPr>
          <p:cNvCxnSpPr>
            <a:cxnSpLocks/>
          </p:cNvCxnSpPr>
          <p:nvPr/>
        </p:nvCxnSpPr>
        <p:spPr>
          <a:xfrm>
            <a:off x="521208" y="5203924"/>
            <a:ext cx="11513774" cy="0"/>
          </a:xfrm>
          <a:prstGeom prst="line">
            <a:avLst/>
          </a:prstGeom>
          <a:ln w="15875">
            <a:tailEnd type="none"/>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E329AD19-2097-A82F-E8A0-2348766796E2}"/>
              </a:ext>
            </a:extLst>
          </p:cNvPr>
          <p:cNvCxnSpPr>
            <a:cxnSpLocks/>
          </p:cNvCxnSpPr>
          <p:nvPr/>
        </p:nvCxnSpPr>
        <p:spPr>
          <a:xfrm>
            <a:off x="1505526" y="1872211"/>
            <a:ext cx="0" cy="4205316"/>
          </a:xfrm>
          <a:prstGeom prst="line">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ECD8889-FAC4-50B6-5D43-006F23061D4C}"/>
              </a:ext>
            </a:extLst>
          </p:cNvPr>
          <p:cNvCxnSpPr>
            <a:cxnSpLocks/>
          </p:cNvCxnSpPr>
          <p:nvPr/>
        </p:nvCxnSpPr>
        <p:spPr>
          <a:xfrm>
            <a:off x="4487333" y="1872211"/>
            <a:ext cx="0" cy="4205316"/>
          </a:xfrm>
          <a:prstGeom prst="line">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D1F5B8A-0090-6AF7-EA12-61771B86A3B1}"/>
              </a:ext>
            </a:extLst>
          </p:cNvPr>
          <p:cNvCxnSpPr>
            <a:cxnSpLocks/>
          </p:cNvCxnSpPr>
          <p:nvPr/>
        </p:nvCxnSpPr>
        <p:spPr>
          <a:xfrm>
            <a:off x="7496848" y="1872211"/>
            <a:ext cx="0" cy="4205316"/>
          </a:xfrm>
          <a:prstGeom prst="line">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2B7B6F6-14C1-CE43-CF30-4C84D1B158F6}"/>
              </a:ext>
            </a:extLst>
          </p:cNvPr>
          <p:cNvCxnSpPr>
            <a:cxnSpLocks/>
          </p:cNvCxnSpPr>
          <p:nvPr/>
        </p:nvCxnSpPr>
        <p:spPr>
          <a:xfrm>
            <a:off x="10506363" y="1872211"/>
            <a:ext cx="0" cy="4205316"/>
          </a:xfrm>
          <a:prstGeom prst="line">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29B6043-6227-46B7-70ED-1EDF23367E48}"/>
              </a:ext>
            </a:extLst>
          </p:cNvPr>
          <p:cNvCxnSpPr>
            <a:cxnSpLocks/>
          </p:cNvCxnSpPr>
          <p:nvPr/>
        </p:nvCxnSpPr>
        <p:spPr>
          <a:xfrm flipH="1" flipV="1">
            <a:off x="692727" y="1958109"/>
            <a:ext cx="785091" cy="417022"/>
          </a:xfrm>
          <a:prstGeom prst="line">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AC7554E0-5539-B627-B6B8-508031EF8712}"/>
              </a:ext>
            </a:extLst>
          </p:cNvPr>
          <p:cNvSpPr txBox="1"/>
          <p:nvPr/>
        </p:nvSpPr>
        <p:spPr>
          <a:xfrm>
            <a:off x="781257" y="1806643"/>
            <a:ext cx="1080655" cy="338554"/>
          </a:xfrm>
          <a:prstGeom prst="rect">
            <a:avLst/>
          </a:prstGeom>
          <a:noFill/>
        </p:spPr>
        <p:txBody>
          <a:bodyPr wrap="square" rtlCol="0">
            <a:spAutoFit/>
          </a:bodyPr>
          <a:lstStyle/>
          <a:p>
            <a:r>
              <a:rPr lang="en-US" sz="1600" b="1"/>
              <a:t>Sprint</a:t>
            </a:r>
            <a:endParaRPr lang="LID4096" sz="1600" b="1"/>
          </a:p>
        </p:txBody>
      </p:sp>
      <p:sp>
        <p:nvSpPr>
          <p:cNvPr id="23" name="TextBox 22">
            <a:extLst>
              <a:ext uri="{FF2B5EF4-FFF2-40B4-BE49-F238E27FC236}">
                <a16:creationId xmlns:a16="http://schemas.microsoft.com/office/drawing/2014/main" id="{FF9344B2-7A78-8206-CD41-3EBF02112267}"/>
              </a:ext>
            </a:extLst>
          </p:cNvPr>
          <p:cNvSpPr txBox="1"/>
          <p:nvPr/>
        </p:nvSpPr>
        <p:spPr>
          <a:xfrm>
            <a:off x="436639" y="2061818"/>
            <a:ext cx="1080655" cy="338554"/>
          </a:xfrm>
          <a:prstGeom prst="rect">
            <a:avLst/>
          </a:prstGeom>
          <a:noFill/>
        </p:spPr>
        <p:txBody>
          <a:bodyPr wrap="square" rtlCol="0">
            <a:spAutoFit/>
          </a:bodyPr>
          <a:lstStyle/>
          <a:p>
            <a:r>
              <a:rPr lang="en-US" sz="1600" b="1"/>
              <a:t>Dept</a:t>
            </a:r>
            <a:endParaRPr lang="LID4096" sz="1600" b="1"/>
          </a:p>
        </p:txBody>
      </p:sp>
      <p:sp>
        <p:nvSpPr>
          <p:cNvPr id="25" name="TextBox 24">
            <a:extLst>
              <a:ext uri="{FF2B5EF4-FFF2-40B4-BE49-F238E27FC236}">
                <a16:creationId xmlns:a16="http://schemas.microsoft.com/office/drawing/2014/main" id="{58C9BD21-CDBC-AA78-96F9-C3F805F974CA}"/>
              </a:ext>
            </a:extLst>
          </p:cNvPr>
          <p:cNvSpPr txBox="1"/>
          <p:nvPr/>
        </p:nvSpPr>
        <p:spPr>
          <a:xfrm>
            <a:off x="436639" y="2586982"/>
            <a:ext cx="1080655" cy="338554"/>
          </a:xfrm>
          <a:prstGeom prst="rect">
            <a:avLst/>
          </a:prstGeom>
          <a:noFill/>
        </p:spPr>
        <p:txBody>
          <a:bodyPr wrap="square" rtlCol="0">
            <a:spAutoFit/>
          </a:bodyPr>
          <a:lstStyle/>
          <a:p>
            <a:r>
              <a:rPr lang="en-US" sz="1600" b="1"/>
              <a:t>Dev</a:t>
            </a:r>
            <a:endParaRPr lang="LID4096" sz="1600" b="1"/>
          </a:p>
        </p:txBody>
      </p:sp>
      <p:sp>
        <p:nvSpPr>
          <p:cNvPr id="27" name="TextBox 26">
            <a:extLst>
              <a:ext uri="{FF2B5EF4-FFF2-40B4-BE49-F238E27FC236}">
                <a16:creationId xmlns:a16="http://schemas.microsoft.com/office/drawing/2014/main" id="{557A3740-D2A7-C985-CBA5-0C674FAAF91E}"/>
              </a:ext>
            </a:extLst>
          </p:cNvPr>
          <p:cNvSpPr txBox="1"/>
          <p:nvPr/>
        </p:nvSpPr>
        <p:spPr>
          <a:xfrm>
            <a:off x="436639" y="3601673"/>
            <a:ext cx="1080655" cy="338554"/>
          </a:xfrm>
          <a:prstGeom prst="rect">
            <a:avLst/>
          </a:prstGeom>
          <a:noFill/>
        </p:spPr>
        <p:txBody>
          <a:bodyPr wrap="square" rtlCol="0">
            <a:spAutoFit/>
          </a:bodyPr>
          <a:lstStyle/>
          <a:p>
            <a:r>
              <a:rPr lang="en-US" sz="1600" b="1"/>
              <a:t>PM</a:t>
            </a:r>
            <a:endParaRPr lang="LID4096" sz="1600" b="1"/>
          </a:p>
        </p:txBody>
      </p:sp>
      <p:sp>
        <p:nvSpPr>
          <p:cNvPr id="29" name="TextBox 28">
            <a:extLst>
              <a:ext uri="{FF2B5EF4-FFF2-40B4-BE49-F238E27FC236}">
                <a16:creationId xmlns:a16="http://schemas.microsoft.com/office/drawing/2014/main" id="{7289C10A-EE28-0F58-F5D3-A66FC6339478}"/>
              </a:ext>
            </a:extLst>
          </p:cNvPr>
          <p:cNvSpPr txBox="1"/>
          <p:nvPr/>
        </p:nvSpPr>
        <p:spPr>
          <a:xfrm>
            <a:off x="436639" y="4839405"/>
            <a:ext cx="1080655" cy="338554"/>
          </a:xfrm>
          <a:prstGeom prst="rect">
            <a:avLst/>
          </a:prstGeom>
          <a:noFill/>
        </p:spPr>
        <p:txBody>
          <a:bodyPr wrap="square" rtlCol="0">
            <a:spAutoFit/>
          </a:bodyPr>
          <a:lstStyle/>
          <a:p>
            <a:r>
              <a:rPr lang="en-US" sz="1600" b="1"/>
              <a:t>PS</a:t>
            </a:r>
            <a:endParaRPr lang="LID4096" sz="1600" b="1"/>
          </a:p>
        </p:txBody>
      </p:sp>
      <p:sp>
        <p:nvSpPr>
          <p:cNvPr id="31" name="TextBox 30">
            <a:extLst>
              <a:ext uri="{FF2B5EF4-FFF2-40B4-BE49-F238E27FC236}">
                <a16:creationId xmlns:a16="http://schemas.microsoft.com/office/drawing/2014/main" id="{00BA08A7-1045-BD9C-D8A7-DE639A0D3DBD}"/>
              </a:ext>
            </a:extLst>
          </p:cNvPr>
          <p:cNvSpPr txBox="1"/>
          <p:nvPr/>
        </p:nvSpPr>
        <p:spPr>
          <a:xfrm>
            <a:off x="436639" y="5280643"/>
            <a:ext cx="1080655" cy="338554"/>
          </a:xfrm>
          <a:prstGeom prst="rect">
            <a:avLst/>
          </a:prstGeom>
          <a:noFill/>
        </p:spPr>
        <p:txBody>
          <a:bodyPr wrap="square" rtlCol="0">
            <a:spAutoFit/>
          </a:bodyPr>
          <a:lstStyle/>
          <a:p>
            <a:r>
              <a:rPr lang="en-US" sz="1600" b="1"/>
              <a:t>IT Ops</a:t>
            </a:r>
            <a:endParaRPr lang="LID4096" sz="1600" b="1"/>
          </a:p>
        </p:txBody>
      </p:sp>
      <p:sp>
        <p:nvSpPr>
          <p:cNvPr id="33" name="TextBox 32">
            <a:extLst>
              <a:ext uri="{FF2B5EF4-FFF2-40B4-BE49-F238E27FC236}">
                <a16:creationId xmlns:a16="http://schemas.microsoft.com/office/drawing/2014/main" id="{F069D444-D6F6-A65F-B61B-B09EB2638B05}"/>
              </a:ext>
            </a:extLst>
          </p:cNvPr>
          <p:cNvSpPr txBox="1"/>
          <p:nvPr/>
        </p:nvSpPr>
        <p:spPr>
          <a:xfrm>
            <a:off x="436639" y="5868278"/>
            <a:ext cx="1080655" cy="338554"/>
          </a:xfrm>
          <a:prstGeom prst="rect">
            <a:avLst/>
          </a:prstGeom>
          <a:noFill/>
        </p:spPr>
        <p:txBody>
          <a:bodyPr wrap="square" rtlCol="0">
            <a:spAutoFit/>
          </a:bodyPr>
          <a:lstStyle/>
          <a:p>
            <a:r>
              <a:rPr lang="en-US" sz="1600" b="1"/>
              <a:t>QA</a:t>
            </a:r>
            <a:endParaRPr lang="LID4096" sz="1600" b="1"/>
          </a:p>
        </p:txBody>
      </p:sp>
      <p:sp>
        <p:nvSpPr>
          <p:cNvPr id="35" name="TextBox 34">
            <a:extLst>
              <a:ext uri="{FF2B5EF4-FFF2-40B4-BE49-F238E27FC236}">
                <a16:creationId xmlns:a16="http://schemas.microsoft.com/office/drawing/2014/main" id="{B0EBC60C-1694-6AA7-B441-353527EAB7C9}"/>
              </a:ext>
            </a:extLst>
          </p:cNvPr>
          <p:cNvSpPr txBox="1"/>
          <p:nvPr/>
        </p:nvSpPr>
        <p:spPr>
          <a:xfrm>
            <a:off x="2743524" y="1905919"/>
            <a:ext cx="1080655" cy="338554"/>
          </a:xfrm>
          <a:prstGeom prst="rect">
            <a:avLst/>
          </a:prstGeom>
          <a:noFill/>
        </p:spPr>
        <p:txBody>
          <a:bodyPr wrap="square" rtlCol="0">
            <a:spAutoFit/>
          </a:bodyPr>
          <a:lstStyle/>
          <a:p>
            <a:r>
              <a:rPr lang="en-US" sz="1600" b="1"/>
              <a:t>1</a:t>
            </a:r>
            <a:endParaRPr lang="LID4096" sz="1600" b="1"/>
          </a:p>
        </p:txBody>
      </p:sp>
      <p:sp>
        <p:nvSpPr>
          <p:cNvPr id="37" name="TextBox 36">
            <a:extLst>
              <a:ext uri="{FF2B5EF4-FFF2-40B4-BE49-F238E27FC236}">
                <a16:creationId xmlns:a16="http://schemas.microsoft.com/office/drawing/2014/main" id="{B47A6F75-69AB-970B-1312-787817AC8EB9}"/>
              </a:ext>
            </a:extLst>
          </p:cNvPr>
          <p:cNvSpPr txBox="1"/>
          <p:nvPr/>
        </p:nvSpPr>
        <p:spPr>
          <a:xfrm>
            <a:off x="5800574" y="1896620"/>
            <a:ext cx="1080655" cy="338554"/>
          </a:xfrm>
          <a:prstGeom prst="rect">
            <a:avLst/>
          </a:prstGeom>
          <a:noFill/>
        </p:spPr>
        <p:txBody>
          <a:bodyPr wrap="square" rtlCol="0">
            <a:spAutoFit/>
          </a:bodyPr>
          <a:lstStyle/>
          <a:p>
            <a:r>
              <a:rPr lang="en-US" sz="1600" b="1"/>
              <a:t>2</a:t>
            </a:r>
            <a:endParaRPr lang="LID4096" sz="1600" b="1"/>
          </a:p>
        </p:txBody>
      </p:sp>
      <p:sp>
        <p:nvSpPr>
          <p:cNvPr id="39" name="TextBox 38">
            <a:extLst>
              <a:ext uri="{FF2B5EF4-FFF2-40B4-BE49-F238E27FC236}">
                <a16:creationId xmlns:a16="http://schemas.microsoft.com/office/drawing/2014/main" id="{C05C2BA8-36CF-663A-8418-769D3F3A8354}"/>
              </a:ext>
            </a:extLst>
          </p:cNvPr>
          <p:cNvSpPr txBox="1"/>
          <p:nvPr/>
        </p:nvSpPr>
        <p:spPr>
          <a:xfrm>
            <a:off x="8875051" y="1915565"/>
            <a:ext cx="1080655" cy="338554"/>
          </a:xfrm>
          <a:prstGeom prst="rect">
            <a:avLst/>
          </a:prstGeom>
          <a:noFill/>
        </p:spPr>
        <p:txBody>
          <a:bodyPr wrap="square" rtlCol="0">
            <a:spAutoFit/>
          </a:bodyPr>
          <a:lstStyle/>
          <a:p>
            <a:r>
              <a:rPr lang="en-US" sz="1600" b="1"/>
              <a:t>3</a:t>
            </a:r>
            <a:endParaRPr lang="LID4096" sz="1600" b="1"/>
          </a:p>
        </p:txBody>
      </p:sp>
      <p:sp>
        <p:nvSpPr>
          <p:cNvPr id="41" name="TextBox 40">
            <a:extLst>
              <a:ext uri="{FF2B5EF4-FFF2-40B4-BE49-F238E27FC236}">
                <a16:creationId xmlns:a16="http://schemas.microsoft.com/office/drawing/2014/main" id="{34C2AC17-14E2-6B1B-293D-961EAB3B05C0}"/>
              </a:ext>
            </a:extLst>
          </p:cNvPr>
          <p:cNvSpPr txBox="1"/>
          <p:nvPr/>
        </p:nvSpPr>
        <p:spPr>
          <a:xfrm>
            <a:off x="10793580" y="1913738"/>
            <a:ext cx="1080655" cy="338554"/>
          </a:xfrm>
          <a:prstGeom prst="rect">
            <a:avLst/>
          </a:prstGeom>
          <a:noFill/>
        </p:spPr>
        <p:txBody>
          <a:bodyPr wrap="square" rtlCol="0">
            <a:spAutoFit/>
          </a:bodyPr>
          <a:lstStyle/>
          <a:p>
            <a:r>
              <a:rPr lang="en-US" sz="1600" b="1"/>
              <a:t>4</a:t>
            </a:r>
            <a:endParaRPr lang="LID4096" sz="1600" b="1"/>
          </a:p>
        </p:txBody>
      </p:sp>
      <p:cxnSp>
        <p:nvCxnSpPr>
          <p:cNvPr id="42" name="Straight Connector 41">
            <a:extLst>
              <a:ext uri="{FF2B5EF4-FFF2-40B4-BE49-F238E27FC236}">
                <a16:creationId xmlns:a16="http://schemas.microsoft.com/office/drawing/2014/main" id="{9AFC4BCF-FF30-5F0A-4D95-EF275865EF09}"/>
              </a:ext>
            </a:extLst>
          </p:cNvPr>
          <p:cNvCxnSpPr>
            <a:cxnSpLocks/>
          </p:cNvCxnSpPr>
          <p:nvPr/>
        </p:nvCxnSpPr>
        <p:spPr>
          <a:xfrm>
            <a:off x="2423006" y="1872211"/>
            <a:ext cx="0" cy="4205316"/>
          </a:xfrm>
          <a:prstGeom prst="line">
            <a:avLst/>
          </a:prstGeom>
          <a:ln w="34925">
            <a:solidFill>
              <a:srgbClr val="FF0000"/>
            </a:solidFill>
            <a:tailEnd type="non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7ECBD888-16FF-A94F-1E41-F91CD062ECC7}"/>
              </a:ext>
            </a:extLst>
          </p:cNvPr>
          <p:cNvSpPr txBox="1"/>
          <p:nvPr/>
        </p:nvSpPr>
        <p:spPr>
          <a:xfrm>
            <a:off x="1916410" y="1300693"/>
            <a:ext cx="1080655" cy="584775"/>
          </a:xfrm>
          <a:prstGeom prst="rect">
            <a:avLst/>
          </a:prstGeom>
          <a:noFill/>
        </p:spPr>
        <p:txBody>
          <a:bodyPr wrap="square" rtlCol="0">
            <a:spAutoFit/>
          </a:bodyPr>
          <a:lstStyle/>
          <a:p>
            <a:pPr algn="ctr"/>
            <a:r>
              <a:rPr lang="en-US" sz="1600" b="1">
                <a:solidFill>
                  <a:srgbClr val="FF0000"/>
                </a:solidFill>
              </a:rPr>
              <a:t>Release Lock</a:t>
            </a:r>
            <a:endParaRPr lang="LID4096" sz="1600" b="1">
              <a:solidFill>
                <a:srgbClr val="FF0000"/>
              </a:solidFill>
            </a:endParaRPr>
          </a:p>
        </p:txBody>
      </p:sp>
      <p:sp>
        <p:nvSpPr>
          <p:cNvPr id="45" name="Rectangle: Rounded Corners 44">
            <a:extLst>
              <a:ext uri="{FF2B5EF4-FFF2-40B4-BE49-F238E27FC236}">
                <a16:creationId xmlns:a16="http://schemas.microsoft.com/office/drawing/2014/main" id="{30D0B8C8-30AB-6F18-AC9B-D03AB1C3A2B4}"/>
              </a:ext>
            </a:extLst>
          </p:cNvPr>
          <p:cNvSpPr/>
          <p:nvPr/>
        </p:nvSpPr>
        <p:spPr>
          <a:xfrm>
            <a:off x="1551210" y="3544835"/>
            <a:ext cx="802781" cy="405977"/>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err="1">
                <a:solidFill>
                  <a:schemeClr val="tx1"/>
                </a:solidFill>
              </a:rPr>
              <a:t>Sharepoint</a:t>
            </a:r>
            <a:r>
              <a:rPr lang="en-US" sz="900">
                <a:solidFill>
                  <a:schemeClr val="tx1"/>
                </a:solidFill>
              </a:rPr>
              <a:t> prep</a:t>
            </a:r>
            <a:endParaRPr lang="LID4096" sz="900">
              <a:solidFill>
                <a:schemeClr val="tx1"/>
              </a:solidFill>
            </a:endParaRPr>
          </a:p>
        </p:txBody>
      </p:sp>
      <p:sp>
        <p:nvSpPr>
          <p:cNvPr id="47" name="Rectangle: Rounded Corners 46">
            <a:extLst>
              <a:ext uri="{FF2B5EF4-FFF2-40B4-BE49-F238E27FC236}">
                <a16:creationId xmlns:a16="http://schemas.microsoft.com/office/drawing/2014/main" id="{BAD908AF-9801-7CB6-A457-16444C43AA53}"/>
              </a:ext>
            </a:extLst>
          </p:cNvPr>
          <p:cNvSpPr/>
          <p:nvPr/>
        </p:nvSpPr>
        <p:spPr>
          <a:xfrm>
            <a:off x="2635444" y="2573510"/>
            <a:ext cx="1487838" cy="24695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Regression prep</a:t>
            </a:r>
            <a:endParaRPr lang="LID4096" sz="900">
              <a:solidFill>
                <a:schemeClr val="tx1"/>
              </a:solidFill>
            </a:endParaRPr>
          </a:p>
        </p:txBody>
      </p:sp>
      <p:sp>
        <p:nvSpPr>
          <p:cNvPr id="53" name="Rectangle: Rounded Corners 52">
            <a:extLst>
              <a:ext uri="{FF2B5EF4-FFF2-40B4-BE49-F238E27FC236}">
                <a16:creationId xmlns:a16="http://schemas.microsoft.com/office/drawing/2014/main" id="{C35A364B-6C2E-BCE0-67DD-EB8C2DA01B05}"/>
              </a:ext>
            </a:extLst>
          </p:cNvPr>
          <p:cNvSpPr/>
          <p:nvPr/>
        </p:nvSpPr>
        <p:spPr>
          <a:xfrm>
            <a:off x="1541945" y="2582425"/>
            <a:ext cx="802781" cy="40077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Communication prep</a:t>
            </a:r>
            <a:endParaRPr lang="LID4096" sz="900">
              <a:solidFill>
                <a:schemeClr val="tx1"/>
              </a:solidFill>
            </a:endParaRPr>
          </a:p>
        </p:txBody>
      </p:sp>
      <p:cxnSp>
        <p:nvCxnSpPr>
          <p:cNvPr id="56" name="Straight Connector 55">
            <a:extLst>
              <a:ext uri="{FF2B5EF4-FFF2-40B4-BE49-F238E27FC236}">
                <a16:creationId xmlns:a16="http://schemas.microsoft.com/office/drawing/2014/main" id="{E14BA847-70EF-B93B-0EBB-2D2CE42E5DBA}"/>
              </a:ext>
            </a:extLst>
          </p:cNvPr>
          <p:cNvCxnSpPr>
            <a:cxnSpLocks/>
          </p:cNvCxnSpPr>
          <p:nvPr/>
        </p:nvCxnSpPr>
        <p:spPr>
          <a:xfrm>
            <a:off x="521208" y="5800431"/>
            <a:ext cx="11449119" cy="0"/>
          </a:xfrm>
          <a:prstGeom prst="line">
            <a:avLst/>
          </a:prstGeom>
          <a:ln w="15875">
            <a:tailEnd type="non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969C2F16-F10F-B6F4-B29D-D84F0D742E76}"/>
              </a:ext>
            </a:extLst>
          </p:cNvPr>
          <p:cNvSpPr txBox="1"/>
          <p:nvPr/>
        </p:nvSpPr>
        <p:spPr>
          <a:xfrm>
            <a:off x="436639" y="4373962"/>
            <a:ext cx="1160604" cy="338554"/>
          </a:xfrm>
          <a:prstGeom prst="rect">
            <a:avLst/>
          </a:prstGeom>
          <a:noFill/>
        </p:spPr>
        <p:txBody>
          <a:bodyPr wrap="square" rtlCol="0">
            <a:spAutoFit/>
          </a:bodyPr>
          <a:lstStyle/>
          <a:p>
            <a:r>
              <a:rPr lang="en-US" sz="1600" b="1"/>
              <a:t>Marketing</a:t>
            </a:r>
            <a:endParaRPr lang="LID4096" sz="1600" b="1"/>
          </a:p>
        </p:txBody>
      </p:sp>
      <p:sp>
        <p:nvSpPr>
          <p:cNvPr id="67" name="Rectangle: Rounded Corners 66">
            <a:extLst>
              <a:ext uri="{FF2B5EF4-FFF2-40B4-BE49-F238E27FC236}">
                <a16:creationId xmlns:a16="http://schemas.microsoft.com/office/drawing/2014/main" id="{7F16EFB1-BD99-AFE1-38EC-35ECB34A0865}"/>
              </a:ext>
            </a:extLst>
          </p:cNvPr>
          <p:cNvSpPr/>
          <p:nvPr/>
        </p:nvSpPr>
        <p:spPr>
          <a:xfrm>
            <a:off x="4359289" y="2910725"/>
            <a:ext cx="1331303" cy="73713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b="1">
                <a:solidFill>
                  <a:schemeClr val="tx1"/>
                </a:solidFill>
              </a:rPr>
              <a:t>Regression</a:t>
            </a:r>
            <a:endParaRPr lang="LID4096" sz="1600" b="1">
              <a:solidFill>
                <a:schemeClr val="tx1"/>
              </a:solidFill>
            </a:endParaRPr>
          </a:p>
        </p:txBody>
      </p:sp>
      <p:sp>
        <p:nvSpPr>
          <p:cNvPr id="75" name="Rectangle: Rounded Corners 74">
            <a:extLst>
              <a:ext uri="{FF2B5EF4-FFF2-40B4-BE49-F238E27FC236}">
                <a16:creationId xmlns:a16="http://schemas.microsoft.com/office/drawing/2014/main" id="{F7E9E066-42D7-3CCB-66B8-0EDDD5319D7C}"/>
              </a:ext>
            </a:extLst>
          </p:cNvPr>
          <p:cNvSpPr/>
          <p:nvPr/>
        </p:nvSpPr>
        <p:spPr>
          <a:xfrm>
            <a:off x="7670302" y="2848808"/>
            <a:ext cx="1331303" cy="73713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b="1">
                <a:solidFill>
                  <a:schemeClr val="tx1"/>
                </a:solidFill>
              </a:rPr>
              <a:t>PQ</a:t>
            </a:r>
            <a:endParaRPr lang="LID4096" sz="1600" b="1">
              <a:solidFill>
                <a:schemeClr val="tx1"/>
              </a:solidFill>
            </a:endParaRPr>
          </a:p>
        </p:txBody>
      </p:sp>
      <p:sp>
        <p:nvSpPr>
          <p:cNvPr id="79" name="Rectangle: Rounded Corners 78">
            <a:extLst>
              <a:ext uri="{FF2B5EF4-FFF2-40B4-BE49-F238E27FC236}">
                <a16:creationId xmlns:a16="http://schemas.microsoft.com/office/drawing/2014/main" id="{FD407FA7-6F03-D943-8FB0-D2779DA97C13}"/>
              </a:ext>
            </a:extLst>
          </p:cNvPr>
          <p:cNvSpPr/>
          <p:nvPr/>
        </p:nvSpPr>
        <p:spPr>
          <a:xfrm>
            <a:off x="5733682" y="2495133"/>
            <a:ext cx="1487838" cy="24695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IT Handover</a:t>
            </a:r>
            <a:endParaRPr lang="LID4096" sz="900">
              <a:solidFill>
                <a:schemeClr val="tx1"/>
              </a:solidFill>
            </a:endParaRPr>
          </a:p>
        </p:txBody>
      </p:sp>
      <p:sp>
        <p:nvSpPr>
          <p:cNvPr id="81" name="Rectangle: Rounded Corners 80">
            <a:extLst>
              <a:ext uri="{FF2B5EF4-FFF2-40B4-BE49-F238E27FC236}">
                <a16:creationId xmlns:a16="http://schemas.microsoft.com/office/drawing/2014/main" id="{174B5D66-A6E6-FD58-AC73-9995BFCDA157}"/>
              </a:ext>
            </a:extLst>
          </p:cNvPr>
          <p:cNvSpPr/>
          <p:nvPr/>
        </p:nvSpPr>
        <p:spPr>
          <a:xfrm>
            <a:off x="5733682" y="5235643"/>
            <a:ext cx="1487838" cy="24695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IT Takeover</a:t>
            </a:r>
            <a:endParaRPr lang="LID4096" sz="900">
              <a:solidFill>
                <a:schemeClr val="tx1"/>
              </a:solidFill>
            </a:endParaRPr>
          </a:p>
        </p:txBody>
      </p:sp>
      <p:sp>
        <p:nvSpPr>
          <p:cNvPr id="83" name="Rectangle: Rounded Corners 82">
            <a:extLst>
              <a:ext uri="{FF2B5EF4-FFF2-40B4-BE49-F238E27FC236}">
                <a16:creationId xmlns:a16="http://schemas.microsoft.com/office/drawing/2014/main" id="{E73C89FF-446E-EF86-0176-07B23EA592C4}"/>
              </a:ext>
            </a:extLst>
          </p:cNvPr>
          <p:cNvSpPr/>
          <p:nvPr/>
        </p:nvSpPr>
        <p:spPr>
          <a:xfrm>
            <a:off x="7533419" y="5261682"/>
            <a:ext cx="980440" cy="3843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Deploy to Stage</a:t>
            </a:r>
            <a:endParaRPr lang="LID4096" sz="900">
              <a:solidFill>
                <a:schemeClr val="tx1"/>
              </a:solidFill>
            </a:endParaRPr>
          </a:p>
        </p:txBody>
      </p:sp>
      <p:sp>
        <p:nvSpPr>
          <p:cNvPr id="87" name="Rectangle: Rounded Corners 86">
            <a:extLst>
              <a:ext uri="{FF2B5EF4-FFF2-40B4-BE49-F238E27FC236}">
                <a16:creationId xmlns:a16="http://schemas.microsoft.com/office/drawing/2014/main" id="{09E76A55-F60C-9FA8-B9B4-DBECCD74B26D}"/>
              </a:ext>
            </a:extLst>
          </p:cNvPr>
          <p:cNvSpPr/>
          <p:nvPr/>
        </p:nvSpPr>
        <p:spPr>
          <a:xfrm>
            <a:off x="2685568" y="3656156"/>
            <a:ext cx="1487838" cy="24695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Internal communication</a:t>
            </a:r>
            <a:endParaRPr lang="LID4096" sz="900">
              <a:solidFill>
                <a:schemeClr val="tx1"/>
              </a:solidFill>
            </a:endParaRPr>
          </a:p>
        </p:txBody>
      </p:sp>
      <p:sp>
        <p:nvSpPr>
          <p:cNvPr id="89" name="Rectangle: Rounded Corners 88">
            <a:extLst>
              <a:ext uri="{FF2B5EF4-FFF2-40B4-BE49-F238E27FC236}">
                <a16:creationId xmlns:a16="http://schemas.microsoft.com/office/drawing/2014/main" id="{ACF23A57-ECC0-BD72-A0B8-50FE3FA94B5E}"/>
              </a:ext>
            </a:extLst>
          </p:cNvPr>
          <p:cNvSpPr/>
          <p:nvPr/>
        </p:nvSpPr>
        <p:spPr>
          <a:xfrm>
            <a:off x="10542933" y="5267201"/>
            <a:ext cx="903775" cy="343506"/>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b="1">
                <a:solidFill>
                  <a:schemeClr val="tx1"/>
                </a:solidFill>
              </a:rPr>
              <a:t>Go Live</a:t>
            </a:r>
            <a:endParaRPr lang="LID4096" sz="1600" b="1">
              <a:solidFill>
                <a:schemeClr val="tx1"/>
              </a:solidFill>
            </a:endParaRPr>
          </a:p>
        </p:txBody>
      </p:sp>
      <p:sp>
        <p:nvSpPr>
          <p:cNvPr id="97" name="Rectangle: Rounded Corners 96">
            <a:extLst>
              <a:ext uri="{FF2B5EF4-FFF2-40B4-BE49-F238E27FC236}">
                <a16:creationId xmlns:a16="http://schemas.microsoft.com/office/drawing/2014/main" id="{93309085-EDE7-C418-D02E-DC81D708F1B6}"/>
              </a:ext>
            </a:extLst>
          </p:cNvPr>
          <p:cNvSpPr/>
          <p:nvPr/>
        </p:nvSpPr>
        <p:spPr>
          <a:xfrm>
            <a:off x="10580953" y="3501526"/>
            <a:ext cx="802781" cy="405977"/>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Publish </a:t>
            </a:r>
            <a:r>
              <a:rPr lang="en-US" sz="900" err="1">
                <a:solidFill>
                  <a:schemeClr val="tx1"/>
                </a:solidFill>
              </a:rPr>
              <a:t>eL</a:t>
            </a:r>
            <a:endParaRPr lang="LID4096" sz="900">
              <a:solidFill>
                <a:schemeClr val="tx1"/>
              </a:solidFill>
            </a:endParaRPr>
          </a:p>
        </p:txBody>
      </p:sp>
      <p:sp>
        <p:nvSpPr>
          <p:cNvPr id="99" name="Rectangle: Rounded Corners 98">
            <a:extLst>
              <a:ext uri="{FF2B5EF4-FFF2-40B4-BE49-F238E27FC236}">
                <a16:creationId xmlns:a16="http://schemas.microsoft.com/office/drawing/2014/main" id="{61284B06-A3C2-6C8F-1007-DA38768EDF91}"/>
              </a:ext>
            </a:extLst>
          </p:cNvPr>
          <p:cNvSpPr/>
          <p:nvPr/>
        </p:nvSpPr>
        <p:spPr>
          <a:xfrm>
            <a:off x="9569156" y="3553808"/>
            <a:ext cx="802781" cy="405977"/>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Compile VIRP</a:t>
            </a:r>
            <a:endParaRPr lang="LID4096" sz="900">
              <a:solidFill>
                <a:schemeClr val="tx1"/>
              </a:solidFill>
            </a:endParaRPr>
          </a:p>
        </p:txBody>
      </p:sp>
      <p:sp>
        <p:nvSpPr>
          <p:cNvPr id="101" name="Rectangle: Rounded Corners 100">
            <a:extLst>
              <a:ext uri="{FF2B5EF4-FFF2-40B4-BE49-F238E27FC236}">
                <a16:creationId xmlns:a16="http://schemas.microsoft.com/office/drawing/2014/main" id="{5956B5BD-CBE1-AC8C-4790-5B68D1728947}"/>
              </a:ext>
            </a:extLst>
          </p:cNvPr>
          <p:cNvSpPr/>
          <p:nvPr/>
        </p:nvSpPr>
        <p:spPr>
          <a:xfrm>
            <a:off x="7711077" y="3771630"/>
            <a:ext cx="802781" cy="405977"/>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Internal training</a:t>
            </a:r>
            <a:endParaRPr lang="LID4096" sz="900">
              <a:solidFill>
                <a:schemeClr val="tx1"/>
              </a:solidFill>
            </a:endParaRPr>
          </a:p>
        </p:txBody>
      </p:sp>
      <p:sp>
        <p:nvSpPr>
          <p:cNvPr id="103" name="Rectangle: Rounded Corners 102">
            <a:extLst>
              <a:ext uri="{FF2B5EF4-FFF2-40B4-BE49-F238E27FC236}">
                <a16:creationId xmlns:a16="http://schemas.microsoft.com/office/drawing/2014/main" id="{B4622004-63F3-28DC-F9A2-2EA7FDFE11B9}"/>
              </a:ext>
            </a:extLst>
          </p:cNvPr>
          <p:cNvSpPr/>
          <p:nvPr/>
        </p:nvSpPr>
        <p:spPr>
          <a:xfrm>
            <a:off x="7761331" y="4820214"/>
            <a:ext cx="802781" cy="33519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Smoke test</a:t>
            </a:r>
            <a:endParaRPr lang="LID4096" sz="900">
              <a:solidFill>
                <a:schemeClr val="tx1"/>
              </a:solidFill>
            </a:endParaRPr>
          </a:p>
        </p:txBody>
      </p:sp>
      <p:sp>
        <p:nvSpPr>
          <p:cNvPr id="105" name="Rectangle: Rounded Corners 104">
            <a:extLst>
              <a:ext uri="{FF2B5EF4-FFF2-40B4-BE49-F238E27FC236}">
                <a16:creationId xmlns:a16="http://schemas.microsoft.com/office/drawing/2014/main" id="{95F57C25-ABF9-282D-5748-D0B37C9EC898}"/>
              </a:ext>
            </a:extLst>
          </p:cNvPr>
          <p:cNvSpPr/>
          <p:nvPr/>
        </p:nvSpPr>
        <p:spPr>
          <a:xfrm>
            <a:off x="8763237" y="4815963"/>
            <a:ext cx="802781" cy="33519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Release videos</a:t>
            </a:r>
            <a:endParaRPr lang="LID4096" sz="900">
              <a:solidFill>
                <a:schemeClr val="tx1"/>
              </a:solidFill>
            </a:endParaRPr>
          </a:p>
        </p:txBody>
      </p:sp>
      <p:sp>
        <p:nvSpPr>
          <p:cNvPr id="107" name="Rectangle: Rounded Corners 106">
            <a:extLst>
              <a:ext uri="{FF2B5EF4-FFF2-40B4-BE49-F238E27FC236}">
                <a16:creationId xmlns:a16="http://schemas.microsoft.com/office/drawing/2014/main" id="{E317EAC5-C21D-52F3-F6EC-D8FD95B31FD9}"/>
              </a:ext>
            </a:extLst>
          </p:cNvPr>
          <p:cNvSpPr/>
          <p:nvPr/>
        </p:nvSpPr>
        <p:spPr>
          <a:xfrm>
            <a:off x="6328123" y="5511359"/>
            <a:ext cx="1118154" cy="24695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Runbook</a:t>
            </a:r>
            <a:endParaRPr lang="LID4096" sz="900">
              <a:solidFill>
                <a:schemeClr val="tx1"/>
              </a:solidFill>
            </a:endParaRPr>
          </a:p>
        </p:txBody>
      </p:sp>
      <p:sp>
        <p:nvSpPr>
          <p:cNvPr id="111" name="Rectangle: Rounded Corners 110">
            <a:extLst>
              <a:ext uri="{FF2B5EF4-FFF2-40B4-BE49-F238E27FC236}">
                <a16:creationId xmlns:a16="http://schemas.microsoft.com/office/drawing/2014/main" id="{ABB1FBD2-802E-4006-CD6A-E99E35321ECF}"/>
              </a:ext>
            </a:extLst>
          </p:cNvPr>
          <p:cNvSpPr/>
          <p:nvPr/>
        </p:nvSpPr>
        <p:spPr>
          <a:xfrm>
            <a:off x="5332305" y="3819307"/>
            <a:ext cx="1487838" cy="41838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PQ documentation</a:t>
            </a:r>
            <a:endParaRPr lang="LID4096" sz="900">
              <a:solidFill>
                <a:schemeClr val="tx1"/>
              </a:solidFill>
            </a:endParaRPr>
          </a:p>
        </p:txBody>
      </p:sp>
      <p:sp>
        <p:nvSpPr>
          <p:cNvPr id="113" name="Rectangle: Rounded Corners 112">
            <a:extLst>
              <a:ext uri="{FF2B5EF4-FFF2-40B4-BE49-F238E27FC236}">
                <a16:creationId xmlns:a16="http://schemas.microsoft.com/office/drawing/2014/main" id="{E96FDDD2-1734-C7A4-2DFA-0CFCEC55C062}"/>
              </a:ext>
            </a:extLst>
          </p:cNvPr>
          <p:cNvSpPr/>
          <p:nvPr/>
        </p:nvSpPr>
        <p:spPr>
          <a:xfrm>
            <a:off x="3002765" y="2864539"/>
            <a:ext cx="1135449" cy="24695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Deploy to Ext</a:t>
            </a:r>
            <a:endParaRPr lang="LID4096" sz="900">
              <a:solidFill>
                <a:schemeClr val="tx1"/>
              </a:solidFill>
            </a:endParaRPr>
          </a:p>
        </p:txBody>
      </p:sp>
      <p:sp>
        <p:nvSpPr>
          <p:cNvPr id="115" name="Rectangle: Rounded Corners 114">
            <a:extLst>
              <a:ext uri="{FF2B5EF4-FFF2-40B4-BE49-F238E27FC236}">
                <a16:creationId xmlns:a16="http://schemas.microsoft.com/office/drawing/2014/main" id="{DF973FC1-56C8-8EBE-B637-7D64AB43318A}"/>
              </a:ext>
            </a:extLst>
          </p:cNvPr>
          <p:cNvSpPr/>
          <p:nvPr/>
        </p:nvSpPr>
        <p:spPr>
          <a:xfrm>
            <a:off x="8628164" y="3627244"/>
            <a:ext cx="848112" cy="41838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Update Website</a:t>
            </a:r>
            <a:endParaRPr lang="LID4096" sz="900">
              <a:solidFill>
                <a:schemeClr val="tx1"/>
              </a:solidFill>
            </a:endParaRPr>
          </a:p>
        </p:txBody>
      </p:sp>
      <p:sp>
        <p:nvSpPr>
          <p:cNvPr id="127" name="Rectangle: Rounded Corners 126">
            <a:extLst>
              <a:ext uri="{FF2B5EF4-FFF2-40B4-BE49-F238E27FC236}">
                <a16:creationId xmlns:a16="http://schemas.microsoft.com/office/drawing/2014/main" id="{2AAD6143-27B5-7C1D-42AD-A39D15C7B7D3}"/>
              </a:ext>
            </a:extLst>
          </p:cNvPr>
          <p:cNvSpPr/>
          <p:nvPr/>
        </p:nvSpPr>
        <p:spPr>
          <a:xfrm>
            <a:off x="8915515" y="5865085"/>
            <a:ext cx="1487838" cy="33288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Approve the release</a:t>
            </a:r>
            <a:endParaRPr lang="LID4096" sz="900">
              <a:solidFill>
                <a:schemeClr val="tx1"/>
              </a:solidFill>
            </a:endParaRPr>
          </a:p>
        </p:txBody>
      </p:sp>
      <p:sp>
        <p:nvSpPr>
          <p:cNvPr id="131" name="Rectangle: Rounded Corners 130">
            <a:extLst>
              <a:ext uri="{FF2B5EF4-FFF2-40B4-BE49-F238E27FC236}">
                <a16:creationId xmlns:a16="http://schemas.microsoft.com/office/drawing/2014/main" id="{A079BD2C-B1C7-ACAA-A221-BCBB02804ECE}"/>
              </a:ext>
            </a:extLst>
          </p:cNvPr>
          <p:cNvSpPr/>
          <p:nvPr/>
        </p:nvSpPr>
        <p:spPr>
          <a:xfrm>
            <a:off x="11483278" y="5490247"/>
            <a:ext cx="639386" cy="27073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Upload VIRP</a:t>
            </a:r>
            <a:endParaRPr lang="LID4096" sz="900">
              <a:solidFill>
                <a:schemeClr val="tx1"/>
              </a:solidFill>
            </a:endParaRPr>
          </a:p>
        </p:txBody>
      </p:sp>
      <p:sp>
        <p:nvSpPr>
          <p:cNvPr id="133" name="Rectangle: Rounded Corners 132">
            <a:extLst>
              <a:ext uri="{FF2B5EF4-FFF2-40B4-BE49-F238E27FC236}">
                <a16:creationId xmlns:a16="http://schemas.microsoft.com/office/drawing/2014/main" id="{0175C7C0-1C41-7F7C-4F95-EFFAFC875988}"/>
              </a:ext>
            </a:extLst>
          </p:cNvPr>
          <p:cNvSpPr/>
          <p:nvPr/>
        </p:nvSpPr>
        <p:spPr>
          <a:xfrm>
            <a:off x="11426952" y="3749211"/>
            <a:ext cx="848112" cy="29260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Update Website</a:t>
            </a:r>
            <a:endParaRPr lang="LID4096" sz="900">
              <a:solidFill>
                <a:schemeClr val="tx1"/>
              </a:solidFill>
            </a:endParaRPr>
          </a:p>
        </p:txBody>
      </p:sp>
      <p:sp>
        <p:nvSpPr>
          <p:cNvPr id="135" name="Rectangle: Rounded Corners 134">
            <a:extLst>
              <a:ext uri="{FF2B5EF4-FFF2-40B4-BE49-F238E27FC236}">
                <a16:creationId xmlns:a16="http://schemas.microsoft.com/office/drawing/2014/main" id="{4FB0BFA6-5F2C-6C07-C685-ECE686139E46}"/>
              </a:ext>
            </a:extLst>
          </p:cNvPr>
          <p:cNvSpPr/>
          <p:nvPr/>
        </p:nvSpPr>
        <p:spPr>
          <a:xfrm>
            <a:off x="8616868" y="4083555"/>
            <a:ext cx="1223360" cy="173627"/>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Send release email</a:t>
            </a:r>
            <a:endParaRPr lang="LID4096" sz="900">
              <a:solidFill>
                <a:schemeClr val="tx1"/>
              </a:solidFill>
            </a:endParaRPr>
          </a:p>
        </p:txBody>
      </p:sp>
      <p:pic>
        <p:nvPicPr>
          <p:cNvPr id="137" name="Picture 136">
            <a:extLst>
              <a:ext uri="{FF2B5EF4-FFF2-40B4-BE49-F238E27FC236}">
                <a16:creationId xmlns:a16="http://schemas.microsoft.com/office/drawing/2014/main" id="{B3759491-3FD9-2C35-F3AC-FA134B122308}"/>
              </a:ext>
            </a:extLst>
          </p:cNvPr>
          <p:cNvPicPr>
            <a:picLocks noChangeAspect="1"/>
          </p:cNvPicPr>
          <p:nvPr/>
        </p:nvPicPr>
        <p:blipFill>
          <a:blip r:embed="rId3"/>
          <a:stretch>
            <a:fillRect/>
          </a:stretch>
        </p:blipFill>
        <p:spPr>
          <a:xfrm>
            <a:off x="10843406" y="699482"/>
            <a:ext cx="1080655" cy="1053526"/>
          </a:xfrm>
          <a:prstGeom prst="rect">
            <a:avLst/>
          </a:prstGeom>
          <a:effectLst>
            <a:softEdge rad="63500"/>
          </a:effectLst>
        </p:spPr>
      </p:pic>
      <p:sp>
        <p:nvSpPr>
          <p:cNvPr id="138" name="Rectangle: Rounded Corners 137">
            <a:extLst>
              <a:ext uri="{FF2B5EF4-FFF2-40B4-BE49-F238E27FC236}">
                <a16:creationId xmlns:a16="http://schemas.microsoft.com/office/drawing/2014/main" id="{1B7D920C-3387-404B-5B34-8D1E3502A104}"/>
              </a:ext>
            </a:extLst>
          </p:cNvPr>
          <p:cNvSpPr/>
          <p:nvPr/>
        </p:nvSpPr>
        <p:spPr>
          <a:xfrm>
            <a:off x="8993812" y="5288165"/>
            <a:ext cx="980440" cy="3843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a:solidFill>
                  <a:schemeClr val="tx1"/>
                </a:solidFill>
              </a:rPr>
              <a:t>IQ/OQ</a:t>
            </a:r>
            <a:endParaRPr lang="LID4096" sz="9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3"/>
                                        </p:tgtEl>
                                        <p:attrNameLst>
                                          <p:attrName>style.visibility</p:attrName>
                                        </p:attrNameLst>
                                      </p:cBhvr>
                                      <p:to>
                                        <p:strVal val="visible"/>
                                      </p:to>
                                    </p:set>
                                    <p:animEffect transition="in" filter="fade">
                                      <p:cBhvr>
                                        <p:cTn id="23" dur="500"/>
                                        <p:tgtEl>
                                          <p:spTgt spid="1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7"/>
                                        </p:tgtEl>
                                        <p:attrNameLst>
                                          <p:attrName>style.visibility</p:attrName>
                                        </p:attrNameLst>
                                      </p:cBhvr>
                                      <p:to>
                                        <p:strVal val="visible"/>
                                      </p:to>
                                    </p:set>
                                    <p:animEffect transition="in" filter="fade">
                                      <p:cBhvr>
                                        <p:cTn id="33" dur="500"/>
                                        <p:tgtEl>
                                          <p:spTgt spid="8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500"/>
                                        <p:tgtEl>
                                          <p:spTgt spid="55"/>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wheel(1)">
                                      <p:cBhvr>
                                        <p:cTn id="43" dur="2000"/>
                                        <p:tgtEl>
                                          <p:spTgt spid="6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9"/>
                                        </p:tgtEl>
                                        <p:attrNameLst>
                                          <p:attrName>style.visibility</p:attrName>
                                        </p:attrNameLst>
                                      </p:cBhvr>
                                      <p:to>
                                        <p:strVal val="visible"/>
                                      </p:to>
                                    </p:set>
                                    <p:animEffect transition="in" filter="fade">
                                      <p:cBhvr>
                                        <p:cTn id="48" dur="500"/>
                                        <p:tgtEl>
                                          <p:spTgt spid="7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animEffect transition="in" filter="fade">
                                      <p:cBhvr>
                                        <p:cTn id="51" dur="500"/>
                                        <p:tgtEl>
                                          <p:spTgt spid="8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09"/>
                                        </p:tgtEl>
                                        <p:attrNameLst>
                                          <p:attrName>style.visibility</p:attrName>
                                        </p:attrNameLst>
                                      </p:cBhvr>
                                      <p:to>
                                        <p:strVal val="visible"/>
                                      </p:to>
                                    </p:set>
                                    <p:animEffect transition="in" filter="fade">
                                      <p:cBhvr>
                                        <p:cTn id="56" dur="500"/>
                                        <p:tgtEl>
                                          <p:spTgt spid="10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11"/>
                                        </p:tgtEl>
                                        <p:attrNameLst>
                                          <p:attrName>style.visibility</p:attrName>
                                        </p:attrNameLst>
                                      </p:cBhvr>
                                      <p:to>
                                        <p:strVal val="visible"/>
                                      </p:to>
                                    </p:set>
                                    <p:animEffect transition="in" filter="fade">
                                      <p:cBhvr>
                                        <p:cTn id="61" dur="500"/>
                                        <p:tgtEl>
                                          <p:spTgt spid="11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5"/>
                                        </p:tgtEl>
                                        <p:attrNameLst>
                                          <p:attrName>style.visibility</p:attrName>
                                        </p:attrNameLst>
                                      </p:cBhvr>
                                      <p:to>
                                        <p:strVal val="visible"/>
                                      </p:to>
                                    </p:set>
                                    <p:animEffect transition="in" filter="fade">
                                      <p:cBhvr>
                                        <p:cTn id="64" dur="500"/>
                                        <p:tgtEl>
                                          <p:spTgt spid="8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07"/>
                                        </p:tgtEl>
                                        <p:attrNameLst>
                                          <p:attrName>style.visibility</p:attrName>
                                        </p:attrNameLst>
                                      </p:cBhvr>
                                      <p:to>
                                        <p:strVal val="visible"/>
                                      </p:to>
                                    </p:set>
                                    <p:animEffect transition="in" filter="fade">
                                      <p:cBhvr>
                                        <p:cTn id="69" dur="500"/>
                                        <p:tgtEl>
                                          <p:spTgt spid="10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83"/>
                                        </p:tgtEl>
                                        <p:attrNameLst>
                                          <p:attrName>style.visibility</p:attrName>
                                        </p:attrNameLst>
                                      </p:cBhvr>
                                      <p:to>
                                        <p:strVal val="visible"/>
                                      </p:to>
                                    </p:set>
                                    <p:animEffect transition="in" filter="fade">
                                      <p:cBhvr>
                                        <p:cTn id="74" dur="500"/>
                                        <p:tgtEl>
                                          <p:spTgt spid="83"/>
                                        </p:tgtEl>
                                      </p:cBhvr>
                                    </p:animEffect>
                                  </p:childTnLst>
                                </p:cTn>
                              </p:par>
                            </p:childTnLst>
                          </p:cTn>
                        </p:par>
                      </p:childTnLst>
                    </p:cTn>
                  </p:par>
                  <p:par>
                    <p:cTn id="75" fill="hold">
                      <p:stCondLst>
                        <p:cond delay="indefinite"/>
                      </p:stCondLst>
                      <p:childTnLst>
                        <p:par>
                          <p:cTn id="76" fill="hold">
                            <p:stCondLst>
                              <p:cond delay="0"/>
                            </p:stCondLst>
                            <p:childTnLst>
                              <p:par>
                                <p:cTn id="77" presetID="21" presetClass="entr" presetSubtype="1" fill="hold" grpId="0" nodeType="clickEffect">
                                  <p:stCondLst>
                                    <p:cond delay="0"/>
                                  </p:stCondLst>
                                  <p:childTnLst>
                                    <p:set>
                                      <p:cBhvr>
                                        <p:cTn id="78" dur="1" fill="hold">
                                          <p:stCondLst>
                                            <p:cond delay="0"/>
                                          </p:stCondLst>
                                        </p:cTn>
                                        <p:tgtEl>
                                          <p:spTgt spid="75"/>
                                        </p:tgtEl>
                                        <p:attrNameLst>
                                          <p:attrName>style.visibility</p:attrName>
                                        </p:attrNameLst>
                                      </p:cBhvr>
                                      <p:to>
                                        <p:strVal val="visible"/>
                                      </p:to>
                                    </p:set>
                                    <p:animEffect transition="in" filter="wheel(1)">
                                      <p:cBhvr>
                                        <p:cTn id="79" dur="2000"/>
                                        <p:tgtEl>
                                          <p:spTgt spid="7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38"/>
                                        </p:tgtEl>
                                        <p:attrNameLst>
                                          <p:attrName>style.visibility</p:attrName>
                                        </p:attrNameLst>
                                      </p:cBhvr>
                                      <p:to>
                                        <p:strVal val="visible"/>
                                      </p:to>
                                    </p:set>
                                    <p:animEffect transition="in" filter="fade">
                                      <p:cBhvr>
                                        <p:cTn id="84" dur="500"/>
                                        <p:tgtEl>
                                          <p:spTgt spid="13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101"/>
                                        </p:tgtEl>
                                        <p:attrNameLst>
                                          <p:attrName>style.visibility</p:attrName>
                                        </p:attrNameLst>
                                      </p:cBhvr>
                                      <p:to>
                                        <p:strVal val="visible"/>
                                      </p:to>
                                    </p:set>
                                    <p:animEffect transition="in" filter="fade">
                                      <p:cBhvr>
                                        <p:cTn id="89" dur="500"/>
                                        <p:tgtEl>
                                          <p:spTgt spid="101"/>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15"/>
                                        </p:tgtEl>
                                        <p:attrNameLst>
                                          <p:attrName>style.visibility</p:attrName>
                                        </p:attrNameLst>
                                      </p:cBhvr>
                                      <p:to>
                                        <p:strVal val="visible"/>
                                      </p:to>
                                    </p:set>
                                    <p:animEffect transition="in" filter="fade">
                                      <p:cBhvr>
                                        <p:cTn id="94" dur="500"/>
                                        <p:tgtEl>
                                          <p:spTgt spid="11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35"/>
                                        </p:tgtEl>
                                        <p:attrNameLst>
                                          <p:attrName>style.visibility</p:attrName>
                                        </p:attrNameLst>
                                      </p:cBhvr>
                                      <p:to>
                                        <p:strVal val="visible"/>
                                      </p:to>
                                    </p:set>
                                    <p:animEffect transition="in" filter="fade">
                                      <p:cBhvr>
                                        <p:cTn id="97" dur="500"/>
                                        <p:tgtEl>
                                          <p:spTgt spid="13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03"/>
                                        </p:tgtEl>
                                        <p:attrNameLst>
                                          <p:attrName>style.visibility</p:attrName>
                                        </p:attrNameLst>
                                      </p:cBhvr>
                                      <p:to>
                                        <p:strVal val="visible"/>
                                      </p:to>
                                    </p:set>
                                    <p:animEffect transition="in" filter="fade">
                                      <p:cBhvr>
                                        <p:cTn id="102" dur="500"/>
                                        <p:tgtEl>
                                          <p:spTgt spid="103"/>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105"/>
                                        </p:tgtEl>
                                        <p:attrNameLst>
                                          <p:attrName>style.visibility</p:attrName>
                                        </p:attrNameLst>
                                      </p:cBhvr>
                                      <p:to>
                                        <p:strVal val="visible"/>
                                      </p:to>
                                    </p:set>
                                    <p:animEffect transition="in" filter="fade">
                                      <p:cBhvr>
                                        <p:cTn id="107" dur="500"/>
                                        <p:tgtEl>
                                          <p:spTgt spid="10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127"/>
                                        </p:tgtEl>
                                        <p:attrNameLst>
                                          <p:attrName>style.visibility</p:attrName>
                                        </p:attrNameLst>
                                      </p:cBhvr>
                                      <p:to>
                                        <p:strVal val="visible"/>
                                      </p:to>
                                    </p:set>
                                    <p:animEffect transition="in" filter="fade">
                                      <p:cBhvr>
                                        <p:cTn id="112" dur="500"/>
                                        <p:tgtEl>
                                          <p:spTgt spid="127"/>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99"/>
                                        </p:tgtEl>
                                        <p:attrNameLst>
                                          <p:attrName>style.visibility</p:attrName>
                                        </p:attrNameLst>
                                      </p:cBhvr>
                                      <p:to>
                                        <p:strVal val="visible"/>
                                      </p:to>
                                    </p:set>
                                    <p:animEffect transition="in" filter="fade">
                                      <p:cBhvr>
                                        <p:cTn id="117" dur="500"/>
                                        <p:tgtEl>
                                          <p:spTgt spid="99"/>
                                        </p:tgtEl>
                                      </p:cBhvr>
                                    </p:animEffect>
                                  </p:childTnLst>
                                </p:cTn>
                              </p:par>
                            </p:childTnLst>
                          </p:cTn>
                        </p:par>
                      </p:childTnLst>
                    </p:cTn>
                  </p:par>
                  <p:par>
                    <p:cTn id="118" fill="hold">
                      <p:stCondLst>
                        <p:cond delay="indefinite"/>
                      </p:stCondLst>
                      <p:childTnLst>
                        <p:par>
                          <p:cTn id="119" fill="hold">
                            <p:stCondLst>
                              <p:cond delay="0"/>
                            </p:stCondLst>
                            <p:childTnLst>
                              <p:par>
                                <p:cTn id="120" presetID="21" presetClass="entr" presetSubtype="1" fill="hold" grpId="0" nodeType="clickEffect">
                                  <p:stCondLst>
                                    <p:cond delay="0"/>
                                  </p:stCondLst>
                                  <p:childTnLst>
                                    <p:set>
                                      <p:cBhvr>
                                        <p:cTn id="121" dur="1" fill="hold">
                                          <p:stCondLst>
                                            <p:cond delay="0"/>
                                          </p:stCondLst>
                                        </p:cTn>
                                        <p:tgtEl>
                                          <p:spTgt spid="89"/>
                                        </p:tgtEl>
                                        <p:attrNameLst>
                                          <p:attrName>style.visibility</p:attrName>
                                        </p:attrNameLst>
                                      </p:cBhvr>
                                      <p:to>
                                        <p:strVal val="visible"/>
                                      </p:to>
                                    </p:set>
                                    <p:animEffect transition="in" filter="wheel(1)">
                                      <p:cBhvr>
                                        <p:cTn id="122" dur="2000"/>
                                        <p:tgtEl>
                                          <p:spTgt spid="89"/>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131"/>
                                        </p:tgtEl>
                                        <p:attrNameLst>
                                          <p:attrName>style.visibility</p:attrName>
                                        </p:attrNameLst>
                                      </p:cBhvr>
                                      <p:to>
                                        <p:strVal val="visible"/>
                                      </p:to>
                                    </p:set>
                                    <p:animEffect transition="in" filter="fade">
                                      <p:cBhvr>
                                        <p:cTn id="127" dur="500"/>
                                        <p:tgtEl>
                                          <p:spTgt spid="131"/>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97"/>
                                        </p:tgtEl>
                                        <p:attrNameLst>
                                          <p:attrName>style.visibility</p:attrName>
                                        </p:attrNameLst>
                                      </p:cBhvr>
                                      <p:to>
                                        <p:strVal val="visible"/>
                                      </p:to>
                                    </p:set>
                                    <p:animEffect transition="in" filter="fade">
                                      <p:cBhvr>
                                        <p:cTn id="132" dur="500"/>
                                        <p:tgtEl>
                                          <p:spTgt spid="97"/>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133"/>
                                        </p:tgtEl>
                                        <p:attrNameLst>
                                          <p:attrName>style.visibility</p:attrName>
                                        </p:attrNameLst>
                                      </p:cBhvr>
                                      <p:to>
                                        <p:strVal val="visible"/>
                                      </p:to>
                                    </p:set>
                                    <p:animEffect transition="in" filter="fade">
                                      <p:cBhvr>
                                        <p:cTn id="137" dur="500"/>
                                        <p:tgtEl>
                                          <p:spTgt spid="133"/>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139"/>
                                        </p:tgtEl>
                                        <p:attrNameLst>
                                          <p:attrName>style.visibility</p:attrName>
                                        </p:attrNameLst>
                                      </p:cBhvr>
                                      <p:to>
                                        <p:strVal val="visible"/>
                                      </p:to>
                                    </p:set>
                                    <p:animEffect transition="in" filter="fade">
                                      <p:cBhvr>
                                        <p:cTn id="142" dur="500"/>
                                        <p:tgtEl>
                                          <p:spTgt spid="139"/>
                                        </p:tgtEl>
                                      </p:cBhvr>
                                    </p:animEffect>
                                  </p:childTnLst>
                                </p:cTn>
                              </p:par>
                            </p:childTnLst>
                          </p:cTn>
                        </p:par>
                      </p:childTnLst>
                    </p:cTn>
                  </p:par>
                  <p:par>
                    <p:cTn id="143" fill="hold">
                      <p:stCondLst>
                        <p:cond delay="indefinite"/>
                      </p:stCondLst>
                      <p:childTnLst>
                        <p:par>
                          <p:cTn id="144" fill="hold">
                            <p:stCondLst>
                              <p:cond delay="0"/>
                            </p:stCondLst>
                            <p:childTnLst>
                              <p:par>
                                <p:cTn id="145" presetID="26" presetClass="entr" presetSubtype="0" fill="hold" nodeType="clickEffect">
                                  <p:stCondLst>
                                    <p:cond delay="0"/>
                                  </p:stCondLst>
                                  <p:childTnLst>
                                    <p:set>
                                      <p:cBhvr>
                                        <p:cTn id="146" dur="1" fill="hold">
                                          <p:stCondLst>
                                            <p:cond delay="0"/>
                                          </p:stCondLst>
                                        </p:cTn>
                                        <p:tgtEl>
                                          <p:spTgt spid="137"/>
                                        </p:tgtEl>
                                        <p:attrNameLst>
                                          <p:attrName>style.visibility</p:attrName>
                                        </p:attrNameLst>
                                      </p:cBhvr>
                                      <p:to>
                                        <p:strVal val="visible"/>
                                      </p:to>
                                    </p:set>
                                    <p:animEffect transition="in" filter="wipe(down)">
                                      <p:cBhvr>
                                        <p:cTn id="147" dur="580">
                                          <p:stCondLst>
                                            <p:cond delay="0"/>
                                          </p:stCondLst>
                                        </p:cTn>
                                        <p:tgtEl>
                                          <p:spTgt spid="137"/>
                                        </p:tgtEl>
                                      </p:cBhvr>
                                    </p:animEffect>
                                    <p:anim calcmode="lin" valueType="num">
                                      <p:cBhvr>
                                        <p:cTn id="148" dur="1822" tmFilter="0,0; 0.14,0.36; 0.43,0.73; 0.71,0.91; 1.0,1.0">
                                          <p:stCondLst>
                                            <p:cond delay="0"/>
                                          </p:stCondLst>
                                        </p:cTn>
                                        <p:tgtEl>
                                          <p:spTgt spid="137"/>
                                        </p:tgtEl>
                                        <p:attrNameLst>
                                          <p:attrName>ppt_x</p:attrName>
                                        </p:attrNameLst>
                                      </p:cBhvr>
                                      <p:tavLst>
                                        <p:tav tm="0">
                                          <p:val>
                                            <p:strVal val="#ppt_x-0.25"/>
                                          </p:val>
                                        </p:tav>
                                        <p:tav tm="100000">
                                          <p:val>
                                            <p:strVal val="#ppt_x"/>
                                          </p:val>
                                        </p:tav>
                                      </p:tavLst>
                                    </p:anim>
                                    <p:anim calcmode="lin" valueType="num">
                                      <p:cBhvr>
                                        <p:cTn id="149" dur="664" tmFilter="0.0,0.0; 0.25,0.07; 0.50,0.2; 0.75,0.467; 1.0,1.0">
                                          <p:stCondLst>
                                            <p:cond delay="0"/>
                                          </p:stCondLst>
                                        </p:cTn>
                                        <p:tgtEl>
                                          <p:spTgt spid="137"/>
                                        </p:tgtEl>
                                        <p:attrNameLst>
                                          <p:attrName>ppt_y</p:attrName>
                                        </p:attrNameLst>
                                      </p:cBhvr>
                                      <p:tavLst>
                                        <p:tav tm="0" fmla="#ppt_y-sin(pi*$)/3">
                                          <p:val>
                                            <p:fltVal val="0.5"/>
                                          </p:val>
                                        </p:tav>
                                        <p:tav tm="100000">
                                          <p:val>
                                            <p:fltVal val="1"/>
                                          </p:val>
                                        </p:tav>
                                      </p:tavLst>
                                    </p:anim>
                                    <p:anim calcmode="lin" valueType="num">
                                      <p:cBhvr>
                                        <p:cTn id="150" dur="664" tmFilter="0, 0; 0.125,0.2665; 0.25,0.4; 0.375,0.465; 0.5,0.5;  0.625,0.535; 0.75,0.6; 0.875,0.7335; 1,1">
                                          <p:stCondLst>
                                            <p:cond delay="664"/>
                                          </p:stCondLst>
                                        </p:cTn>
                                        <p:tgtEl>
                                          <p:spTgt spid="137"/>
                                        </p:tgtEl>
                                        <p:attrNameLst>
                                          <p:attrName>ppt_y</p:attrName>
                                        </p:attrNameLst>
                                      </p:cBhvr>
                                      <p:tavLst>
                                        <p:tav tm="0" fmla="#ppt_y-sin(pi*$)/9">
                                          <p:val>
                                            <p:fltVal val="0"/>
                                          </p:val>
                                        </p:tav>
                                        <p:tav tm="100000">
                                          <p:val>
                                            <p:fltVal val="1"/>
                                          </p:val>
                                        </p:tav>
                                      </p:tavLst>
                                    </p:anim>
                                    <p:anim calcmode="lin" valueType="num">
                                      <p:cBhvr>
                                        <p:cTn id="151" dur="332" tmFilter="0, 0; 0.125,0.2665; 0.25,0.4; 0.375,0.465; 0.5,0.5;  0.625,0.535; 0.75,0.6; 0.875,0.7335; 1,1">
                                          <p:stCondLst>
                                            <p:cond delay="1324"/>
                                          </p:stCondLst>
                                        </p:cTn>
                                        <p:tgtEl>
                                          <p:spTgt spid="137"/>
                                        </p:tgtEl>
                                        <p:attrNameLst>
                                          <p:attrName>ppt_y</p:attrName>
                                        </p:attrNameLst>
                                      </p:cBhvr>
                                      <p:tavLst>
                                        <p:tav tm="0" fmla="#ppt_y-sin(pi*$)/27">
                                          <p:val>
                                            <p:fltVal val="0"/>
                                          </p:val>
                                        </p:tav>
                                        <p:tav tm="100000">
                                          <p:val>
                                            <p:fltVal val="1"/>
                                          </p:val>
                                        </p:tav>
                                      </p:tavLst>
                                    </p:anim>
                                    <p:anim calcmode="lin" valueType="num">
                                      <p:cBhvr>
                                        <p:cTn id="152" dur="164" tmFilter="0, 0; 0.125,0.2665; 0.25,0.4; 0.375,0.465; 0.5,0.5;  0.625,0.535; 0.75,0.6; 0.875,0.7335; 1,1">
                                          <p:stCondLst>
                                            <p:cond delay="1656"/>
                                          </p:stCondLst>
                                        </p:cTn>
                                        <p:tgtEl>
                                          <p:spTgt spid="137"/>
                                        </p:tgtEl>
                                        <p:attrNameLst>
                                          <p:attrName>ppt_y</p:attrName>
                                        </p:attrNameLst>
                                      </p:cBhvr>
                                      <p:tavLst>
                                        <p:tav tm="0" fmla="#ppt_y-sin(pi*$)/81">
                                          <p:val>
                                            <p:fltVal val="0"/>
                                          </p:val>
                                        </p:tav>
                                        <p:tav tm="100000">
                                          <p:val>
                                            <p:fltVal val="1"/>
                                          </p:val>
                                        </p:tav>
                                      </p:tavLst>
                                    </p:anim>
                                    <p:animScale>
                                      <p:cBhvr>
                                        <p:cTn id="153" dur="26">
                                          <p:stCondLst>
                                            <p:cond delay="650"/>
                                          </p:stCondLst>
                                        </p:cTn>
                                        <p:tgtEl>
                                          <p:spTgt spid="137"/>
                                        </p:tgtEl>
                                      </p:cBhvr>
                                      <p:to x="100000" y="60000"/>
                                    </p:animScale>
                                    <p:animScale>
                                      <p:cBhvr>
                                        <p:cTn id="154" dur="166" decel="50000">
                                          <p:stCondLst>
                                            <p:cond delay="676"/>
                                          </p:stCondLst>
                                        </p:cTn>
                                        <p:tgtEl>
                                          <p:spTgt spid="137"/>
                                        </p:tgtEl>
                                      </p:cBhvr>
                                      <p:to x="100000" y="100000"/>
                                    </p:animScale>
                                    <p:animScale>
                                      <p:cBhvr>
                                        <p:cTn id="155" dur="26">
                                          <p:stCondLst>
                                            <p:cond delay="1312"/>
                                          </p:stCondLst>
                                        </p:cTn>
                                        <p:tgtEl>
                                          <p:spTgt spid="137"/>
                                        </p:tgtEl>
                                      </p:cBhvr>
                                      <p:to x="100000" y="80000"/>
                                    </p:animScale>
                                    <p:animScale>
                                      <p:cBhvr>
                                        <p:cTn id="156" dur="166" decel="50000">
                                          <p:stCondLst>
                                            <p:cond delay="1338"/>
                                          </p:stCondLst>
                                        </p:cTn>
                                        <p:tgtEl>
                                          <p:spTgt spid="137"/>
                                        </p:tgtEl>
                                      </p:cBhvr>
                                      <p:to x="100000" y="100000"/>
                                    </p:animScale>
                                    <p:animScale>
                                      <p:cBhvr>
                                        <p:cTn id="157" dur="26">
                                          <p:stCondLst>
                                            <p:cond delay="1642"/>
                                          </p:stCondLst>
                                        </p:cTn>
                                        <p:tgtEl>
                                          <p:spTgt spid="137"/>
                                        </p:tgtEl>
                                      </p:cBhvr>
                                      <p:to x="100000" y="90000"/>
                                    </p:animScale>
                                    <p:animScale>
                                      <p:cBhvr>
                                        <p:cTn id="158" dur="166" decel="50000">
                                          <p:stCondLst>
                                            <p:cond delay="1668"/>
                                          </p:stCondLst>
                                        </p:cTn>
                                        <p:tgtEl>
                                          <p:spTgt spid="137"/>
                                        </p:tgtEl>
                                      </p:cBhvr>
                                      <p:to x="100000" y="100000"/>
                                    </p:animScale>
                                    <p:animScale>
                                      <p:cBhvr>
                                        <p:cTn id="159" dur="26">
                                          <p:stCondLst>
                                            <p:cond delay="1808"/>
                                          </p:stCondLst>
                                        </p:cTn>
                                        <p:tgtEl>
                                          <p:spTgt spid="137"/>
                                        </p:tgtEl>
                                      </p:cBhvr>
                                      <p:to x="100000" y="95000"/>
                                    </p:animScale>
                                    <p:animScale>
                                      <p:cBhvr>
                                        <p:cTn id="160" dur="166" decel="50000">
                                          <p:stCondLst>
                                            <p:cond delay="1834"/>
                                          </p:stCondLst>
                                        </p:cTn>
                                        <p:tgtEl>
                                          <p:spTgt spid="13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animBg="1"/>
      <p:bldP spid="109" grpId="0" animBg="1"/>
      <p:bldP spid="55" grpId="0" animBg="1"/>
      <p:bldP spid="85" grpId="0" animBg="1"/>
      <p:bldP spid="65" grpId="0" animBg="1"/>
      <p:bldP spid="49" grpId="0" animBg="1"/>
      <p:bldP spid="45" grpId="0" animBg="1"/>
      <p:bldP spid="47" grpId="0" animBg="1"/>
      <p:bldP spid="53" grpId="0" animBg="1"/>
      <p:bldP spid="67" grpId="0" animBg="1"/>
      <p:bldP spid="75" grpId="0" animBg="1"/>
      <p:bldP spid="79" grpId="0" animBg="1"/>
      <p:bldP spid="81" grpId="0" animBg="1"/>
      <p:bldP spid="83" grpId="0" animBg="1"/>
      <p:bldP spid="87" grpId="0" animBg="1"/>
      <p:bldP spid="89" grpId="0" animBg="1"/>
      <p:bldP spid="97" grpId="0" animBg="1"/>
      <p:bldP spid="99" grpId="0" animBg="1"/>
      <p:bldP spid="101" grpId="0" animBg="1"/>
      <p:bldP spid="103" grpId="0" animBg="1"/>
      <p:bldP spid="105" grpId="0" animBg="1"/>
      <p:bldP spid="107" grpId="0" animBg="1"/>
      <p:bldP spid="111" grpId="0" animBg="1"/>
      <p:bldP spid="113" grpId="0" animBg="1"/>
      <p:bldP spid="115" grpId="0" animBg="1"/>
      <p:bldP spid="127" grpId="0" animBg="1"/>
      <p:bldP spid="131" grpId="0" animBg="1"/>
      <p:bldP spid="133" grpId="0" animBg="1"/>
      <p:bldP spid="135" grpId="0" animBg="1"/>
      <p:bldP spid="1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The map we already have</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01</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Lina Gaggi   ·   15 min</a:t>
            </a:r>
          </a:p>
        </p:txBody>
      </p:sp>
      <p:sp>
        <p:nvSpPr>
          <p:cNvPr id="5" name="TextBox 4"/>
          <p:cNvSpPr txBox="1"/>
          <p:nvPr/>
        </p:nvSpPr>
        <p:spPr>
          <a:xfrm>
            <a:off x="384048" y="4937760"/>
            <a:ext cx="6949440" cy="1097280"/>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The release process as mapped in Confluence, roughly a year old. Where it's still right, and where it's drifted. Everything after this corrects this picture.</a:t>
            </a:r>
          </a:p>
        </p:txBody>
      </p:sp>
      <p:pic>
        <p:nvPicPr>
          <p:cNvPr id="6" name="Picture 5">
            <a:extLst>
              <a:ext uri="{FF2B5EF4-FFF2-40B4-BE49-F238E27FC236}">
                <a16:creationId xmlns:a16="http://schemas.microsoft.com/office/drawing/2014/main" id="{69CC7894-C165-E895-FA02-355567740453}"/>
              </a:ext>
            </a:extLst>
          </p:cNvPr>
          <p:cNvPicPr>
            <a:picLocks noChangeAspect="1"/>
          </p:cNvPicPr>
          <p:nvPr/>
        </p:nvPicPr>
        <p:blipFill>
          <a:blip r:embed="rId2"/>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440195A3-A7C9-CDD4-7532-46ACFF62AB1E}"/>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What developers do to prepare a release</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02</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Oscar   ·   20 min</a:t>
            </a:r>
          </a:p>
        </p:txBody>
      </p:sp>
      <p:sp>
        <p:nvSpPr>
          <p:cNvPr id="5" name="TextBox 4"/>
          <p:cNvSpPr txBox="1"/>
          <p:nvPr/>
        </p:nvSpPr>
        <p:spPr>
          <a:xfrm>
            <a:off x="384048" y="4937760"/>
            <a:ext cx="6949440" cy="1097280"/>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Everything on the dev side before anything reaches staging — code freeze, the SQL and migrations, the ADO trail, the parts of the release documentation devs fill in by hand. Including the ones nobody's sure are still read.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What developers do to prepare a release</a:t>
            </a:r>
          </a:p>
        </p:txBody>
      </p:sp>
      <p:sp>
        <p:nvSpPr>
          <p:cNvPr id="3" name="TextBox 2"/>
          <p:cNvSpPr txBox="1"/>
          <p:nvPr/>
        </p:nvSpPr>
        <p:spPr>
          <a:xfrm>
            <a:off x="384048" y="1783080"/>
            <a:ext cx="11430000" cy="3200876"/>
          </a:xfrm>
          <a:prstGeom prst="rect">
            <a:avLst/>
          </a:prstGeom>
          <a:noFill/>
        </p:spPr>
        <p:txBody>
          <a:bodyPr wrap="square" lIns="0" tIns="0" rIns="0" bIns="0">
            <a:spAutoFit/>
          </a:bodyPr>
          <a:lstStyle/>
          <a:p>
            <a:pPr algn="l">
              <a:spcBef>
                <a:spcPts val="0"/>
              </a:spcBef>
              <a:spcAft>
                <a:spcPts val="0"/>
              </a:spcAft>
            </a:pPr>
            <a:r>
              <a:rPr lang="en-US" sz="1600" b="0">
                <a:latin typeface="+mj-lt"/>
              </a:rPr>
              <a:t>[1] Before release lock</a:t>
            </a:r>
          </a:p>
          <a:p>
            <a:pPr marL="800100" lvl="1" indent="-342900">
              <a:buFont typeface="Arial" panose="020B0604020202020204" pitchFamily="34" charset="0"/>
              <a:buChar char="•"/>
            </a:pPr>
            <a:r>
              <a:rPr lang="en-US" sz="1600">
                <a:latin typeface="+mj-lt"/>
              </a:rPr>
              <a:t>Fill out all necessary information in Azure DevOps and review.</a:t>
            </a:r>
          </a:p>
          <a:p>
            <a:pPr marL="1257300" lvl="2" indent="-342900">
              <a:buFont typeface="Arial" panose="020B0604020202020204" pitchFamily="34" charset="0"/>
              <a:buChar char="•"/>
            </a:pPr>
            <a:r>
              <a:rPr lang="en-US" sz="1600" b="1">
                <a:latin typeface="+mj-lt"/>
              </a:rPr>
              <a:t>Problem</a:t>
            </a:r>
            <a:r>
              <a:rPr lang="en-US" sz="1600">
                <a:latin typeface="+mj-lt"/>
              </a:rPr>
              <a:t>: There’s lots of manual steps here and the requirements are not always clear so it’s easy to make mistakes that aren’t caught until much later.</a:t>
            </a:r>
          </a:p>
          <a:p>
            <a:pPr marL="800100" lvl="1" indent="-342900">
              <a:buFont typeface="Arial" panose="020B0604020202020204" pitchFamily="34" charset="0"/>
              <a:buChar char="•"/>
            </a:pPr>
            <a:r>
              <a:rPr lang="en-US" sz="1600">
                <a:latin typeface="+mj-lt"/>
              </a:rPr>
              <a:t>Verify all code for related work items is merged.</a:t>
            </a:r>
          </a:p>
          <a:p>
            <a:pPr marL="1257300" lvl="2" indent="-342900">
              <a:buFont typeface="Arial" panose="020B0604020202020204" pitchFamily="34" charset="0"/>
              <a:buChar char="•"/>
            </a:pPr>
            <a:r>
              <a:rPr lang="en-US" sz="1600">
                <a:latin typeface="+mj-lt"/>
              </a:rPr>
              <a:t>This includes infrastructure-related code in repos such as “Terraform”, “AG”, “DNS”, etc.</a:t>
            </a:r>
            <a:br>
              <a:rPr lang="en-US" sz="1600">
                <a:latin typeface="+mj-lt"/>
              </a:rPr>
            </a:br>
            <a:endParaRPr lang="en-US" sz="1600" b="0">
              <a:latin typeface="+mj-lt"/>
            </a:endParaRPr>
          </a:p>
          <a:p>
            <a:pPr algn="l">
              <a:spcBef>
                <a:spcPts val="0"/>
              </a:spcBef>
              <a:spcAft>
                <a:spcPts val="0"/>
              </a:spcAft>
            </a:pPr>
            <a:r>
              <a:rPr lang="en-US" sz="1600" b="0">
                <a:latin typeface="+mj-lt"/>
              </a:rPr>
              <a:t>[2] Release lock</a:t>
            </a:r>
            <a:endParaRPr lang="en-US" sz="1600">
              <a:latin typeface="+mj-lt"/>
            </a:endParaRPr>
          </a:p>
          <a:p>
            <a:pPr marL="800100" lvl="1" indent="-342900">
              <a:buFont typeface="Arial" panose="020B0604020202020204" pitchFamily="34" charset="0"/>
              <a:buChar char="•"/>
            </a:pPr>
            <a:r>
              <a:rPr lang="en-US" sz="1600" b="0">
                <a:latin typeface="+mj-lt"/>
              </a:rPr>
              <a:t>Update assembly version (depending on repo).</a:t>
            </a:r>
          </a:p>
          <a:p>
            <a:pPr marL="800100" lvl="1" indent="-342900">
              <a:buFont typeface="Arial" panose="020B0604020202020204" pitchFamily="34" charset="0"/>
              <a:buChar char="•"/>
            </a:pPr>
            <a:r>
              <a:rPr lang="en-US" sz="1600" b="0">
                <a:latin typeface="+mj-lt"/>
              </a:rPr>
              <a:t>Create </a:t>
            </a:r>
            <a:r>
              <a:rPr lang="en-US" sz="1600">
                <a:latin typeface="+mj-lt"/>
              </a:rPr>
              <a:t>release branch in each relevant repo (Releases/*).</a:t>
            </a:r>
          </a:p>
          <a:p>
            <a:pPr marL="1257300" lvl="2" indent="-342900">
              <a:buFont typeface="Arial" panose="020B0604020202020204" pitchFamily="34" charset="0"/>
              <a:buChar char="•"/>
            </a:pPr>
            <a:r>
              <a:rPr lang="en-US" sz="1600">
                <a:latin typeface="+mj-lt"/>
              </a:rPr>
              <a:t>Note that we do </a:t>
            </a:r>
            <a:r>
              <a:rPr lang="en-US" sz="1600" b="1">
                <a:latin typeface="+mj-lt"/>
              </a:rPr>
              <a:t>not </a:t>
            </a:r>
            <a:r>
              <a:rPr lang="en-US" sz="1600">
                <a:latin typeface="+mj-lt"/>
              </a:rPr>
              <a:t>do this for most/all of the infrastructure repos (except the repo called “Infrastructure”, which mostly contains deployment pipelines).</a:t>
            </a:r>
          </a:p>
          <a:p>
            <a:pPr marL="800100" lvl="1" indent="-342900">
              <a:buFont typeface="Arial" panose="020B0604020202020204" pitchFamily="34" charset="0"/>
              <a:buChar char="•"/>
            </a:pPr>
            <a:r>
              <a:rPr lang="en-US" sz="1600">
                <a:latin typeface="+mj-lt"/>
              </a:rPr>
              <a:t>Give a status update in release channel on Teams.</a:t>
            </a:r>
          </a:p>
        </p:txBody>
      </p:sp>
      <p:sp>
        <p:nvSpPr>
          <p:cNvPr id="5" name="TextBox 4"/>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CD845-EB01-E902-EA6F-2428E3CA8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317B-20F8-4A0D-34D7-1BFF2658A799}"/>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What developers do to prepare a release</a:t>
            </a:r>
          </a:p>
        </p:txBody>
      </p:sp>
      <p:sp>
        <p:nvSpPr>
          <p:cNvPr id="3" name="TextBox 2">
            <a:extLst>
              <a:ext uri="{FF2B5EF4-FFF2-40B4-BE49-F238E27FC236}">
                <a16:creationId xmlns:a16="http://schemas.microsoft.com/office/drawing/2014/main" id="{F5294980-E548-BE5C-E040-C0D9EC7A02E3}"/>
              </a:ext>
            </a:extLst>
          </p:cNvPr>
          <p:cNvSpPr txBox="1"/>
          <p:nvPr/>
        </p:nvSpPr>
        <p:spPr>
          <a:xfrm>
            <a:off x="384048" y="1783080"/>
            <a:ext cx="11430000" cy="2462213"/>
          </a:xfrm>
          <a:prstGeom prst="rect">
            <a:avLst/>
          </a:prstGeom>
          <a:noFill/>
        </p:spPr>
        <p:txBody>
          <a:bodyPr wrap="square" lIns="0" tIns="0" rIns="0" bIns="0">
            <a:spAutoFit/>
          </a:bodyPr>
          <a:lstStyle/>
          <a:p>
            <a:r>
              <a:rPr lang="en-US" sz="1600">
                <a:latin typeface="+mj-lt"/>
              </a:rPr>
              <a:t>[3] Regression testing</a:t>
            </a:r>
          </a:p>
          <a:p>
            <a:pPr marL="800100" lvl="1" indent="-342900">
              <a:buFont typeface="Arial" panose="020B0604020202020204" pitchFamily="34" charset="0"/>
              <a:buChar char="•"/>
            </a:pPr>
            <a:r>
              <a:rPr lang="en-US" sz="1600">
                <a:latin typeface="+mj-lt"/>
              </a:rPr>
              <a:t>Keep track of the regression testing post and table on Teams.</a:t>
            </a:r>
          </a:p>
          <a:p>
            <a:pPr marL="800100" lvl="1" indent="-342900">
              <a:buFont typeface="Arial" panose="020B0604020202020204" pitchFamily="34" charset="0"/>
              <a:buChar char="•"/>
            </a:pPr>
            <a:r>
              <a:rPr lang="en-US" sz="1600">
                <a:latin typeface="+mj-lt"/>
              </a:rPr>
              <a:t>Investigate, fix, and merge fixes for bugs into release branch.</a:t>
            </a:r>
          </a:p>
          <a:p>
            <a:pPr marL="800100" lvl="1" indent="-342900">
              <a:buFont typeface="Arial" panose="020B0604020202020204" pitchFamily="34" charset="0"/>
              <a:buChar char="•"/>
            </a:pPr>
            <a:r>
              <a:rPr lang="en-US" sz="1600">
                <a:latin typeface="+mj-lt"/>
              </a:rPr>
              <a:t>Communicate regarding necessary re-bundling and deployment to </a:t>
            </a:r>
            <a:r>
              <a:rPr lang="en-US" sz="1600" err="1">
                <a:latin typeface="+mj-lt"/>
              </a:rPr>
              <a:t>externaltest</a:t>
            </a:r>
            <a:r>
              <a:rPr lang="en-US" sz="1600">
                <a:latin typeface="+mj-lt"/>
              </a:rPr>
              <a:t>.</a:t>
            </a:r>
            <a:br>
              <a:rPr lang="en-US" sz="1600">
                <a:latin typeface="+mj-lt"/>
              </a:rPr>
            </a:br>
            <a:endParaRPr lang="en-US" sz="1600">
              <a:latin typeface="+mj-lt"/>
            </a:endParaRPr>
          </a:p>
          <a:p>
            <a:r>
              <a:rPr lang="en-US" sz="1600">
                <a:latin typeface="+mj-lt"/>
              </a:rPr>
              <a:t>[4] Translation updates</a:t>
            </a:r>
          </a:p>
          <a:p>
            <a:pPr marL="800100" lvl="1" indent="-342900">
              <a:buFont typeface="Arial" panose="020B0604020202020204" pitchFamily="34" charset="0"/>
              <a:buChar char="•"/>
            </a:pPr>
            <a:r>
              <a:rPr lang="en-US" sz="1600">
                <a:latin typeface="+mj-lt"/>
              </a:rPr>
              <a:t>Extract resource keys from relevant repos (I’m not sure how this process looks today across all repos).</a:t>
            </a:r>
          </a:p>
          <a:p>
            <a:pPr marL="800100" lvl="1" indent="-342900">
              <a:buFont typeface="Arial" panose="020B0604020202020204" pitchFamily="34" charset="0"/>
              <a:buChar char="•"/>
            </a:pPr>
            <a:r>
              <a:rPr lang="en-US" sz="1600">
                <a:latin typeface="+mj-lt"/>
              </a:rPr>
              <a:t>Upload to SharePoint.</a:t>
            </a:r>
          </a:p>
          <a:p>
            <a:pPr marL="800100" lvl="1" indent="-342900">
              <a:buFont typeface="Arial" panose="020B0604020202020204" pitchFamily="34" charset="0"/>
              <a:buChar char="•"/>
            </a:pPr>
            <a:r>
              <a:rPr lang="en-US" sz="1600">
                <a:latin typeface="+mj-lt"/>
              </a:rPr>
              <a:t>Communicate in translation post in Teams.</a:t>
            </a:r>
          </a:p>
          <a:p>
            <a:pPr marL="800100" lvl="1" indent="-342900">
              <a:buFont typeface="Arial" panose="020B0604020202020204" pitchFamily="34" charset="0"/>
              <a:buChar char="•"/>
            </a:pPr>
            <a:r>
              <a:rPr lang="en-US" sz="1600">
                <a:latin typeface="+mj-lt"/>
              </a:rPr>
              <a:t>Once translation is complete, update the repo (release branch + </a:t>
            </a:r>
            <a:r>
              <a:rPr lang="en-US" sz="1600" err="1">
                <a:latin typeface="+mj-lt"/>
              </a:rPr>
              <a:t>downmerge</a:t>
            </a:r>
            <a:r>
              <a:rPr lang="en-US" sz="1600">
                <a:latin typeface="+mj-lt"/>
              </a:rPr>
              <a:t>).</a:t>
            </a:r>
          </a:p>
        </p:txBody>
      </p:sp>
      <p:sp>
        <p:nvSpPr>
          <p:cNvPr id="5" name="TextBox 4">
            <a:extLst>
              <a:ext uri="{FF2B5EF4-FFF2-40B4-BE49-F238E27FC236}">
                <a16:creationId xmlns:a16="http://schemas.microsoft.com/office/drawing/2014/main" id="{CCFC524A-BEFB-DA88-F592-F53F0A6A9FD5}"/>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extLst>
      <p:ext uri="{BB962C8B-B14F-4D97-AF65-F5344CB8AC3E}">
        <p14:creationId xmlns:p14="http://schemas.microsoft.com/office/powerpoint/2010/main" val="3128623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9B9FC-6D92-00B4-CA63-FD118AB14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C2DD9-9355-1EF3-FA1D-1F78244DBF34}"/>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What developers do to prepare a release</a:t>
            </a:r>
          </a:p>
        </p:txBody>
      </p:sp>
      <p:sp>
        <p:nvSpPr>
          <p:cNvPr id="3" name="TextBox 2">
            <a:extLst>
              <a:ext uri="{FF2B5EF4-FFF2-40B4-BE49-F238E27FC236}">
                <a16:creationId xmlns:a16="http://schemas.microsoft.com/office/drawing/2014/main" id="{0BB08726-D922-519D-F56B-7D8805A7E8AF}"/>
              </a:ext>
            </a:extLst>
          </p:cNvPr>
          <p:cNvSpPr txBox="1"/>
          <p:nvPr/>
        </p:nvSpPr>
        <p:spPr>
          <a:xfrm>
            <a:off x="384048" y="1783080"/>
            <a:ext cx="11430000" cy="2708434"/>
          </a:xfrm>
          <a:prstGeom prst="rect">
            <a:avLst/>
          </a:prstGeom>
          <a:noFill/>
        </p:spPr>
        <p:txBody>
          <a:bodyPr wrap="square" lIns="0" tIns="0" rIns="0" bIns="0">
            <a:spAutoFit/>
          </a:bodyPr>
          <a:lstStyle/>
          <a:p>
            <a:r>
              <a:rPr lang="en-US" sz="1600">
                <a:latin typeface="+mj-lt"/>
              </a:rPr>
              <a:t>[5] Release configuration report &amp; handover to Platform</a:t>
            </a:r>
          </a:p>
          <a:p>
            <a:pPr marL="800100" lvl="1" indent="-342900">
              <a:buFont typeface="Arial" panose="020B0604020202020204" pitchFamily="34" charset="0"/>
              <a:buChar char="•"/>
            </a:pPr>
            <a:r>
              <a:rPr lang="en-US" sz="1600">
                <a:latin typeface="+mj-lt"/>
              </a:rPr>
              <a:t>Manually fill out the information for the release configuration report + checklist in Confluence.</a:t>
            </a:r>
          </a:p>
          <a:p>
            <a:pPr marL="1200150" lvl="2" indent="-285750">
              <a:buFont typeface="Arial" panose="020B0604020202020204" pitchFamily="34" charset="0"/>
              <a:buChar char="•"/>
            </a:pPr>
            <a:r>
              <a:rPr lang="en-US" sz="1600">
                <a:latin typeface="+mj-lt"/>
              </a:rPr>
              <a:t>Sometimes more of a step-by-step runbook if necessary.</a:t>
            </a:r>
          </a:p>
          <a:p>
            <a:pPr marL="1200150" lvl="2" indent="-285750">
              <a:buFont typeface="Arial" panose="020B0604020202020204" pitchFamily="34" charset="0"/>
              <a:buChar char="•"/>
            </a:pPr>
            <a:r>
              <a:rPr lang="en-US" sz="1600">
                <a:latin typeface="+mj-lt"/>
              </a:rPr>
              <a:t>Sometimes includes manual SQL scripts that have to be run as part of the release.</a:t>
            </a:r>
          </a:p>
          <a:p>
            <a:pPr marL="1200150" lvl="2" indent="-285750">
              <a:buFont typeface="Arial" panose="020B0604020202020204" pitchFamily="34" charset="0"/>
              <a:buChar char="•"/>
            </a:pPr>
            <a:r>
              <a:rPr lang="en-US" sz="1600">
                <a:latin typeface="+mj-lt"/>
              </a:rPr>
              <a:t>This can include a snapshot of changes that will be applied to our databases, but I’m unsure if anyone reviews this or who this is for.</a:t>
            </a:r>
          </a:p>
          <a:p>
            <a:pPr marL="800100" lvl="1" indent="-342900">
              <a:buFont typeface="Arial" panose="020B0604020202020204" pitchFamily="34" charset="0"/>
              <a:buChar char="•"/>
            </a:pPr>
            <a:r>
              <a:rPr lang="en-US" sz="1600">
                <a:latin typeface="+mj-lt"/>
              </a:rPr>
              <a:t>Attend handover meeting and discuss plan for release.</a:t>
            </a:r>
          </a:p>
          <a:p>
            <a:pPr lvl="1"/>
            <a:endParaRPr lang="en-US" sz="1600">
              <a:latin typeface="+mj-lt"/>
            </a:endParaRPr>
          </a:p>
          <a:p>
            <a:r>
              <a:rPr lang="en-US" sz="1600"/>
              <a:t>[6] Git tag release branch</a:t>
            </a:r>
          </a:p>
          <a:p>
            <a:pPr marL="800100" lvl="1" indent="-342900">
              <a:buFont typeface="Arial" panose="020B0604020202020204" pitchFamily="34" charset="0"/>
              <a:buChar char="•"/>
            </a:pPr>
            <a:r>
              <a:rPr lang="en-US" sz="1600"/>
              <a:t>Git tag release branch in repository in Azure DevOps. Note that this is not a mandatory part of our process (as far as I know) and not followed consistently.</a:t>
            </a:r>
            <a:endParaRPr lang="en-US" sz="1600">
              <a:latin typeface="+mj-lt"/>
            </a:endParaRPr>
          </a:p>
        </p:txBody>
      </p:sp>
      <p:sp>
        <p:nvSpPr>
          <p:cNvPr id="5" name="TextBox 4">
            <a:extLst>
              <a:ext uri="{FF2B5EF4-FFF2-40B4-BE49-F238E27FC236}">
                <a16:creationId xmlns:a16="http://schemas.microsoft.com/office/drawing/2014/main" id="{500EA666-554C-A17D-2656-E962D9E2C53D}"/>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extLst>
      <p:ext uri="{BB962C8B-B14F-4D97-AF65-F5344CB8AC3E}">
        <p14:creationId xmlns:p14="http://schemas.microsoft.com/office/powerpoint/2010/main" val="3993018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039AF-9C09-E84B-3DA3-AE90A9D44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036C8-95BB-7336-4510-2AB0446A4E7E}"/>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What developers do to prepare a release</a:t>
            </a:r>
          </a:p>
        </p:txBody>
      </p:sp>
      <p:sp>
        <p:nvSpPr>
          <p:cNvPr id="3" name="TextBox 2">
            <a:extLst>
              <a:ext uri="{FF2B5EF4-FFF2-40B4-BE49-F238E27FC236}">
                <a16:creationId xmlns:a16="http://schemas.microsoft.com/office/drawing/2014/main" id="{62B01434-C75E-A99D-6C05-623B710C9A71}"/>
              </a:ext>
            </a:extLst>
          </p:cNvPr>
          <p:cNvSpPr txBox="1"/>
          <p:nvPr/>
        </p:nvSpPr>
        <p:spPr>
          <a:xfrm>
            <a:off x="384048" y="1783080"/>
            <a:ext cx="11430000" cy="2462213"/>
          </a:xfrm>
          <a:prstGeom prst="rect">
            <a:avLst/>
          </a:prstGeom>
          <a:noFill/>
        </p:spPr>
        <p:txBody>
          <a:bodyPr wrap="square" lIns="0" tIns="0" rIns="0" bIns="0">
            <a:spAutoFit/>
          </a:bodyPr>
          <a:lstStyle/>
          <a:p>
            <a:r>
              <a:rPr lang="en-US" sz="1600"/>
              <a:t>[7] Release to stage</a:t>
            </a:r>
          </a:p>
          <a:p>
            <a:pPr marL="800100" lvl="1" indent="-342900">
              <a:buFont typeface="Arial" panose="020B0604020202020204" pitchFamily="34" charset="0"/>
              <a:buChar char="•"/>
            </a:pPr>
            <a:r>
              <a:rPr lang="en-US" sz="1600"/>
              <a:t>Keep track of post in Teams and Application Insight logs in Azure and be ready to support.</a:t>
            </a:r>
          </a:p>
          <a:p>
            <a:pPr marL="1200150" lvl="2" indent="-285750">
              <a:buFont typeface="Arial" panose="020B0604020202020204" pitchFamily="34" charset="0"/>
              <a:buChar char="•"/>
            </a:pPr>
            <a:r>
              <a:rPr lang="en-US" sz="1600" b="1"/>
              <a:t>Problem</a:t>
            </a:r>
            <a:r>
              <a:rPr lang="en-US" sz="1600"/>
              <a:t>: No access to anything except Application Insight resources for non-DEV environments in Azure so the ability to support is very limited and usually has to be done </a:t>
            </a:r>
            <a:r>
              <a:rPr lang="en-US" sz="1600" i="1"/>
              <a:t>through </a:t>
            </a:r>
            <a:r>
              <a:rPr lang="en-US" sz="1600"/>
              <a:t>Isaak.</a:t>
            </a:r>
          </a:p>
          <a:p>
            <a:endParaRPr lang="en-US" sz="1600">
              <a:latin typeface="+mj-lt"/>
            </a:endParaRPr>
          </a:p>
          <a:p>
            <a:endParaRPr lang="en-US" sz="1600">
              <a:latin typeface="+mj-lt"/>
            </a:endParaRPr>
          </a:p>
          <a:p>
            <a:r>
              <a:rPr lang="en-US" sz="1600">
                <a:latin typeface="+mj-lt"/>
              </a:rPr>
              <a:t>[8] Release to production</a:t>
            </a:r>
          </a:p>
          <a:p>
            <a:pPr marL="800100" lvl="1" indent="-342900">
              <a:buFont typeface="Arial" panose="020B0604020202020204" pitchFamily="34" charset="0"/>
              <a:buChar char="•"/>
            </a:pPr>
            <a:r>
              <a:rPr lang="en-US" sz="1600">
                <a:latin typeface="+mj-lt"/>
              </a:rPr>
              <a:t>Keep track of post in Teams and Application Insight logs in Azure and be ready to support.</a:t>
            </a:r>
          </a:p>
          <a:p>
            <a:pPr marL="1257300" lvl="2" indent="-342900">
              <a:buFont typeface="Arial" panose="020B0604020202020204" pitchFamily="34" charset="0"/>
              <a:buChar char="•"/>
            </a:pPr>
            <a:r>
              <a:rPr lang="en-US" sz="1600" b="1">
                <a:latin typeface="+mj-lt"/>
              </a:rPr>
              <a:t>Problem</a:t>
            </a:r>
            <a:r>
              <a:rPr lang="en-US" sz="1600">
                <a:latin typeface="+mj-lt"/>
              </a:rPr>
              <a:t>: Same problem as stage (lack of access) </a:t>
            </a:r>
            <a:r>
              <a:rPr lang="en-US" sz="1600" i="1">
                <a:latin typeface="+mj-lt"/>
              </a:rPr>
              <a:t>and </a:t>
            </a:r>
            <a:r>
              <a:rPr lang="en-US" sz="1600">
                <a:latin typeface="+mj-lt"/>
              </a:rPr>
              <a:t> no ability to check the logs in China unless you have an account, which most developers don’t have / we have no set process for how to get?</a:t>
            </a:r>
          </a:p>
        </p:txBody>
      </p:sp>
      <p:sp>
        <p:nvSpPr>
          <p:cNvPr id="5" name="TextBox 4">
            <a:extLst>
              <a:ext uri="{FF2B5EF4-FFF2-40B4-BE49-F238E27FC236}">
                <a16:creationId xmlns:a16="http://schemas.microsoft.com/office/drawing/2014/main" id="{13A77726-4C63-A08D-D21D-A793044A7B51}"/>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extLst>
      <p:ext uri="{BB962C8B-B14F-4D97-AF65-F5344CB8AC3E}">
        <p14:creationId xmlns:p14="http://schemas.microsoft.com/office/powerpoint/2010/main" val="171196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526C-0AFF-6EFE-CB6F-4A20B6515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B3019-D74C-4793-FC30-4523BF8EB800}"/>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What developers do to prepare a release</a:t>
            </a:r>
          </a:p>
        </p:txBody>
      </p:sp>
      <p:sp>
        <p:nvSpPr>
          <p:cNvPr id="3" name="TextBox 2">
            <a:extLst>
              <a:ext uri="{FF2B5EF4-FFF2-40B4-BE49-F238E27FC236}">
                <a16:creationId xmlns:a16="http://schemas.microsoft.com/office/drawing/2014/main" id="{C1DD1921-EF09-F8BF-3756-C8EB36D09927}"/>
              </a:ext>
            </a:extLst>
          </p:cNvPr>
          <p:cNvSpPr txBox="1"/>
          <p:nvPr/>
        </p:nvSpPr>
        <p:spPr>
          <a:xfrm>
            <a:off x="384048" y="1783080"/>
            <a:ext cx="11430000" cy="1723549"/>
          </a:xfrm>
          <a:prstGeom prst="rect">
            <a:avLst/>
          </a:prstGeom>
          <a:noFill/>
        </p:spPr>
        <p:txBody>
          <a:bodyPr wrap="square" lIns="0" tIns="0" rIns="0" bIns="0">
            <a:spAutoFit/>
          </a:bodyPr>
          <a:lstStyle/>
          <a:p>
            <a:r>
              <a:rPr lang="en-US" sz="1600">
                <a:latin typeface="+mj-lt"/>
              </a:rPr>
              <a:t>Open questions about DB migrations I’m unsure about myself:</a:t>
            </a:r>
            <a:br>
              <a:rPr lang="en-US" sz="1600">
                <a:latin typeface="+mj-lt"/>
              </a:rPr>
            </a:br>
            <a:endParaRPr lang="en-US" sz="1600">
              <a:latin typeface="+mj-lt"/>
            </a:endParaRPr>
          </a:p>
          <a:p>
            <a:pPr marL="285750" indent="-285750">
              <a:buFont typeface="Arial" panose="020B0604020202020204" pitchFamily="34" charset="0"/>
              <a:buChar char="•"/>
            </a:pPr>
            <a:r>
              <a:rPr lang="en-US" sz="1600">
                <a:latin typeface="+mj-lt"/>
              </a:rPr>
              <a:t>Are all database migrations fully automated or are some still applied manually?</a:t>
            </a:r>
            <a:br>
              <a:rPr lang="en-US" sz="1600">
                <a:latin typeface="+mj-lt"/>
              </a:rPr>
            </a:br>
            <a:endParaRPr lang="en-US" sz="1600">
              <a:latin typeface="+mj-lt"/>
            </a:endParaRPr>
          </a:p>
          <a:p>
            <a:pPr marL="285750" indent="-285750">
              <a:buFont typeface="Arial" panose="020B0604020202020204" pitchFamily="34" charset="0"/>
              <a:buChar char="•"/>
            </a:pPr>
            <a:r>
              <a:rPr lang="en-US" sz="1600">
                <a:latin typeface="+mj-lt"/>
              </a:rPr>
              <a:t>How is the </a:t>
            </a:r>
            <a:r>
              <a:rPr lang="en-US" sz="1600" err="1">
                <a:latin typeface="+mj-lt"/>
              </a:rPr>
              <a:t>Viedoc.Worker</a:t>
            </a:r>
            <a:r>
              <a:rPr lang="en-US" sz="1600">
                <a:latin typeface="+mj-lt"/>
              </a:rPr>
              <a:t> involved in the database migration for the ‘</a:t>
            </a:r>
            <a:r>
              <a:rPr lang="en-US" sz="1600" err="1">
                <a:latin typeface="+mj-lt"/>
              </a:rPr>
              <a:t>viedoc</a:t>
            </a:r>
            <a:r>
              <a:rPr lang="en-US" sz="1600">
                <a:latin typeface="+mj-lt"/>
              </a:rPr>
              <a:t>’ database today?</a:t>
            </a:r>
            <a:br>
              <a:rPr lang="en-US" sz="1600">
                <a:latin typeface="+mj-lt"/>
              </a:rPr>
            </a:br>
            <a:endParaRPr lang="en-US" sz="1600">
              <a:latin typeface="+mj-lt"/>
            </a:endParaRPr>
          </a:p>
          <a:p>
            <a:pPr marL="285750" indent="-285750">
              <a:buFont typeface="Arial" panose="020B0604020202020204" pitchFamily="34" charset="0"/>
              <a:buChar char="•"/>
            </a:pPr>
            <a:r>
              <a:rPr lang="en-US" sz="1600">
                <a:latin typeface="+mj-lt"/>
              </a:rPr>
              <a:t>Do all repositories that use EF Core handle database migrations in the same way?</a:t>
            </a:r>
          </a:p>
        </p:txBody>
      </p:sp>
      <p:sp>
        <p:nvSpPr>
          <p:cNvPr id="5" name="TextBox 4">
            <a:extLst>
              <a:ext uri="{FF2B5EF4-FFF2-40B4-BE49-F238E27FC236}">
                <a16:creationId xmlns:a16="http://schemas.microsoft.com/office/drawing/2014/main" id="{A9446A54-150A-6FE3-0BA6-6321B71A0204}"/>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extLst>
      <p:ext uri="{BB962C8B-B14F-4D97-AF65-F5344CB8AC3E}">
        <p14:creationId xmlns:p14="http://schemas.microsoft.com/office/powerpoint/2010/main" val="698163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Pre-staging and release bundles</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03</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Jins Thomas   ·   20 min</a:t>
            </a:r>
          </a:p>
        </p:txBody>
      </p:sp>
      <p:sp>
        <p:nvSpPr>
          <p:cNvPr id="5" name="TextBox 4"/>
          <p:cNvSpPr txBox="1"/>
          <p:nvPr/>
        </p:nvSpPr>
        <p:spPr>
          <a:xfrm>
            <a:off x="384048" y="4937760"/>
            <a:ext cx="6949440" cy="1097280"/>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What goes into each package, how that gets decided, and when. Plus the pre-staging steps that come before a release.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solidFill>
                  <a:srgbClr val="003366"/>
                </a:solidFill>
              </a:defRPr>
            </a:pPr>
            <a:r>
              <a:rPr lang="en-US"/>
              <a:t>Pre-staging &amp; release bundle</a:t>
            </a:r>
            <a:r>
              <a:t> – Main Steps (1/2)</a:t>
            </a:r>
          </a:p>
        </p:txBody>
      </p:sp>
      <p:sp>
        <p:nvSpPr>
          <p:cNvPr id="3" name="Content Placeholder 2"/>
          <p:cNvSpPr>
            <a:spLocks noGrp="1"/>
          </p:cNvSpPr>
          <p:nvPr>
            <p:ph idx="1"/>
          </p:nvPr>
        </p:nvSpPr>
        <p:spPr/>
        <p:txBody>
          <a:bodyPr/>
          <a:lstStyle/>
          <a:p>
            <a:pPr lvl="1">
              <a:defRPr sz="1800">
                <a:solidFill>
                  <a:srgbClr val="282828"/>
                </a:solidFill>
              </a:defRPr>
            </a:pPr>
            <a:r>
              <a:t>Code Freeze</a:t>
            </a:r>
            <a:endParaRPr lang="en-US"/>
          </a:p>
          <a:p>
            <a:pPr lvl="2">
              <a:defRPr sz="1800">
                <a:solidFill>
                  <a:srgbClr val="282828"/>
                </a:solidFill>
              </a:defRPr>
            </a:pPr>
            <a:r>
              <a:rPr lang="en-US"/>
              <a:t>Release branch creations</a:t>
            </a:r>
            <a:endParaRPr/>
          </a:p>
          <a:p>
            <a:pPr lvl="1">
              <a:defRPr sz="1800">
                <a:solidFill>
                  <a:srgbClr val="282828"/>
                </a:solidFill>
              </a:defRPr>
            </a:pPr>
            <a:r>
              <a:t>Call for Translations</a:t>
            </a:r>
            <a:endParaRPr lang="en-US"/>
          </a:p>
          <a:p>
            <a:pPr lvl="2">
              <a:defRPr sz="1800">
                <a:solidFill>
                  <a:srgbClr val="282828"/>
                </a:solidFill>
              </a:defRPr>
            </a:pPr>
            <a:r>
              <a:rPr lang="en-US"/>
              <a:t>Send the translations to translation company</a:t>
            </a:r>
          </a:p>
          <a:p>
            <a:pPr lvl="1">
              <a:defRPr sz="1800">
                <a:solidFill>
                  <a:srgbClr val="282828"/>
                </a:solidFill>
              </a:defRPr>
            </a:pPr>
            <a:r>
              <a:rPr lang="en-US"/>
              <a:t>Bundling Strategy</a:t>
            </a:r>
          </a:p>
          <a:p>
            <a:pPr lvl="1">
              <a:defRPr sz="1800">
                <a:solidFill>
                  <a:srgbClr val="282828"/>
                </a:solidFill>
              </a:defRPr>
            </a:pPr>
            <a:r>
              <a:rPr lang="en-US"/>
              <a:t>Create Bundles</a:t>
            </a:r>
          </a:p>
          <a:p>
            <a:pPr lvl="1">
              <a:defRPr sz="1800">
                <a:solidFill>
                  <a:srgbClr val="282828"/>
                </a:solidFill>
              </a:defRPr>
            </a:pPr>
            <a:r>
              <a:t>Release Config Report</a:t>
            </a:r>
            <a:endParaRPr lang="en-US"/>
          </a:p>
          <a:p>
            <a:pPr lvl="2">
              <a:defRPr sz="1800">
                <a:solidFill>
                  <a:srgbClr val="282828"/>
                </a:solidFill>
              </a:defRPr>
            </a:pPr>
            <a:r>
              <a:rPr lang="en-US"/>
              <a:t>Bundle details</a:t>
            </a:r>
          </a:p>
          <a:p>
            <a:pPr lvl="2">
              <a:defRPr sz="1800">
                <a:solidFill>
                  <a:srgbClr val="282828"/>
                </a:solidFill>
              </a:defRPr>
            </a:pPr>
            <a:r>
              <a:t>DB change details</a:t>
            </a:r>
          </a:p>
          <a:p>
            <a:pPr lvl="2">
              <a:defRPr sz="1800">
                <a:solidFill>
                  <a:srgbClr val="282828"/>
                </a:solidFill>
              </a:defRPr>
            </a:pPr>
            <a:r>
              <a:t>Infra changes</a:t>
            </a:r>
          </a:p>
          <a:p>
            <a:pPr lvl="2">
              <a:defRPr sz="1800">
                <a:solidFill>
                  <a:srgbClr val="282828"/>
                </a:solidFill>
              </a:defRPr>
            </a:pPr>
            <a:r>
              <a:t>Secrets &amp; DB hash details</a:t>
            </a:r>
            <a:endParaRPr lang="en-S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solidFill>
                  <a:srgbClr val="003366"/>
                </a:solidFill>
              </a:defRPr>
            </a:pPr>
            <a:r>
              <a:rPr lang="en-US"/>
              <a:t>Pre-staging &amp; release bundle </a:t>
            </a:r>
            <a:r>
              <a:t>– Main Steps (2/2)</a:t>
            </a:r>
            <a:endParaRPr lang="en-US"/>
          </a:p>
        </p:txBody>
      </p:sp>
      <p:sp>
        <p:nvSpPr>
          <p:cNvPr id="3" name="Content Placeholder 2"/>
          <p:cNvSpPr>
            <a:spLocks noGrp="1"/>
          </p:cNvSpPr>
          <p:nvPr>
            <p:ph idx="1"/>
          </p:nvPr>
        </p:nvSpPr>
        <p:spPr/>
        <p:txBody>
          <a:bodyPr/>
          <a:lstStyle/>
          <a:p>
            <a:pPr lvl="1">
              <a:defRPr sz="1800">
                <a:solidFill>
                  <a:srgbClr val="282828"/>
                </a:solidFill>
              </a:defRPr>
            </a:pPr>
            <a:r>
              <a:t>Clean External &amp; Deploy for Regression Testing</a:t>
            </a:r>
          </a:p>
          <a:p>
            <a:pPr lvl="2">
              <a:defRPr sz="1800">
                <a:solidFill>
                  <a:srgbClr val="282828"/>
                </a:solidFill>
              </a:defRPr>
            </a:pPr>
            <a:r>
              <a:t>Confirm DB changes</a:t>
            </a:r>
          </a:p>
          <a:p>
            <a:pPr lvl="2">
              <a:defRPr sz="1800">
                <a:solidFill>
                  <a:srgbClr val="282828"/>
                </a:solidFill>
              </a:defRPr>
            </a:pPr>
            <a:r>
              <a:t>Calculate DB hash</a:t>
            </a:r>
            <a:endParaRPr lang="en-US"/>
          </a:p>
          <a:p>
            <a:pPr lvl="1">
              <a:defRPr sz="1800">
                <a:solidFill>
                  <a:srgbClr val="282828"/>
                </a:solidFill>
              </a:defRPr>
            </a:pPr>
            <a:r>
              <a:rPr lang="en-US"/>
              <a:t>Initiate the regression testing</a:t>
            </a:r>
            <a:endParaRPr/>
          </a:p>
          <a:p>
            <a:pPr lvl="1">
              <a:defRPr sz="1800">
                <a:solidFill>
                  <a:srgbClr val="282828"/>
                </a:solidFill>
              </a:defRPr>
            </a:pPr>
            <a:r>
              <a:t>Fix bugs if identified </a:t>
            </a:r>
            <a:endParaRPr lang="en-US"/>
          </a:p>
          <a:p>
            <a:pPr lvl="2">
              <a:defRPr sz="1800">
                <a:solidFill>
                  <a:srgbClr val="282828"/>
                </a:solidFill>
              </a:defRPr>
            </a:pPr>
            <a:r>
              <a:t>repeat build &amp; deploy cycle</a:t>
            </a:r>
          </a:p>
          <a:p>
            <a:pPr lvl="1">
              <a:defRPr sz="1800">
                <a:solidFill>
                  <a:srgbClr val="282828"/>
                </a:solidFill>
              </a:defRPr>
            </a:pPr>
            <a:r>
              <a:t>External controlled by </a:t>
            </a:r>
            <a:r>
              <a:rPr b="1" u="sng"/>
              <a:t>R</a:t>
            </a:r>
            <a:r>
              <a:rPr lang="en-US" b="1" u="sng"/>
              <a:t> </a:t>
            </a:r>
            <a:r>
              <a:rPr b="1" u="sng"/>
              <a:t>n</a:t>
            </a:r>
            <a:r>
              <a:rPr lang="en-US" b="1" u="sng"/>
              <a:t> </a:t>
            </a:r>
            <a:r>
              <a:rPr b="1" u="sng"/>
              <a:t>R </a:t>
            </a:r>
            <a:r>
              <a:rPr lang="en-US" b="1" u="sng"/>
              <a:t>team</a:t>
            </a:r>
            <a:r>
              <a:rPr lang="en-US"/>
              <a:t> </a:t>
            </a:r>
            <a:r>
              <a:t>during regression</a:t>
            </a:r>
          </a:p>
          <a:p>
            <a:pPr lvl="1">
              <a:defRPr sz="1800">
                <a:solidFill>
                  <a:srgbClr val="282828"/>
                </a:solidFill>
              </a:defRPr>
            </a:pPr>
            <a:r>
              <a:t>Import Translations</a:t>
            </a:r>
          </a:p>
          <a:p>
            <a:pPr lvl="2">
              <a:defRPr sz="1800">
                <a:solidFill>
                  <a:srgbClr val="282828"/>
                </a:solidFill>
              </a:defRPr>
            </a:pPr>
            <a:r>
              <a:t>Redeploy to External for Review</a:t>
            </a:r>
            <a:endParaRPr lang="en-US"/>
          </a:p>
          <a:p>
            <a:pPr lvl="1">
              <a:defRPr sz="1800">
                <a:solidFill>
                  <a:srgbClr val="282828"/>
                </a:solidFill>
              </a:defRPr>
            </a:pPr>
            <a:r>
              <a:rPr lang="en-US"/>
              <a:t>Down merge changes from Release branch to dev/main(last minute changes and translations)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The release, end to end</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04</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Isaak Vié   ·   40 min</a:t>
            </a:r>
          </a:p>
        </p:txBody>
      </p:sp>
      <p:sp>
        <p:nvSpPr>
          <p:cNvPr id="5" name="TextBox 4"/>
          <p:cNvSpPr txBox="1"/>
          <p:nvPr/>
        </p:nvSpPr>
        <p:spPr>
          <a:xfrm>
            <a:off x="384048" y="4937760"/>
            <a:ext cx="6949440" cy="1097280"/>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The release as you actually run it — picking up from pre-staging and continuing past production deployment. And what you understand is required of you.</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7F0">
            <a:alpha val="100000"/>
          </a:srgbClr>
        </a:solidFill>
        <a:effectLst/>
      </p:bgPr>
    </p:bg>
    <p:spTree>
      <p:nvGrpSpPr>
        <p:cNvPr id="1" name=""/>
        <p:cNvGrpSpPr/>
        <p:nvPr/>
      </p:nvGrpSpPr>
      <p:grpSpPr>
        <a:xfrm>
          <a:off x="0" y="0"/>
          <a:ext cx="0" cy="0"/>
          <a:chOff x="0" y="0"/>
          <a:chExt cx="0" cy="0"/>
        </a:xfrm>
      </p:grpSpPr>
      <p:sp>
        <p:nvSpPr>
          <p:cNvPr id="101" name="Shape 101"/>
          <p:cNvSpPr/>
          <p:nvPr/>
        </p:nvSpPr>
        <p:spPr>
          <a:xfrm>
            <a:off x="457200" y="512305"/>
            <a:ext cx="11277600" cy="558800"/>
          </a:xfrm>
          <a:prstGeom prst="rect">
            <a:avLst/>
          </a:prstGeom>
          <a:noFill/>
          <a:ln>
            <a:noFill/>
          </a:ln>
        </p:spPr>
        <p:txBody>
          <a:bodyPr wrap="square" lIns="0" tIns="0" rIns="0" bIns="0" anchor="t">
            <a:noAutofit/>
          </a:bodyPr>
          <a:lstStyle/>
          <a:p>
            <a:pPr algn="l">
              <a:lnSpc>
                <a:spcPts val="3400"/>
              </a:lnSpc>
              <a:buNone/>
            </a:pPr>
            <a:r>
              <a:rPr lang="en-US" sz="3000" b="1">
                <a:solidFill>
                  <a:srgbClr val="1E3B2F"/>
                </a:solidFill>
              </a:rPr>
              <a:t>Platform Release Process: Handover to Production</a:t>
            </a:r>
          </a:p>
        </p:txBody>
      </p:sp>
      <p:sp>
        <p:nvSpPr>
          <p:cNvPr id="104" name="Shape 104"/>
          <p:cNvSpPr/>
          <p:nvPr/>
        </p:nvSpPr>
        <p:spPr>
          <a:xfrm>
            <a:off x="457200" y="952500"/>
            <a:ext cx="11277600" cy="228600"/>
          </a:xfrm>
          <a:prstGeom prst="rect">
            <a:avLst/>
          </a:prstGeom>
          <a:noFill/>
          <a:ln>
            <a:noFill/>
          </a:ln>
        </p:spPr>
        <p:txBody>
          <a:bodyPr wrap="square" lIns="0" tIns="0" rIns="0" bIns="0" anchor="t">
            <a:noAutofit/>
          </a:bodyPr>
          <a:lstStyle/>
          <a:p>
            <a:pPr algn="l">
              <a:lnSpc>
                <a:spcPts val="1700"/>
              </a:lnSpc>
              <a:buNone/>
            </a:pPr>
            <a:r>
              <a:rPr lang="en-US" sz="1400" b="1">
                <a:solidFill>
                  <a:srgbClr val="B5651D"/>
                </a:solidFill>
              </a:rPr>
              <a:t>1  PREPARATION</a:t>
            </a:r>
            <a:r>
              <a:rPr lang="en-US" sz="1400" b="1">
                <a:solidFill>
                  <a:srgbClr val="5C5C52"/>
                </a:solidFill>
              </a:rPr>
              <a:t> </a:t>
            </a:r>
            <a:r>
              <a:rPr lang="en-US" sz="1400">
                <a:solidFill>
                  <a:srgbClr val="5C5C52"/>
                </a:solidFill>
              </a:rPr>
              <a:t>Triggered once regression and testing is complete</a:t>
            </a:r>
          </a:p>
        </p:txBody>
      </p:sp>
      <p:sp>
        <p:nvSpPr>
          <p:cNvPr id="105" name="Shape 105"/>
          <p:cNvSpPr/>
          <p:nvPr/>
        </p:nvSpPr>
        <p:spPr>
          <a:xfrm>
            <a:off x="457200" y="1231900"/>
            <a:ext cx="3556000" cy="11176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1 · Handover meeting</a:t>
            </a:r>
          </a:p>
          <a:p>
            <a:pPr algn="l">
              <a:lnSpc>
                <a:spcPts val="1650"/>
              </a:lnSpc>
              <a:spcBef>
                <a:spcPts val="200"/>
              </a:spcBef>
              <a:buNone/>
            </a:pPr>
            <a:r>
              <a:rPr lang="en-US" sz="1400">
                <a:solidFill>
                  <a:srgbClr val="5C5C52"/>
                </a:solidFill>
              </a:rPr>
              <a:t>All team leads and platform · triggered when regression and testing is done</a:t>
            </a:r>
          </a:p>
          <a:p>
            <a:pPr algn="l">
              <a:lnSpc>
                <a:spcPts val="1650"/>
              </a:lnSpc>
              <a:spcBef>
                <a:spcPts val="300"/>
              </a:spcBef>
              <a:buNone/>
            </a:pPr>
            <a:r>
              <a:rPr lang="en-US" sz="1400" b="1">
                <a:solidFill>
                  <a:srgbClr val="B5651D"/>
                </a:solidFill>
              </a:rPr>
              <a:t>Organised by Jins · 30 min</a:t>
            </a:r>
          </a:p>
        </p:txBody>
      </p:sp>
      <p:sp>
        <p:nvSpPr>
          <p:cNvPr id="106" name="Shape 106"/>
          <p:cNvSpPr/>
          <p:nvPr/>
        </p:nvSpPr>
        <p:spPr>
          <a:xfrm>
            <a:off x="457200" y="1231900"/>
            <a:ext cx="57150" cy="1117600"/>
          </a:xfrm>
          <a:prstGeom prst="rect">
            <a:avLst/>
          </a:prstGeom>
          <a:solidFill>
            <a:srgbClr val="2E5D4B"/>
          </a:solidFill>
          <a:ln>
            <a:noFill/>
          </a:ln>
        </p:spPr>
        <p:txBody>
          <a:bodyPr wrap="square" lIns="127000" tIns="101600" rIns="127000" bIns="76200" anchor="t">
            <a:noAutofit/>
          </a:bodyPr>
          <a:lstStyle/>
          <a:p>
            <a:endParaRPr lang="en-US"/>
          </a:p>
        </p:txBody>
      </p:sp>
      <p:sp>
        <p:nvSpPr>
          <p:cNvPr id="107" name="Shape 107"/>
          <p:cNvSpPr/>
          <p:nvPr/>
        </p:nvSpPr>
        <p:spPr>
          <a:xfrm>
            <a:off x="4318000" y="1231900"/>
            <a:ext cx="3556000" cy="11176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2 · Runbook for operations</a:t>
            </a:r>
          </a:p>
          <a:p>
            <a:pPr algn="l">
              <a:lnSpc>
                <a:spcPts val="1650"/>
              </a:lnSpc>
              <a:spcBef>
                <a:spcPts val="200"/>
              </a:spcBef>
              <a:buNone/>
            </a:pPr>
            <a:r>
              <a:rPr lang="en-US" sz="1400">
                <a:solidFill>
                  <a:srgbClr val="5C5C52"/>
                </a:solidFill>
              </a:rPr>
              <a:t>Time driven by handover doc quality and chasing for clarifications</a:t>
            </a:r>
          </a:p>
          <a:p>
            <a:pPr algn="l">
              <a:lnSpc>
                <a:spcPts val="1650"/>
              </a:lnSpc>
              <a:spcBef>
                <a:spcPts val="300"/>
              </a:spcBef>
              <a:buNone/>
            </a:pPr>
            <a:r>
              <a:rPr lang="en-US" sz="1400" b="1">
                <a:solidFill>
                  <a:srgbClr val="B5651D"/>
                </a:solidFill>
              </a:rPr>
              <a:t>Isaak · 1h – 1 day</a:t>
            </a:r>
          </a:p>
        </p:txBody>
      </p:sp>
      <p:sp>
        <p:nvSpPr>
          <p:cNvPr id="108" name="Shape 108"/>
          <p:cNvSpPr/>
          <p:nvPr/>
        </p:nvSpPr>
        <p:spPr>
          <a:xfrm>
            <a:off x="4318000" y="1231900"/>
            <a:ext cx="57150" cy="1117600"/>
          </a:xfrm>
          <a:prstGeom prst="rect">
            <a:avLst/>
          </a:prstGeom>
          <a:solidFill>
            <a:srgbClr val="2E5D4B"/>
          </a:solidFill>
          <a:ln>
            <a:noFill/>
          </a:ln>
        </p:spPr>
        <p:txBody>
          <a:bodyPr wrap="square" lIns="127000" tIns="101600" rIns="127000" bIns="76200" anchor="t">
            <a:noAutofit/>
          </a:bodyPr>
          <a:lstStyle/>
          <a:p>
            <a:endParaRPr lang="en-US"/>
          </a:p>
        </p:txBody>
      </p:sp>
      <p:sp>
        <p:nvSpPr>
          <p:cNvPr id="109" name="Shape 109"/>
          <p:cNvSpPr/>
          <p:nvPr/>
        </p:nvSpPr>
        <p:spPr>
          <a:xfrm>
            <a:off x="8178800" y="1231900"/>
            <a:ext cx="3556000" cy="11176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3 · Infra &amp; manual steps</a:t>
            </a:r>
          </a:p>
          <a:p>
            <a:pPr algn="l">
              <a:lnSpc>
                <a:spcPts val="1650"/>
              </a:lnSpc>
              <a:spcBef>
                <a:spcPts val="200"/>
              </a:spcBef>
              <a:buNone/>
            </a:pPr>
            <a:r>
              <a:rPr lang="en-US" sz="1400">
                <a:solidFill>
                  <a:srgbClr val="5C5C52"/>
                </a:solidFill>
              </a:rPr>
              <a:t>Scope depends on release content and handover documentation</a:t>
            </a:r>
          </a:p>
          <a:p>
            <a:pPr algn="l">
              <a:lnSpc>
                <a:spcPts val="1650"/>
              </a:lnSpc>
              <a:spcBef>
                <a:spcPts val="300"/>
              </a:spcBef>
              <a:buNone/>
            </a:pPr>
            <a:r>
              <a:rPr lang="en-US" sz="1400" b="1">
                <a:solidFill>
                  <a:srgbClr val="B5651D"/>
                </a:solidFill>
              </a:rPr>
              <a:t>Svanty + Isaak · 1–10h total</a:t>
            </a:r>
          </a:p>
        </p:txBody>
      </p:sp>
      <p:sp>
        <p:nvSpPr>
          <p:cNvPr id="110" name="Shape 110"/>
          <p:cNvSpPr/>
          <p:nvPr/>
        </p:nvSpPr>
        <p:spPr>
          <a:xfrm>
            <a:off x="8178800" y="1231900"/>
            <a:ext cx="57150" cy="1117600"/>
          </a:xfrm>
          <a:prstGeom prst="rect">
            <a:avLst/>
          </a:prstGeom>
          <a:solidFill>
            <a:srgbClr val="2E5D4B"/>
          </a:solidFill>
          <a:ln>
            <a:noFill/>
          </a:ln>
        </p:spPr>
        <p:txBody>
          <a:bodyPr wrap="square" lIns="127000" tIns="101600" rIns="127000" bIns="76200" anchor="t">
            <a:noAutofit/>
          </a:bodyPr>
          <a:lstStyle/>
          <a:p>
            <a:endParaRPr lang="en-US"/>
          </a:p>
        </p:txBody>
      </p:sp>
      <p:sp>
        <p:nvSpPr>
          <p:cNvPr id="111" name="Shape 111"/>
          <p:cNvSpPr/>
          <p:nvPr/>
        </p:nvSpPr>
        <p:spPr>
          <a:xfrm>
            <a:off x="4038600" y="1689100"/>
            <a:ext cx="254000" cy="203200"/>
          </a:xfrm>
          <a:prstGeom prst="rightArrow">
            <a:avLst/>
          </a:prstGeom>
          <a:solidFill>
            <a:srgbClr val="B5651D"/>
          </a:solidFill>
          <a:ln>
            <a:noFill/>
          </a:ln>
        </p:spPr>
        <p:txBody>
          <a:bodyPr wrap="square" lIns="127000" tIns="101600" rIns="127000" bIns="76200" anchor="t">
            <a:noAutofit/>
          </a:bodyPr>
          <a:lstStyle/>
          <a:p>
            <a:endParaRPr lang="en-US"/>
          </a:p>
        </p:txBody>
      </p:sp>
      <p:sp>
        <p:nvSpPr>
          <p:cNvPr id="112" name="Shape 112"/>
          <p:cNvSpPr/>
          <p:nvPr/>
        </p:nvSpPr>
        <p:spPr>
          <a:xfrm>
            <a:off x="7899400" y="1689100"/>
            <a:ext cx="254000" cy="203200"/>
          </a:xfrm>
          <a:prstGeom prst="rightArrow">
            <a:avLst/>
          </a:prstGeom>
          <a:solidFill>
            <a:srgbClr val="B5651D"/>
          </a:solidFill>
          <a:ln>
            <a:noFill/>
          </a:ln>
        </p:spPr>
        <p:txBody>
          <a:bodyPr wrap="square" lIns="127000" tIns="101600" rIns="127000" bIns="76200" anchor="t">
            <a:noAutofit/>
          </a:bodyPr>
          <a:lstStyle/>
          <a:p>
            <a:endParaRPr lang="en-US"/>
          </a:p>
        </p:txBody>
      </p:sp>
      <p:sp>
        <p:nvSpPr>
          <p:cNvPr id="113" name="Shape 113"/>
          <p:cNvSpPr/>
          <p:nvPr/>
        </p:nvSpPr>
        <p:spPr>
          <a:xfrm>
            <a:off x="457200" y="2451100"/>
            <a:ext cx="11277600" cy="228600"/>
          </a:xfrm>
          <a:prstGeom prst="rect">
            <a:avLst/>
          </a:prstGeom>
          <a:noFill/>
          <a:ln>
            <a:noFill/>
          </a:ln>
        </p:spPr>
        <p:txBody>
          <a:bodyPr wrap="square" lIns="0" tIns="0" rIns="0" bIns="0" anchor="t">
            <a:noAutofit/>
          </a:bodyPr>
          <a:lstStyle/>
          <a:p>
            <a:pPr algn="l">
              <a:lnSpc>
                <a:spcPts val="1700"/>
              </a:lnSpc>
              <a:buNone/>
            </a:pPr>
            <a:r>
              <a:rPr lang="en-US" sz="1400" b="1">
                <a:solidFill>
                  <a:srgbClr val="B5651D"/>
                </a:solidFill>
              </a:rPr>
              <a:t>2  STAGE</a:t>
            </a:r>
            <a:r>
              <a:rPr lang="en-US" sz="1400">
                <a:solidFill>
                  <a:srgbClr val="5C5C52"/>
                </a:solidFill>
              </a:rPr>
              <a:t>   IQ / OQ documentation is produced while PQ runs in parallel</a:t>
            </a:r>
          </a:p>
        </p:txBody>
      </p:sp>
      <p:sp>
        <p:nvSpPr>
          <p:cNvPr id="114" name="Shape 114"/>
          <p:cNvSpPr/>
          <p:nvPr/>
        </p:nvSpPr>
        <p:spPr>
          <a:xfrm>
            <a:off x="457200" y="2730500"/>
            <a:ext cx="3556000" cy="11176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4 · Release to stage</a:t>
            </a:r>
          </a:p>
          <a:p>
            <a:pPr algn="l">
              <a:lnSpc>
                <a:spcPts val="1650"/>
              </a:lnSpc>
              <a:spcBef>
                <a:spcPts val="200"/>
              </a:spcBef>
              <a:buNone/>
            </a:pPr>
            <a:r>
              <a:rPr lang="en-US" sz="1400">
                <a:solidFill>
                  <a:srgbClr val="5C5C52"/>
                </a:solidFill>
              </a:rPr>
              <a:t>Duration depends on the issues encountered on the day</a:t>
            </a:r>
          </a:p>
          <a:p>
            <a:pPr algn="l">
              <a:lnSpc>
                <a:spcPts val="1650"/>
              </a:lnSpc>
              <a:spcBef>
                <a:spcPts val="300"/>
              </a:spcBef>
              <a:buNone/>
            </a:pPr>
            <a:r>
              <a:rPr lang="en-US" sz="1400" b="1">
                <a:solidFill>
                  <a:srgbClr val="B5651D"/>
                </a:solidFill>
              </a:rPr>
              <a:t>Isaak + Svanty · 1h – 1 day</a:t>
            </a:r>
          </a:p>
        </p:txBody>
      </p:sp>
      <p:sp>
        <p:nvSpPr>
          <p:cNvPr id="115" name="Shape 115"/>
          <p:cNvSpPr/>
          <p:nvPr/>
        </p:nvSpPr>
        <p:spPr>
          <a:xfrm>
            <a:off x="457200" y="2730500"/>
            <a:ext cx="57150" cy="1117600"/>
          </a:xfrm>
          <a:prstGeom prst="rect">
            <a:avLst/>
          </a:prstGeom>
          <a:solidFill>
            <a:srgbClr val="2E5D4B"/>
          </a:solidFill>
          <a:ln>
            <a:noFill/>
          </a:ln>
        </p:spPr>
        <p:txBody>
          <a:bodyPr wrap="square" lIns="127000" tIns="101600" rIns="127000" bIns="76200" anchor="t">
            <a:noAutofit/>
          </a:bodyPr>
          <a:lstStyle/>
          <a:p>
            <a:endParaRPr lang="en-US"/>
          </a:p>
        </p:txBody>
      </p:sp>
      <p:sp>
        <p:nvSpPr>
          <p:cNvPr id="116" name="Shape 116"/>
          <p:cNvSpPr/>
          <p:nvPr/>
        </p:nvSpPr>
        <p:spPr>
          <a:xfrm>
            <a:off x="4318000" y="2730500"/>
            <a:ext cx="3556000" cy="11176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5 · Stage IQ &amp; OQ</a:t>
            </a:r>
          </a:p>
          <a:p>
            <a:pPr algn="l">
              <a:lnSpc>
                <a:spcPts val="1650"/>
              </a:lnSpc>
              <a:spcBef>
                <a:spcPts val="200"/>
              </a:spcBef>
              <a:buNone/>
            </a:pPr>
            <a:r>
              <a:rPr lang="en-US" sz="1400">
                <a:solidFill>
                  <a:srgbClr val="5C5C52"/>
                </a:solidFill>
              </a:rPr>
              <a:t>IQ automated via pipeline; OQ semi automated bar 3 manual screenshots</a:t>
            </a:r>
          </a:p>
          <a:p>
            <a:pPr algn="l">
              <a:lnSpc>
                <a:spcPts val="1650"/>
              </a:lnSpc>
              <a:spcBef>
                <a:spcPts val="300"/>
              </a:spcBef>
              <a:buNone/>
            </a:pPr>
            <a:r>
              <a:rPr lang="en-US" sz="1400" b="1">
                <a:solidFill>
                  <a:srgbClr val="B5651D"/>
                </a:solidFill>
              </a:rPr>
              <a:t>Isaak · up to 1h · DocuSign ×2</a:t>
            </a:r>
          </a:p>
        </p:txBody>
      </p:sp>
      <p:sp>
        <p:nvSpPr>
          <p:cNvPr id="117" name="Shape 117"/>
          <p:cNvSpPr/>
          <p:nvPr/>
        </p:nvSpPr>
        <p:spPr>
          <a:xfrm>
            <a:off x="4318000" y="2730500"/>
            <a:ext cx="57150" cy="1117600"/>
          </a:xfrm>
          <a:prstGeom prst="rect">
            <a:avLst/>
          </a:prstGeom>
          <a:solidFill>
            <a:srgbClr val="2E5D4B"/>
          </a:solidFill>
          <a:ln>
            <a:noFill/>
          </a:ln>
        </p:spPr>
        <p:txBody>
          <a:bodyPr wrap="square" lIns="127000" tIns="101600" rIns="127000" bIns="76200" anchor="t">
            <a:noAutofit/>
          </a:bodyPr>
          <a:lstStyle/>
          <a:p>
            <a:endParaRPr lang="en-US"/>
          </a:p>
        </p:txBody>
      </p:sp>
      <p:sp>
        <p:nvSpPr>
          <p:cNvPr id="118" name="Shape 118"/>
          <p:cNvSpPr/>
          <p:nvPr/>
        </p:nvSpPr>
        <p:spPr>
          <a:xfrm>
            <a:off x="8178800" y="2730500"/>
            <a:ext cx="3556000" cy="11176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6 · PQ &amp; green light</a:t>
            </a:r>
          </a:p>
          <a:p>
            <a:pPr algn="l">
              <a:lnSpc>
                <a:spcPts val="1650"/>
              </a:lnSpc>
              <a:spcBef>
                <a:spcPts val="200"/>
              </a:spcBef>
              <a:buNone/>
            </a:pPr>
            <a:r>
              <a:rPr lang="en-US" sz="1400">
                <a:solidFill>
                  <a:srgbClr val="5C5C52"/>
                </a:solidFill>
              </a:rPr>
              <a:t>Release to prod starts only once PQ is done and signed off</a:t>
            </a:r>
          </a:p>
          <a:p>
            <a:pPr>
              <a:lnSpc>
                <a:spcPts val="1650"/>
              </a:lnSpc>
              <a:spcBef>
                <a:spcPts val="300"/>
              </a:spcBef>
            </a:pPr>
            <a:r>
              <a:rPr lang="en-US" sz="1400" b="1">
                <a:solidFill>
                  <a:srgbClr val="B5651D"/>
                </a:solidFill>
              </a:rPr>
              <a:t>Done in parallel with stage docs</a:t>
            </a:r>
          </a:p>
        </p:txBody>
      </p:sp>
      <p:sp>
        <p:nvSpPr>
          <p:cNvPr id="119" name="Shape 119"/>
          <p:cNvSpPr/>
          <p:nvPr/>
        </p:nvSpPr>
        <p:spPr>
          <a:xfrm>
            <a:off x="8178800" y="2730500"/>
            <a:ext cx="57150" cy="1117600"/>
          </a:xfrm>
          <a:prstGeom prst="rect">
            <a:avLst/>
          </a:prstGeom>
          <a:solidFill>
            <a:srgbClr val="2E5D4B"/>
          </a:solidFill>
          <a:ln>
            <a:noFill/>
          </a:ln>
        </p:spPr>
        <p:txBody>
          <a:bodyPr wrap="square" lIns="127000" tIns="101600" rIns="127000" bIns="76200" anchor="t">
            <a:noAutofit/>
          </a:bodyPr>
          <a:lstStyle/>
          <a:p>
            <a:endParaRPr lang="en-US"/>
          </a:p>
        </p:txBody>
      </p:sp>
      <p:sp>
        <p:nvSpPr>
          <p:cNvPr id="120" name="Shape 120"/>
          <p:cNvSpPr/>
          <p:nvPr/>
        </p:nvSpPr>
        <p:spPr>
          <a:xfrm>
            <a:off x="4038600" y="3187700"/>
            <a:ext cx="254000" cy="203200"/>
          </a:xfrm>
          <a:prstGeom prst="rightArrow">
            <a:avLst/>
          </a:prstGeom>
          <a:solidFill>
            <a:srgbClr val="B5651D"/>
          </a:solidFill>
          <a:ln>
            <a:noFill/>
          </a:ln>
        </p:spPr>
        <p:txBody>
          <a:bodyPr wrap="square" lIns="127000" tIns="101600" rIns="127000" bIns="76200" anchor="t">
            <a:noAutofit/>
          </a:bodyPr>
          <a:lstStyle/>
          <a:p>
            <a:endParaRPr lang="en-US"/>
          </a:p>
        </p:txBody>
      </p:sp>
      <p:sp>
        <p:nvSpPr>
          <p:cNvPr id="121" name="Shape 121"/>
          <p:cNvSpPr/>
          <p:nvPr/>
        </p:nvSpPr>
        <p:spPr>
          <a:xfrm>
            <a:off x="7899400" y="3187700"/>
            <a:ext cx="254000" cy="203200"/>
          </a:xfrm>
          <a:prstGeom prst="rightArrow">
            <a:avLst/>
          </a:prstGeom>
          <a:solidFill>
            <a:srgbClr val="B5651D"/>
          </a:solidFill>
          <a:ln>
            <a:noFill/>
          </a:ln>
        </p:spPr>
        <p:txBody>
          <a:bodyPr wrap="square" lIns="127000" tIns="101600" rIns="127000" bIns="76200" anchor="t">
            <a:noAutofit/>
          </a:bodyPr>
          <a:lstStyle/>
          <a:p>
            <a:endParaRPr lang="en-US"/>
          </a:p>
        </p:txBody>
      </p:sp>
      <p:sp>
        <p:nvSpPr>
          <p:cNvPr id="122" name="Shape 122"/>
          <p:cNvSpPr/>
          <p:nvPr/>
        </p:nvSpPr>
        <p:spPr>
          <a:xfrm>
            <a:off x="457200" y="3949700"/>
            <a:ext cx="11277600" cy="228600"/>
          </a:xfrm>
          <a:prstGeom prst="rect">
            <a:avLst/>
          </a:prstGeom>
          <a:noFill/>
          <a:ln>
            <a:noFill/>
          </a:ln>
        </p:spPr>
        <p:txBody>
          <a:bodyPr wrap="square" lIns="0" tIns="0" rIns="0" bIns="0" anchor="t">
            <a:noAutofit/>
          </a:bodyPr>
          <a:lstStyle/>
          <a:p>
            <a:pPr algn="l">
              <a:lnSpc>
                <a:spcPts val="1700"/>
              </a:lnSpc>
              <a:buNone/>
            </a:pPr>
            <a:r>
              <a:rPr lang="en-US" sz="1400" b="1">
                <a:solidFill>
                  <a:srgbClr val="B5651D"/>
                </a:solidFill>
              </a:rPr>
              <a:t>3  PRODUCTION</a:t>
            </a:r>
            <a:r>
              <a:rPr lang="en-US" sz="1400">
                <a:solidFill>
                  <a:srgbClr val="5C5C52"/>
                </a:solidFill>
              </a:rPr>
              <a:t>   4 regions × 2 environments · training in the morning, prod after lunch</a:t>
            </a:r>
          </a:p>
        </p:txBody>
      </p:sp>
      <p:sp>
        <p:nvSpPr>
          <p:cNvPr id="123" name="Shape 123"/>
          <p:cNvSpPr/>
          <p:nvPr/>
        </p:nvSpPr>
        <p:spPr>
          <a:xfrm>
            <a:off x="457200" y="4229100"/>
            <a:ext cx="2590800" cy="13208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7 · Release to prod</a:t>
            </a:r>
          </a:p>
          <a:p>
            <a:pPr algn="l">
              <a:lnSpc>
                <a:spcPts val="1650"/>
              </a:lnSpc>
              <a:spcBef>
                <a:spcPts val="200"/>
              </a:spcBef>
              <a:buNone/>
            </a:pPr>
            <a:r>
              <a:rPr lang="en-US" sz="1400">
                <a:solidFill>
                  <a:srgbClr val="5C5C52"/>
                </a:solidFill>
              </a:rPr>
              <a:t>8 environments, two pairs of eyes on every one</a:t>
            </a:r>
          </a:p>
          <a:p>
            <a:pPr>
              <a:lnSpc>
                <a:spcPts val="1650"/>
              </a:lnSpc>
              <a:spcBef>
                <a:spcPts val="300"/>
              </a:spcBef>
            </a:pPr>
            <a:r>
              <a:rPr lang="en-US" sz="1400" b="1">
                <a:solidFill>
                  <a:srgbClr val="B5651D"/>
                </a:solidFill>
              </a:rPr>
              <a:t>1–4h per env · China can take up to 1 day for 1 env</a:t>
            </a:r>
          </a:p>
        </p:txBody>
      </p:sp>
      <p:sp>
        <p:nvSpPr>
          <p:cNvPr id="124" name="Shape 124"/>
          <p:cNvSpPr/>
          <p:nvPr/>
        </p:nvSpPr>
        <p:spPr>
          <a:xfrm>
            <a:off x="457200" y="4229100"/>
            <a:ext cx="57150" cy="1320800"/>
          </a:xfrm>
          <a:prstGeom prst="rect">
            <a:avLst/>
          </a:prstGeom>
          <a:solidFill>
            <a:srgbClr val="B5651D"/>
          </a:solidFill>
          <a:ln>
            <a:noFill/>
          </a:ln>
        </p:spPr>
        <p:txBody>
          <a:bodyPr wrap="square" lIns="127000" tIns="101600" rIns="127000" bIns="76200" anchor="t">
            <a:noAutofit/>
          </a:bodyPr>
          <a:lstStyle/>
          <a:p>
            <a:endParaRPr lang="en-US"/>
          </a:p>
        </p:txBody>
      </p:sp>
      <p:sp>
        <p:nvSpPr>
          <p:cNvPr id="125" name="Shape 125"/>
          <p:cNvSpPr/>
          <p:nvPr/>
        </p:nvSpPr>
        <p:spPr>
          <a:xfrm>
            <a:off x="3352800" y="4229100"/>
            <a:ext cx="2590800" cy="13208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8 · VIRP pipeline</a:t>
            </a:r>
          </a:p>
          <a:p>
            <a:pPr algn="l">
              <a:lnSpc>
                <a:spcPts val="1650"/>
              </a:lnSpc>
              <a:spcBef>
                <a:spcPts val="200"/>
              </a:spcBef>
              <a:buNone/>
            </a:pPr>
            <a:r>
              <a:rPr lang="en-US" sz="1400">
                <a:solidFill>
                  <a:srgbClr val="5C5C52"/>
                </a:solidFill>
              </a:rPr>
              <a:t>Prepped and pushed manually after each prod/training release</a:t>
            </a:r>
          </a:p>
          <a:p>
            <a:pPr algn="l">
              <a:lnSpc>
                <a:spcPts val="1650"/>
              </a:lnSpc>
              <a:spcBef>
                <a:spcPts val="300"/>
              </a:spcBef>
              <a:buNone/>
            </a:pPr>
            <a:r>
              <a:rPr lang="en-US" sz="1400" b="1">
                <a:solidFill>
                  <a:srgbClr val="B5651D"/>
                </a:solidFill>
              </a:rPr>
              <a:t>Isaak · 30 min</a:t>
            </a:r>
          </a:p>
        </p:txBody>
      </p:sp>
      <p:sp>
        <p:nvSpPr>
          <p:cNvPr id="126" name="Shape 126"/>
          <p:cNvSpPr/>
          <p:nvPr/>
        </p:nvSpPr>
        <p:spPr>
          <a:xfrm>
            <a:off x="3352800" y="4229100"/>
            <a:ext cx="57150" cy="1320800"/>
          </a:xfrm>
          <a:prstGeom prst="rect">
            <a:avLst/>
          </a:prstGeom>
          <a:solidFill>
            <a:srgbClr val="B5651D"/>
          </a:solidFill>
          <a:ln>
            <a:noFill/>
          </a:ln>
        </p:spPr>
        <p:txBody>
          <a:bodyPr wrap="square" lIns="127000" tIns="101600" rIns="127000" bIns="76200" anchor="t">
            <a:noAutofit/>
          </a:bodyPr>
          <a:lstStyle/>
          <a:p>
            <a:endParaRPr lang="en-US"/>
          </a:p>
        </p:txBody>
      </p:sp>
      <p:sp>
        <p:nvSpPr>
          <p:cNvPr id="127" name="Shape 127"/>
          <p:cNvSpPr/>
          <p:nvPr/>
        </p:nvSpPr>
        <p:spPr>
          <a:xfrm>
            <a:off x="6248400" y="4229100"/>
            <a:ext cx="2590800" cy="13208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9 · Sanity check</a:t>
            </a:r>
          </a:p>
          <a:p>
            <a:pPr algn="l">
              <a:lnSpc>
                <a:spcPts val="1650"/>
              </a:lnSpc>
              <a:spcBef>
                <a:spcPts val="200"/>
              </a:spcBef>
              <a:buNone/>
            </a:pPr>
            <a:r>
              <a:rPr lang="en-US" sz="1400">
                <a:solidFill>
                  <a:srgbClr val="5C5C52"/>
                </a:solidFill>
              </a:rPr>
              <a:t>PS volunteer sourced via the release teams channel</a:t>
            </a:r>
          </a:p>
          <a:p>
            <a:pPr algn="l">
              <a:lnSpc>
                <a:spcPts val="1650"/>
              </a:lnSpc>
              <a:spcBef>
                <a:spcPts val="300"/>
              </a:spcBef>
              <a:buNone/>
            </a:pPr>
            <a:r>
              <a:rPr lang="en-US" sz="1400" b="1">
                <a:solidFill>
                  <a:srgbClr val="B5651D"/>
                </a:solidFill>
              </a:rPr>
              <a:t>Duration unknown - Ad hoc </a:t>
            </a:r>
          </a:p>
        </p:txBody>
      </p:sp>
      <p:sp>
        <p:nvSpPr>
          <p:cNvPr id="128" name="Shape 128"/>
          <p:cNvSpPr/>
          <p:nvPr/>
        </p:nvSpPr>
        <p:spPr>
          <a:xfrm>
            <a:off x="6248400" y="4229100"/>
            <a:ext cx="57150" cy="1320800"/>
          </a:xfrm>
          <a:prstGeom prst="rect">
            <a:avLst/>
          </a:prstGeom>
          <a:solidFill>
            <a:srgbClr val="B5651D"/>
          </a:solidFill>
          <a:ln>
            <a:noFill/>
          </a:ln>
        </p:spPr>
        <p:txBody>
          <a:bodyPr wrap="square" lIns="127000" tIns="101600" rIns="127000" bIns="76200" anchor="t">
            <a:noAutofit/>
          </a:bodyPr>
          <a:lstStyle/>
          <a:p>
            <a:endParaRPr lang="en-US"/>
          </a:p>
        </p:txBody>
      </p:sp>
      <p:sp>
        <p:nvSpPr>
          <p:cNvPr id="129" name="Shape 129"/>
          <p:cNvSpPr/>
          <p:nvPr/>
        </p:nvSpPr>
        <p:spPr>
          <a:xfrm>
            <a:off x="9144000" y="4229100"/>
            <a:ext cx="2590800" cy="1320800"/>
          </a:xfrm>
          <a:prstGeom prst="rect">
            <a:avLst/>
          </a:prstGeom>
          <a:solidFill>
            <a:srgbClr val="FFFFFF"/>
          </a:solidFill>
          <a:ln w="9525">
            <a:solidFill>
              <a:srgbClr val="DED7C9"/>
            </a:solidFill>
          </a:ln>
        </p:spPr>
        <p:txBody>
          <a:bodyPr wrap="square" lIns="203200" tIns="114300" rIns="152400" bIns="76200" anchor="t">
            <a:noAutofit/>
          </a:bodyPr>
          <a:lstStyle/>
          <a:p>
            <a:pPr algn="l">
              <a:lnSpc>
                <a:spcPts val="1800"/>
              </a:lnSpc>
              <a:buNone/>
            </a:pPr>
            <a:r>
              <a:rPr lang="en-US" sz="1500" b="1">
                <a:solidFill>
                  <a:srgbClr val="1E3B2F"/>
                </a:solidFill>
              </a:rPr>
              <a:t>10 · Prod IQ &amp; OQ</a:t>
            </a:r>
          </a:p>
          <a:p>
            <a:pPr algn="l">
              <a:lnSpc>
                <a:spcPts val="1650"/>
              </a:lnSpc>
              <a:spcBef>
                <a:spcPts val="200"/>
              </a:spcBef>
              <a:buNone/>
            </a:pPr>
            <a:r>
              <a:rPr lang="en-US" sz="1400">
                <a:solidFill>
                  <a:srgbClr val="5C5C52"/>
                </a:solidFill>
              </a:rPr>
              <a:t>One IQ + OQ per prod env (not training)</a:t>
            </a:r>
          </a:p>
          <a:p>
            <a:pPr algn="l">
              <a:lnSpc>
                <a:spcPts val="1650"/>
              </a:lnSpc>
              <a:spcBef>
                <a:spcPts val="300"/>
              </a:spcBef>
              <a:buNone/>
            </a:pPr>
            <a:r>
              <a:rPr lang="en-US" sz="1400" b="1">
                <a:solidFill>
                  <a:srgbClr val="B5651D"/>
                </a:solidFill>
              </a:rPr>
              <a:t>Isaak · total 3h (</a:t>
            </a:r>
            <a:r>
              <a:rPr lang="en-US" sz="1400" b="1" err="1">
                <a:solidFill>
                  <a:srgbClr val="B5651D"/>
                </a:solidFill>
              </a:rPr>
              <a:t>DocuSign</a:t>
            </a:r>
            <a:r>
              <a:rPr lang="en-US" sz="1400" b="1">
                <a:solidFill>
                  <a:srgbClr val="B5651D"/>
                </a:solidFill>
              </a:rPr>
              <a:t> x2)</a:t>
            </a:r>
          </a:p>
        </p:txBody>
      </p:sp>
      <p:sp>
        <p:nvSpPr>
          <p:cNvPr id="130" name="Shape 130"/>
          <p:cNvSpPr/>
          <p:nvPr/>
        </p:nvSpPr>
        <p:spPr>
          <a:xfrm>
            <a:off x="9144000" y="4229100"/>
            <a:ext cx="57150" cy="1320800"/>
          </a:xfrm>
          <a:prstGeom prst="rect">
            <a:avLst/>
          </a:prstGeom>
          <a:solidFill>
            <a:srgbClr val="B5651D"/>
          </a:solidFill>
          <a:ln>
            <a:noFill/>
          </a:ln>
        </p:spPr>
        <p:txBody>
          <a:bodyPr wrap="square" lIns="127000" tIns="101600" rIns="127000" bIns="76200" anchor="t">
            <a:noAutofit/>
          </a:bodyPr>
          <a:lstStyle/>
          <a:p>
            <a:endParaRPr lang="en-US"/>
          </a:p>
        </p:txBody>
      </p:sp>
      <p:sp>
        <p:nvSpPr>
          <p:cNvPr id="131" name="Shape 131"/>
          <p:cNvSpPr/>
          <p:nvPr/>
        </p:nvSpPr>
        <p:spPr>
          <a:xfrm>
            <a:off x="3073400" y="4787900"/>
            <a:ext cx="254000" cy="203200"/>
          </a:xfrm>
          <a:prstGeom prst="rightArrow">
            <a:avLst/>
          </a:prstGeom>
          <a:solidFill>
            <a:srgbClr val="B5651D"/>
          </a:solidFill>
          <a:ln>
            <a:noFill/>
          </a:ln>
        </p:spPr>
        <p:txBody>
          <a:bodyPr wrap="square" lIns="127000" tIns="101600" rIns="127000" bIns="76200" anchor="t">
            <a:noAutofit/>
          </a:bodyPr>
          <a:lstStyle/>
          <a:p>
            <a:endParaRPr lang="en-US"/>
          </a:p>
        </p:txBody>
      </p:sp>
      <p:sp>
        <p:nvSpPr>
          <p:cNvPr id="132" name="Shape 132"/>
          <p:cNvSpPr/>
          <p:nvPr/>
        </p:nvSpPr>
        <p:spPr>
          <a:xfrm>
            <a:off x="5969000" y="4787900"/>
            <a:ext cx="254000" cy="203200"/>
          </a:xfrm>
          <a:prstGeom prst="rightArrow">
            <a:avLst/>
          </a:prstGeom>
          <a:solidFill>
            <a:srgbClr val="B5651D"/>
          </a:solidFill>
          <a:ln>
            <a:noFill/>
          </a:ln>
        </p:spPr>
        <p:txBody>
          <a:bodyPr wrap="square" lIns="127000" tIns="101600" rIns="127000" bIns="76200" anchor="t">
            <a:noAutofit/>
          </a:bodyPr>
          <a:lstStyle/>
          <a:p>
            <a:endParaRPr lang="en-US"/>
          </a:p>
        </p:txBody>
      </p:sp>
      <p:sp>
        <p:nvSpPr>
          <p:cNvPr id="133" name="Shape 133"/>
          <p:cNvSpPr/>
          <p:nvPr/>
        </p:nvSpPr>
        <p:spPr>
          <a:xfrm>
            <a:off x="8864600" y="4787900"/>
            <a:ext cx="254000" cy="203200"/>
          </a:xfrm>
          <a:prstGeom prst="rightArrow">
            <a:avLst/>
          </a:prstGeom>
          <a:solidFill>
            <a:srgbClr val="B5651D"/>
          </a:solidFill>
          <a:ln>
            <a:noFill/>
          </a:ln>
        </p:spPr>
        <p:txBody>
          <a:bodyPr wrap="square" lIns="127000" tIns="101600" rIns="127000" bIns="76200" anchor="t">
            <a:noAutofit/>
          </a:bodyPr>
          <a:lstStyle/>
          <a:p>
            <a:endParaRPr lang="en-US"/>
          </a:p>
        </p:txBody>
      </p:sp>
      <p:sp>
        <p:nvSpPr>
          <p:cNvPr id="134" name="Shape 134"/>
          <p:cNvSpPr/>
          <p:nvPr/>
        </p:nvSpPr>
        <p:spPr>
          <a:xfrm>
            <a:off x="457200" y="5832744"/>
            <a:ext cx="11277600" cy="872856"/>
          </a:xfrm>
          <a:prstGeom prst="rect">
            <a:avLst/>
          </a:prstGeom>
          <a:solidFill>
            <a:srgbClr val="F2EBE0"/>
          </a:solidFill>
          <a:ln>
            <a:noFill/>
          </a:ln>
        </p:spPr>
        <p:txBody>
          <a:bodyPr wrap="square" lIns="127000" tIns="101600" rIns="127000" bIns="76200" anchor="t">
            <a:noAutofit/>
          </a:bodyPr>
          <a:lstStyle/>
          <a:p>
            <a:endParaRPr lang="en-US"/>
          </a:p>
        </p:txBody>
      </p:sp>
      <p:sp>
        <p:nvSpPr>
          <p:cNvPr id="135" name="Shape 135"/>
          <p:cNvSpPr/>
          <p:nvPr/>
        </p:nvSpPr>
        <p:spPr>
          <a:xfrm>
            <a:off x="457200" y="5626100"/>
            <a:ext cx="57150" cy="1079500"/>
          </a:xfrm>
          <a:prstGeom prst="rect">
            <a:avLst/>
          </a:prstGeom>
          <a:solidFill>
            <a:srgbClr val="B5651D"/>
          </a:solidFill>
          <a:ln>
            <a:noFill/>
          </a:ln>
        </p:spPr>
        <p:txBody>
          <a:bodyPr wrap="square" lIns="127000" tIns="101600" rIns="127000" bIns="76200" anchor="t">
            <a:noAutofit/>
          </a:bodyPr>
          <a:lstStyle/>
          <a:p>
            <a:endParaRPr lang="en-US"/>
          </a:p>
        </p:txBody>
      </p:sp>
      <p:sp>
        <p:nvSpPr>
          <p:cNvPr id="136" name="Shape 136"/>
          <p:cNvSpPr/>
          <p:nvPr/>
        </p:nvSpPr>
        <p:spPr>
          <a:xfrm>
            <a:off x="492071" y="5987297"/>
            <a:ext cx="10871200" cy="1041400"/>
          </a:xfrm>
          <a:prstGeom prst="rect">
            <a:avLst/>
          </a:prstGeom>
          <a:noFill/>
          <a:ln>
            <a:noFill/>
          </a:ln>
        </p:spPr>
        <p:txBody>
          <a:bodyPr wrap="square" lIns="101600" tIns="25400" rIns="50800" bIns="25400" anchor="t">
            <a:noAutofit/>
          </a:bodyPr>
          <a:lstStyle/>
          <a:p>
            <a:pPr marL="152400" indent="-152400" algn="l">
              <a:lnSpc>
                <a:spcPts val="1600"/>
              </a:lnSpc>
              <a:buFont typeface="Arial"/>
              <a:buChar char="•"/>
            </a:pPr>
            <a:r>
              <a:rPr lang="en-US" sz="1400">
                <a:solidFill>
                  <a:srgbClr val="5C5C52"/>
                </a:solidFill>
              </a:rPr>
              <a:t>In case of a hotfix, the steps need to be repeated</a:t>
            </a:r>
          </a:p>
          <a:p>
            <a:pPr marL="152400" indent="-152400" algn="l">
              <a:lnSpc>
                <a:spcPts val="1600"/>
              </a:lnSpc>
              <a:buFont typeface="Arial"/>
              <a:buChar char="•"/>
            </a:pPr>
            <a:r>
              <a:rPr lang="en-US" sz="1400">
                <a:solidFill>
                  <a:srgbClr val="5C5C52"/>
                </a:solidFill>
              </a:rPr>
              <a:t>The OQ SOP does not ask for screenshots — only the template does. Fixing that unlocks full IQ/OQ automation, leaving DocuSign as the only manual step.</a:t>
            </a:r>
          </a:p>
        </p:txBody>
      </p:sp>
    </p:spTree>
    <p:extLst>
      <p:ext uri="{BB962C8B-B14F-4D97-AF65-F5344CB8AC3E}">
        <p14:creationId xmlns:p14="http://schemas.microsoft.com/office/powerpoint/2010/main" val="2080276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7F0">
            <a:alpha val="100000"/>
          </a:srgbClr>
        </a:solidFill>
        <a:effectLst/>
      </p:bgPr>
    </p:bg>
    <p:spTree>
      <p:nvGrpSpPr>
        <p:cNvPr id="1" name=""/>
        <p:cNvGrpSpPr/>
        <p:nvPr/>
      </p:nvGrpSpPr>
      <p:grpSpPr>
        <a:xfrm>
          <a:off x="0" y="0"/>
          <a:ext cx="0" cy="0"/>
          <a:chOff x="0" y="0"/>
          <a:chExt cx="0" cy="0"/>
        </a:xfrm>
      </p:grpSpPr>
      <p:sp>
        <p:nvSpPr>
          <p:cNvPr id="2" name="NTitle">
            <a:extLst>
              <a:ext uri="{FF2B5EF4-FFF2-40B4-BE49-F238E27FC236}">
                <a16:creationId xmlns:a16="http://schemas.microsoft.com/office/drawing/2014/main" id="{CA985B7C-F97D-5647-B13E-0307DE2D8493}"/>
              </a:ext>
            </a:extLst>
          </p:cNvPr>
          <p:cNvSpPr txBox="1"/>
          <p:nvPr/>
        </p:nvSpPr>
        <p:spPr>
          <a:xfrm>
            <a:off x="457200" y="421898"/>
            <a:ext cx="11277600" cy="528350"/>
          </a:xfrm>
          <a:prstGeom prst="rect">
            <a:avLst/>
          </a:prstGeom>
          <a:noFill/>
        </p:spPr>
        <p:txBody>
          <a:bodyPr vertOverflow="overflow" vert="horz" wrap="square" rtlCol="0" anchor="t">
            <a:spAutoFit/>
          </a:bodyPr>
          <a:lstStyle/>
          <a:p>
            <a:pPr algn="l">
              <a:lnSpc>
                <a:spcPts val="3400"/>
              </a:lnSpc>
              <a:buNone/>
            </a:pPr>
            <a:r>
              <a:rPr lang="en-US" sz="3000" b="1">
                <a:solidFill>
                  <a:srgbClr val="1E3B2F"/>
                </a:solidFill>
              </a:rPr>
              <a:t>What Are The Manual Steps, You Ask?</a:t>
            </a:r>
          </a:p>
        </p:txBody>
      </p:sp>
      <p:sp>
        <p:nvSpPr>
          <p:cNvPr id="4" name="NLabel">
            <a:extLst>
              <a:ext uri="{FF2B5EF4-FFF2-40B4-BE49-F238E27FC236}">
                <a16:creationId xmlns:a16="http://schemas.microsoft.com/office/drawing/2014/main" id="{3E627571-0D42-9241-B9A2-1FED281266CA}"/>
              </a:ext>
            </a:extLst>
          </p:cNvPr>
          <p:cNvSpPr txBox="1"/>
          <p:nvPr/>
        </p:nvSpPr>
        <p:spPr>
          <a:xfrm>
            <a:off x="457200" y="952500"/>
            <a:ext cx="11277600" cy="303225"/>
          </a:xfrm>
          <a:prstGeom prst="rect">
            <a:avLst/>
          </a:prstGeom>
          <a:noFill/>
        </p:spPr>
        <p:txBody>
          <a:bodyPr vertOverflow="overflow" vert="horz" wrap="square" lIns="91440" tIns="45720" rIns="91440" bIns="45720" rtlCol="0" anchor="t">
            <a:spAutoFit/>
          </a:bodyPr>
          <a:lstStyle/>
          <a:p>
            <a:pPr algn="l">
              <a:lnSpc>
                <a:spcPts val="1700"/>
              </a:lnSpc>
              <a:buNone/>
            </a:pPr>
            <a:r>
              <a:rPr lang="en-US" sz="1400" b="1">
                <a:solidFill>
                  <a:srgbClr val="B5651D"/>
                </a:solidFill>
              </a:rPr>
              <a:t>MANUAL TOUCHPOINTS IN ONE RELEASE</a:t>
            </a:r>
          </a:p>
        </p:txBody>
      </p:sp>
      <p:sp>
        <p:nvSpPr>
          <p:cNvPr id="5" name="NCard0">
            <a:extLst>
              <a:ext uri="{FF2B5EF4-FFF2-40B4-BE49-F238E27FC236}">
                <a16:creationId xmlns:a16="http://schemas.microsoft.com/office/drawing/2014/main" id="{390525C5-05EB-3B41-ACCF-0EE6B5DCF564}"/>
              </a:ext>
            </a:extLst>
          </p:cNvPr>
          <p:cNvSpPr/>
          <p:nvPr/>
        </p:nvSpPr>
        <p:spPr>
          <a:xfrm>
            <a:off x="495300" y="1270000"/>
            <a:ext cx="3530600" cy="4318000"/>
          </a:xfrm>
          <a:prstGeom prst="rect">
            <a:avLst/>
          </a:prstGeom>
          <a:solidFill>
            <a:srgbClr val="FFFFFF"/>
          </a:solidFill>
          <a:ln w="9525" cap="flat" cmpd="sng" algn="ctr">
            <a:solidFill>
              <a:srgbClr val="DED7C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03200" tIns="152400" rIns="203200" bIns="127000" rtlCol="0" anchor="t" anchorCtr="0">
            <a:noAutofit/>
          </a:bodyPr>
          <a:lstStyle/>
          <a:p>
            <a:pPr algn="l">
              <a:lnSpc>
                <a:spcPts val="1900"/>
              </a:lnSpc>
              <a:buNone/>
            </a:pPr>
            <a:r>
              <a:rPr lang="en-US" sz="1700" b="1">
                <a:solidFill>
                  <a:srgbClr val="1E3B2F"/>
                </a:solidFill>
              </a:rPr>
              <a:t>Before the release</a:t>
            </a:r>
          </a:p>
          <a:p>
            <a:pPr marL="157480" indent="-157480">
              <a:lnSpc>
                <a:spcPts val="1650"/>
              </a:lnSpc>
              <a:spcBef>
                <a:spcPts val="400"/>
              </a:spcBef>
              <a:buFont typeface="Arial"/>
              <a:buChar char="•"/>
            </a:pPr>
            <a:r>
              <a:rPr lang="en-US" sz="1400">
                <a:solidFill>
                  <a:srgbClr val="5C5C52"/>
                </a:solidFill>
              </a:rPr>
              <a:t>Gather schema.xml for </a:t>
            </a:r>
            <a:r>
              <a:rPr lang="en-US" sz="1400" err="1">
                <a:solidFill>
                  <a:srgbClr val="5C5C52"/>
                </a:solidFill>
              </a:rPr>
              <a:t>Jins</a:t>
            </a:r>
          </a:p>
          <a:p>
            <a:pPr marL="157480" indent="-157480" algn="l">
              <a:lnSpc>
                <a:spcPts val="1650"/>
              </a:lnSpc>
              <a:spcBef>
                <a:spcPts val="400"/>
              </a:spcBef>
              <a:buFont typeface="Arial"/>
              <a:buChar char="•"/>
            </a:pPr>
            <a:r>
              <a:rPr lang="en-US" sz="1400">
                <a:solidFill>
                  <a:srgbClr val="5C5C52"/>
                </a:solidFill>
              </a:rPr>
              <a:t>Turn fragmented handover documents into one end-to-end cookbook</a:t>
            </a:r>
            <a:endParaRPr lang="en-US"/>
          </a:p>
          <a:p>
            <a:pPr marL="157480" indent="-157480" algn="l">
              <a:lnSpc>
                <a:spcPts val="1650"/>
              </a:lnSpc>
              <a:spcBef>
                <a:spcPts val="400"/>
              </a:spcBef>
              <a:buFont typeface="Arial"/>
              <a:buChar char="•"/>
            </a:pPr>
            <a:r>
              <a:rPr lang="en-US" sz="1400">
                <a:solidFill>
                  <a:srgbClr val="5C5C52"/>
                </a:solidFill>
              </a:rPr>
              <a:t>Book PFT members for release sessions in Outlook</a:t>
            </a:r>
          </a:p>
          <a:p>
            <a:pPr marL="157480" indent="-157480" algn="l">
              <a:lnSpc>
                <a:spcPts val="1650"/>
              </a:lnSpc>
              <a:spcBef>
                <a:spcPts val="400"/>
              </a:spcBef>
              <a:buFont typeface="Arial"/>
              <a:buChar char="•"/>
            </a:pPr>
            <a:r>
              <a:rPr lang="en-US" sz="1400">
                <a:solidFill>
                  <a:srgbClr val="5C5C52"/>
                </a:solidFill>
              </a:rPr>
              <a:t>Deploy infrastructure in Terraform</a:t>
            </a:r>
          </a:p>
          <a:p>
            <a:pPr marL="157480" indent="-157480">
              <a:lnSpc>
                <a:spcPts val="1650"/>
              </a:lnSpc>
              <a:spcBef>
                <a:spcPts val="400"/>
              </a:spcBef>
              <a:buFont typeface="Arial"/>
              <a:buChar char="•"/>
            </a:pPr>
            <a:r>
              <a:rPr lang="en-US" sz="1400">
                <a:solidFill>
                  <a:srgbClr val="5C5C52"/>
                </a:solidFill>
              </a:rPr>
              <a:t>Manual release steps pre-release: </a:t>
            </a:r>
            <a:r>
              <a:rPr lang="en-US" sz="1400">
                <a:solidFill>
                  <a:srgbClr val="5C5C52"/>
                </a:solidFill>
                <a:ea typeface="+mn-lt"/>
                <a:cs typeface="+mn-lt"/>
              </a:rPr>
              <a:t>secrets, whitelisting</a:t>
            </a:r>
            <a:r>
              <a:rPr lang="en-US" sz="1400">
                <a:solidFill>
                  <a:srgbClr val="5C5C52"/>
                </a:solidFill>
              </a:rPr>
              <a:t>, change SKUs and instance counts</a:t>
            </a:r>
          </a:p>
          <a:p>
            <a:pPr marL="157480" indent="-157480" algn="l">
              <a:lnSpc>
                <a:spcPts val="1650"/>
              </a:lnSpc>
              <a:spcBef>
                <a:spcPts val="400"/>
              </a:spcBef>
              <a:buFont typeface="Arial"/>
              <a:buChar char="•"/>
            </a:pPr>
            <a:r>
              <a:rPr lang="en-US" sz="1400">
                <a:solidFill>
                  <a:srgbClr val="5C5C52"/>
                </a:solidFill>
              </a:rPr>
              <a:t>Run the database queries that must happen in advance, and log the results</a:t>
            </a:r>
          </a:p>
          <a:p>
            <a:pPr marL="157480" indent="-157480" algn="l">
              <a:lnSpc>
                <a:spcPts val="1650"/>
              </a:lnSpc>
              <a:spcBef>
                <a:spcPts val="400"/>
              </a:spcBef>
              <a:buFont typeface="Arial"/>
              <a:buChar char="•"/>
            </a:pPr>
            <a:r>
              <a:rPr lang="en-US" sz="1400">
                <a:solidFill>
                  <a:srgbClr val="5C5C52"/>
                </a:solidFill>
              </a:rPr>
              <a:t>Run the "current IQ" pipeline in preparation</a:t>
            </a:r>
          </a:p>
          <a:p>
            <a:pPr marL="157480" indent="-157480">
              <a:lnSpc>
                <a:spcPts val="1650"/>
              </a:lnSpc>
              <a:spcBef>
                <a:spcPts val="400"/>
              </a:spcBef>
              <a:buFont typeface="Arial,Sans-Serif"/>
              <a:buChar char="•"/>
            </a:pPr>
            <a:r>
              <a:rPr lang="en-US" sz="1400">
                <a:solidFill>
                  <a:srgbClr val="5C5C52"/>
                </a:solidFill>
                <a:latin typeface="Arial"/>
                <a:cs typeface="Arial"/>
              </a:rPr>
              <a:t>Announce the start in the release channel and tag individuals</a:t>
            </a:r>
            <a:endParaRPr lang="en-US" sz="1400">
              <a:solidFill>
                <a:srgbClr val="000000"/>
              </a:solidFill>
              <a:latin typeface="Arial"/>
              <a:cs typeface="Arial"/>
            </a:endParaRPr>
          </a:p>
          <a:p>
            <a:pPr>
              <a:lnSpc>
                <a:spcPts val="1650"/>
              </a:lnSpc>
              <a:spcBef>
                <a:spcPts val="400"/>
              </a:spcBef>
            </a:pPr>
            <a:endParaRPr lang="en-US" sz="1400">
              <a:solidFill>
                <a:srgbClr val="5C5C52"/>
              </a:solidFill>
            </a:endParaRPr>
          </a:p>
        </p:txBody>
      </p:sp>
      <p:sp>
        <p:nvSpPr>
          <p:cNvPr id="6" name="NBar0">
            <a:extLst>
              <a:ext uri="{FF2B5EF4-FFF2-40B4-BE49-F238E27FC236}">
                <a16:creationId xmlns:a16="http://schemas.microsoft.com/office/drawing/2014/main" id="{7F03FA52-8407-6541-93CB-38F3EFA0F32E}"/>
              </a:ext>
            </a:extLst>
          </p:cNvPr>
          <p:cNvSpPr/>
          <p:nvPr/>
        </p:nvSpPr>
        <p:spPr>
          <a:xfrm>
            <a:off x="457200" y="1270000"/>
            <a:ext cx="63500" cy="43180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NCard1">
            <a:extLst>
              <a:ext uri="{FF2B5EF4-FFF2-40B4-BE49-F238E27FC236}">
                <a16:creationId xmlns:a16="http://schemas.microsoft.com/office/drawing/2014/main" id="{4DAC1C2F-7C6F-F64D-AB49-729D40503532}"/>
              </a:ext>
            </a:extLst>
          </p:cNvPr>
          <p:cNvSpPr/>
          <p:nvPr/>
        </p:nvSpPr>
        <p:spPr>
          <a:xfrm>
            <a:off x="4020949" y="1270000"/>
            <a:ext cx="4150101" cy="4318000"/>
          </a:xfrm>
          <a:prstGeom prst="rect">
            <a:avLst/>
          </a:prstGeom>
          <a:solidFill>
            <a:srgbClr val="FFFFFF"/>
          </a:solidFill>
          <a:ln w="9525" cap="flat" cmpd="sng" algn="ctr">
            <a:solidFill>
              <a:srgbClr val="DED7C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03200" tIns="152400" rIns="203200" bIns="127000" rtlCol="0" anchor="t" anchorCtr="0">
            <a:noAutofit/>
          </a:bodyPr>
          <a:lstStyle/>
          <a:p>
            <a:pPr algn="l">
              <a:lnSpc>
                <a:spcPts val="1900"/>
              </a:lnSpc>
              <a:buNone/>
            </a:pPr>
            <a:r>
              <a:rPr lang="en-US" sz="1700" b="1">
                <a:solidFill>
                  <a:srgbClr val="1E3B2F"/>
                </a:solidFill>
              </a:rPr>
              <a:t>During the release</a:t>
            </a:r>
          </a:p>
          <a:p>
            <a:pPr marL="157480" indent="-157480" algn="l">
              <a:lnSpc>
                <a:spcPts val="1650"/>
              </a:lnSpc>
              <a:spcBef>
                <a:spcPts val="400"/>
              </a:spcBef>
              <a:buFont typeface="Arial"/>
              <a:buChar char="•"/>
            </a:pPr>
            <a:r>
              <a:rPr lang="en-US" sz="1400">
                <a:solidFill>
                  <a:srgbClr val="5C5C52"/>
                </a:solidFill>
              </a:rPr>
              <a:t>Copy-paste branch + bundle info into the release-bundle pipeline, then run it</a:t>
            </a:r>
          </a:p>
          <a:p>
            <a:pPr marL="157480" indent="-157480" algn="l">
              <a:lnSpc>
                <a:spcPts val="1650"/>
              </a:lnSpc>
              <a:spcBef>
                <a:spcPts val="400"/>
              </a:spcBef>
              <a:buFont typeface="Arial"/>
              <a:buChar char="•"/>
            </a:pPr>
            <a:r>
              <a:rPr lang="en-US" sz="1400">
                <a:solidFill>
                  <a:srgbClr val="5C5C52"/>
                </a:solidFill>
              </a:rPr>
              <a:t>Switch to </a:t>
            </a:r>
            <a:r>
              <a:rPr lang="en-US" sz="1400" err="1">
                <a:solidFill>
                  <a:srgbClr val="5C5C52"/>
                </a:solidFill>
              </a:rPr>
              <a:t>all.deploy</a:t>
            </a:r>
            <a:r>
              <a:rPr lang="en-US" sz="1400">
                <a:solidFill>
                  <a:srgbClr val="5C5C52"/>
                </a:solidFill>
              </a:rPr>
              <a:t>: approve each step, restart the ones that fail</a:t>
            </a:r>
          </a:p>
          <a:p>
            <a:pPr marL="157480" indent="-157480">
              <a:lnSpc>
                <a:spcPts val="1650"/>
              </a:lnSpc>
              <a:spcBef>
                <a:spcPts val="400"/>
              </a:spcBef>
              <a:buFont typeface="Arial,Sans-Serif"/>
              <a:buChar char="•"/>
            </a:pPr>
            <a:r>
              <a:rPr lang="en-US" sz="1400">
                <a:solidFill>
                  <a:srgbClr val="5C5C52"/>
                </a:solidFill>
                <a:latin typeface="Arial"/>
                <a:cs typeface="Arial"/>
              </a:rPr>
              <a:t>Run the mid-release database queries at exactly the right moment — or else!</a:t>
            </a:r>
            <a:endParaRPr lang="en-US" sz="1400">
              <a:solidFill>
                <a:srgbClr val="000000"/>
              </a:solidFill>
              <a:latin typeface="Arial"/>
              <a:cs typeface="Arial"/>
            </a:endParaRPr>
          </a:p>
          <a:p>
            <a:pPr marL="157480" indent="-157480">
              <a:lnSpc>
                <a:spcPts val="1650"/>
              </a:lnSpc>
              <a:spcBef>
                <a:spcPts val="400"/>
              </a:spcBef>
              <a:buFont typeface="Arial"/>
              <a:buChar char="•"/>
            </a:pPr>
            <a:r>
              <a:rPr lang="en-US" sz="1400">
                <a:solidFill>
                  <a:srgbClr val="5C5C52"/>
                </a:solidFill>
              </a:rPr>
              <a:t>Stop the old version workers on every virtual machine (that is 5 machines in FR!)</a:t>
            </a:r>
          </a:p>
          <a:p>
            <a:pPr marL="157480" indent="-157480">
              <a:lnSpc>
                <a:spcPts val="1650"/>
              </a:lnSpc>
              <a:spcBef>
                <a:spcPts val="400"/>
              </a:spcBef>
              <a:buFont typeface="Arial"/>
              <a:buChar char="•"/>
            </a:pPr>
            <a:r>
              <a:rPr lang="en-US" sz="1400">
                <a:solidFill>
                  <a:srgbClr val="5C5C52"/>
                </a:solidFill>
              </a:rPr>
              <a:t>Run the now infamous "Viedoc.Worker.exe -RT </a:t>
            </a:r>
            <a:r>
              <a:rPr lang="en-US" sz="1400" err="1">
                <a:solidFill>
                  <a:srgbClr val="5C5C52"/>
                </a:solidFill>
              </a:rPr>
              <a:t>UpdateDatabase</a:t>
            </a:r>
            <a:r>
              <a:rPr lang="en-US" sz="1400">
                <a:solidFill>
                  <a:srgbClr val="5C5C52"/>
                </a:solidFill>
              </a:rPr>
              <a:t>"</a:t>
            </a:r>
          </a:p>
          <a:p>
            <a:pPr marL="157480" indent="-157480">
              <a:lnSpc>
                <a:spcPts val="1650"/>
              </a:lnSpc>
              <a:spcBef>
                <a:spcPts val="400"/>
              </a:spcBef>
              <a:buFont typeface="Arial"/>
              <a:buChar char="•"/>
            </a:pPr>
            <a:r>
              <a:rPr lang="en-US" sz="1400">
                <a:solidFill>
                  <a:srgbClr val="5C5C52"/>
                </a:solidFill>
              </a:rPr>
              <a:t>Start the newly deployed workers on all VMs again!</a:t>
            </a:r>
          </a:p>
          <a:p>
            <a:pPr marL="157480" indent="-157480">
              <a:lnSpc>
                <a:spcPts val="1650"/>
              </a:lnSpc>
              <a:spcBef>
                <a:spcPts val="400"/>
              </a:spcBef>
              <a:buFont typeface="Arial"/>
              <a:buChar char="•"/>
            </a:pPr>
            <a:r>
              <a:rPr lang="en-US" sz="1400">
                <a:solidFill>
                  <a:srgbClr val="5C5C52"/>
                </a:solidFill>
              </a:rPr>
              <a:t>Check everything works once the pipeline completes (OQs, manual login)</a:t>
            </a:r>
          </a:p>
        </p:txBody>
      </p:sp>
      <p:sp>
        <p:nvSpPr>
          <p:cNvPr id="8" name="NBar1">
            <a:extLst>
              <a:ext uri="{FF2B5EF4-FFF2-40B4-BE49-F238E27FC236}">
                <a16:creationId xmlns:a16="http://schemas.microsoft.com/office/drawing/2014/main" id="{DBE98BE1-CA54-7F44-A34D-72056E247282}"/>
              </a:ext>
            </a:extLst>
          </p:cNvPr>
          <p:cNvSpPr/>
          <p:nvPr/>
        </p:nvSpPr>
        <p:spPr>
          <a:xfrm>
            <a:off x="4020949" y="1270000"/>
            <a:ext cx="63500" cy="43180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NCard2">
            <a:extLst>
              <a:ext uri="{FF2B5EF4-FFF2-40B4-BE49-F238E27FC236}">
                <a16:creationId xmlns:a16="http://schemas.microsoft.com/office/drawing/2014/main" id="{67EB38B0-9EFD-FF4F-89ED-5F071C169A12}"/>
              </a:ext>
            </a:extLst>
          </p:cNvPr>
          <p:cNvSpPr/>
          <p:nvPr/>
        </p:nvSpPr>
        <p:spPr>
          <a:xfrm>
            <a:off x="8178800" y="1270000"/>
            <a:ext cx="3556000" cy="4318000"/>
          </a:xfrm>
          <a:prstGeom prst="rect">
            <a:avLst/>
          </a:prstGeom>
          <a:solidFill>
            <a:srgbClr val="FFFFFF"/>
          </a:solidFill>
          <a:ln w="9525" cap="flat" cmpd="sng" algn="ctr">
            <a:solidFill>
              <a:srgbClr val="DED7C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03200" tIns="152400" rIns="203200" bIns="127000" rtlCol="0" anchor="t" anchorCtr="0">
            <a:noAutofit/>
          </a:bodyPr>
          <a:lstStyle/>
          <a:p>
            <a:pPr algn="l">
              <a:lnSpc>
                <a:spcPts val="1900"/>
              </a:lnSpc>
              <a:buNone/>
            </a:pPr>
            <a:r>
              <a:rPr lang="en-US" sz="1700" b="1">
                <a:solidFill>
                  <a:srgbClr val="1E3B2F"/>
                </a:solidFill>
              </a:rPr>
              <a:t>After the release</a:t>
            </a:r>
          </a:p>
          <a:p>
            <a:pPr marL="157480" indent="-157480" algn="l">
              <a:lnSpc>
                <a:spcPts val="1650"/>
              </a:lnSpc>
              <a:spcBef>
                <a:spcPts val="400"/>
              </a:spcBef>
              <a:buFont typeface="Arial"/>
              <a:buChar char="•"/>
            </a:pPr>
            <a:r>
              <a:rPr lang="en-US" sz="1400">
                <a:solidFill>
                  <a:srgbClr val="5C5C52"/>
                </a:solidFill>
              </a:rPr>
              <a:t>Announce again, tag individuals again, ask PS for a sanity check</a:t>
            </a:r>
          </a:p>
          <a:p>
            <a:pPr marL="157480" indent="-157480" algn="l">
              <a:lnSpc>
                <a:spcPts val="1650"/>
              </a:lnSpc>
              <a:spcBef>
                <a:spcPts val="400"/>
              </a:spcBef>
              <a:buFont typeface="Arial"/>
              <a:buChar char="•"/>
            </a:pPr>
            <a:r>
              <a:rPr lang="en-US" sz="1400">
                <a:solidFill>
                  <a:srgbClr val="5C5C52"/>
                </a:solidFill>
              </a:rPr>
              <a:t>Upload the handed-over VIRP to its repo and run the pipeline</a:t>
            </a:r>
          </a:p>
          <a:p>
            <a:pPr marL="157480" indent="-157480">
              <a:lnSpc>
                <a:spcPts val="1650"/>
              </a:lnSpc>
              <a:spcBef>
                <a:spcPts val="400"/>
              </a:spcBef>
              <a:buFont typeface="Arial"/>
              <a:buChar char="•"/>
            </a:pPr>
            <a:r>
              <a:rPr lang="en-US" sz="1400">
                <a:solidFill>
                  <a:srgbClr val="5C5C52"/>
                </a:solidFill>
              </a:rPr>
              <a:t>Run the IQ pipeline to generate the IQ document</a:t>
            </a:r>
          </a:p>
          <a:p>
            <a:pPr marL="157480" indent="-157480">
              <a:lnSpc>
                <a:spcPts val="1650"/>
              </a:lnSpc>
              <a:spcBef>
                <a:spcPts val="400"/>
              </a:spcBef>
              <a:buFont typeface="Arial"/>
              <a:buChar char="•"/>
            </a:pPr>
            <a:r>
              <a:rPr lang="en-US" sz="1400">
                <a:solidFill>
                  <a:srgbClr val="5C5C52"/>
                </a:solidFill>
              </a:rPr>
              <a:t>Generate the OQ document (script), then fetch three extra screenshots by hand — AG health, AZ RTSM Insights health, and local RTSM via an app server login</a:t>
            </a:r>
          </a:p>
          <a:p>
            <a:pPr marL="157480" indent="-157480" algn="l">
              <a:lnSpc>
                <a:spcPts val="1650"/>
              </a:lnSpc>
              <a:spcBef>
                <a:spcPts val="400"/>
              </a:spcBef>
              <a:buFont typeface="Arial"/>
              <a:buChar char="•"/>
            </a:pPr>
            <a:r>
              <a:rPr lang="en-US" sz="1400">
                <a:solidFill>
                  <a:srgbClr val="5C5C52"/>
                </a:solidFill>
              </a:rPr>
              <a:t>Collect the documents in SharePoint and </a:t>
            </a:r>
            <a:r>
              <a:rPr lang="en-US" sz="1400" err="1">
                <a:solidFill>
                  <a:srgbClr val="5C5C52"/>
                </a:solidFill>
              </a:rPr>
              <a:t>DocuSign</a:t>
            </a:r>
            <a:endParaRPr lang="en-US" sz="1400">
              <a:solidFill>
                <a:srgbClr val="5C5C52"/>
              </a:solidFill>
            </a:endParaRPr>
          </a:p>
        </p:txBody>
      </p:sp>
      <p:sp>
        <p:nvSpPr>
          <p:cNvPr id="10" name="NBar2">
            <a:extLst>
              <a:ext uri="{FF2B5EF4-FFF2-40B4-BE49-F238E27FC236}">
                <a16:creationId xmlns:a16="http://schemas.microsoft.com/office/drawing/2014/main" id="{C62DBF40-0B6D-9746-89B4-328103EF9A11}"/>
              </a:ext>
            </a:extLst>
          </p:cNvPr>
          <p:cNvSpPr/>
          <p:nvPr/>
        </p:nvSpPr>
        <p:spPr>
          <a:xfrm>
            <a:off x="8178800" y="1270000"/>
            <a:ext cx="63500" cy="43180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NFoot">
            <a:extLst>
              <a:ext uri="{FF2B5EF4-FFF2-40B4-BE49-F238E27FC236}">
                <a16:creationId xmlns:a16="http://schemas.microsoft.com/office/drawing/2014/main" id="{F4588395-DBE4-874E-9E2A-BF4BE6C41D88}"/>
              </a:ext>
            </a:extLst>
          </p:cNvPr>
          <p:cNvSpPr/>
          <p:nvPr/>
        </p:nvSpPr>
        <p:spPr>
          <a:xfrm>
            <a:off x="457200" y="5740400"/>
            <a:ext cx="11277600" cy="787400"/>
          </a:xfrm>
          <a:prstGeom prst="rect">
            <a:avLst/>
          </a:prstGeom>
          <a:solidFill>
            <a:srgbClr val="F2EAD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NFootBar">
            <a:extLst>
              <a:ext uri="{FF2B5EF4-FFF2-40B4-BE49-F238E27FC236}">
                <a16:creationId xmlns:a16="http://schemas.microsoft.com/office/drawing/2014/main" id="{B666A2A0-DE7D-F748-90D4-43DE42A9EEA0}"/>
              </a:ext>
            </a:extLst>
          </p:cNvPr>
          <p:cNvSpPr/>
          <p:nvPr/>
        </p:nvSpPr>
        <p:spPr>
          <a:xfrm>
            <a:off x="457200" y="5740400"/>
            <a:ext cx="63500" cy="7874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NFootTxt">
            <a:extLst>
              <a:ext uri="{FF2B5EF4-FFF2-40B4-BE49-F238E27FC236}">
                <a16:creationId xmlns:a16="http://schemas.microsoft.com/office/drawing/2014/main" id="{6A3DF485-0484-FE44-A4DF-EFE214F33E66}"/>
              </a:ext>
            </a:extLst>
          </p:cNvPr>
          <p:cNvSpPr txBox="1"/>
          <p:nvPr/>
        </p:nvSpPr>
        <p:spPr>
          <a:xfrm>
            <a:off x="685800" y="5791200"/>
            <a:ext cx="10896600" cy="685800"/>
          </a:xfrm>
          <a:prstGeom prst="rect">
            <a:avLst/>
          </a:prstGeom>
          <a:noFill/>
        </p:spPr>
        <p:txBody>
          <a:bodyPr vertOverflow="overflow" vert="horz" wrap="square" lIns="101600" tIns="0" rIns="101600" bIns="0" rtlCol="0" anchor="ctr" anchorCtr="0">
            <a:noAutofit/>
          </a:bodyPr>
          <a:lstStyle/>
          <a:p>
            <a:pPr>
              <a:lnSpc>
                <a:spcPts val="1900"/>
              </a:lnSpc>
            </a:pPr>
            <a:r>
              <a:rPr lang="en-US" sz="1600" b="1">
                <a:solidFill>
                  <a:srgbClr val="B5651D"/>
                </a:solidFill>
              </a:rPr>
              <a:t>Every one of these is a place the release can stall.</a:t>
            </a:r>
            <a:endParaRPr lang="en-US"/>
          </a:p>
          <a:p>
            <a:pPr>
              <a:lnSpc>
                <a:spcPts val="1900"/>
              </a:lnSpc>
            </a:pPr>
            <a:r>
              <a:rPr lang="en-US" sz="1600">
                <a:solidFill>
                  <a:srgbClr val="5C5C52"/>
                </a:solidFill>
              </a:rPr>
              <a:t>Several steps have to land at an exact moment or the release breaks. </a:t>
            </a:r>
            <a:endParaRPr lang="en-US"/>
          </a:p>
          <a:p>
            <a:pPr>
              <a:lnSpc>
                <a:spcPts val="1900"/>
              </a:lnSpc>
            </a:pPr>
            <a:r>
              <a:rPr lang="en-US" sz="1600">
                <a:solidFill>
                  <a:srgbClr val="5C5C52"/>
                </a:solidFill>
              </a:rPr>
              <a:t>The steps in the middle column need to be repeated for each bundle, e.g. main, others, coder, </a:t>
            </a:r>
            <a:r>
              <a:rPr lang="en-US" sz="1600" err="1">
                <a:solidFill>
                  <a:srgbClr val="5C5C52"/>
                </a:solidFill>
              </a:rPr>
              <a:t>etmf</a:t>
            </a:r>
            <a:r>
              <a:rPr lang="en-US" sz="1600">
                <a:solidFill>
                  <a:srgbClr val="5C5C52"/>
                </a:solidFill>
              </a:rPr>
              <a:t> etc.</a:t>
            </a:r>
          </a:p>
        </p:txBody>
      </p:sp>
    </p:spTree>
    <p:extLst>
      <p:ext uri="{BB962C8B-B14F-4D97-AF65-F5344CB8AC3E}">
        <p14:creationId xmlns:p14="http://schemas.microsoft.com/office/powerpoint/2010/main" val="4114883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7F0">
            <a:alpha val="100000"/>
          </a:srgbClr>
        </a:solidFill>
        <a:effectLst/>
      </p:bgPr>
    </p:bg>
    <p:spTree>
      <p:nvGrpSpPr>
        <p:cNvPr id="1" name=""/>
        <p:cNvGrpSpPr/>
        <p:nvPr/>
      </p:nvGrpSpPr>
      <p:grpSpPr>
        <a:xfrm>
          <a:off x="0" y="0"/>
          <a:ext cx="0" cy="0"/>
          <a:chOff x="0" y="0"/>
          <a:chExt cx="0" cy="0"/>
        </a:xfrm>
      </p:grpSpPr>
      <p:sp>
        <p:nvSpPr>
          <p:cNvPr id="201" name="Shape 201"/>
          <p:cNvSpPr/>
          <p:nvPr/>
        </p:nvSpPr>
        <p:spPr>
          <a:xfrm>
            <a:off x="444285" y="551051"/>
            <a:ext cx="11277600" cy="558800"/>
          </a:xfrm>
          <a:prstGeom prst="rect">
            <a:avLst/>
          </a:prstGeom>
          <a:noFill/>
          <a:ln>
            <a:noFill/>
          </a:ln>
        </p:spPr>
        <p:txBody>
          <a:bodyPr wrap="square" lIns="0" tIns="0" rIns="0" bIns="0" anchor="t">
            <a:noAutofit/>
          </a:bodyPr>
          <a:lstStyle/>
          <a:p>
            <a:pPr algn="l">
              <a:lnSpc>
                <a:spcPts val="3400"/>
              </a:lnSpc>
              <a:buNone/>
            </a:pPr>
            <a:r>
              <a:rPr lang="en-US" sz="3000" b="1">
                <a:solidFill>
                  <a:srgbClr val="1E3B2F"/>
                </a:solidFill>
              </a:rPr>
              <a:t>Where Release Time Goes</a:t>
            </a:r>
          </a:p>
        </p:txBody>
      </p:sp>
      <p:sp>
        <p:nvSpPr>
          <p:cNvPr id="203" name="Shape 203"/>
          <p:cNvSpPr/>
          <p:nvPr/>
        </p:nvSpPr>
        <p:spPr>
          <a:xfrm>
            <a:off x="457200" y="990600"/>
            <a:ext cx="11277600" cy="228600"/>
          </a:xfrm>
          <a:prstGeom prst="rect">
            <a:avLst/>
          </a:prstGeom>
          <a:noFill/>
          <a:ln>
            <a:noFill/>
          </a:ln>
        </p:spPr>
        <p:txBody>
          <a:bodyPr wrap="square" lIns="0" tIns="0" rIns="0" bIns="0" anchor="t">
            <a:noAutofit/>
          </a:bodyPr>
          <a:lstStyle/>
          <a:p>
            <a:pPr algn="l">
              <a:lnSpc>
                <a:spcPts val="1700"/>
              </a:lnSpc>
              <a:buNone/>
            </a:pPr>
            <a:r>
              <a:rPr lang="en-US" sz="1400" b="1">
                <a:solidFill>
                  <a:srgbClr val="B5651D"/>
                </a:solidFill>
              </a:rPr>
              <a:t>COST OF ONE RELEASE</a:t>
            </a:r>
          </a:p>
        </p:txBody>
      </p:sp>
      <p:sp>
        <p:nvSpPr>
          <p:cNvPr id="204" name="Shape 204"/>
          <p:cNvSpPr/>
          <p:nvPr/>
        </p:nvSpPr>
        <p:spPr>
          <a:xfrm>
            <a:off x="457200" y="3251200"/>
            <a:ext cx="5486400" cy="2971800"/>
          </a:xfrm>
          <a:prstGeom prst="rect">
            <a:avLst/>
          </a:prstGeom>
          <a:solidFill>
            <a:srgbClr val="FFFFFF"/>
          </a:solidFill>
          <a:ln w="9525">
            <a:solidFill>
              <a:srgbClr val="DED7C9"/>
            </a:solidFill>
          </a:ln>
        </p:spPr>
        <p:txBody>
          <a:bodyPr wrap="square" lIns="203200" tIns="152400" rIns="177800" bIns="127000" anchor="ctr" anchorCtr="0">
            <a:noAutofit/>
          </a:bodyPr>
          <a:lstStyle/>
          <a:p>
            <a:pPr algn="l">
              <a:lnSpc>
                <a:spcPts val="1900"/>
              </a:lnSpc>
              <a:buNone/>
            </a:pPr>
            <a:r>
              <a:rPr lang="en-US" sz="1700" b="1">
                <a:solidFill>
                  <a:srgbClr val="1E3B2F"/>
                </a:solidFill>
              </a:rPr>
              <a:t>Where release time goes</a:t>
            </a:r>
          </a:p>
          <a:p>
            <a:pPr marL="157480" indent="-157480" algn="l">
              <a:lnSpc>
                <a:spcPts val="1750"/>
              </a:lnSpc>
              <a:spcBef>
                <a:spcPts val="500"/>
              </a:spcBef>
              <a:buFont typeface="Arial"/>
              <a:buChar char="•"/>
            </a:pPr>
            <a:r>
              <a:rPr lang="en-US" sz="1400">
                <a:solidFill>
                  <a:srgbClr val="5C5C52"/>
                </a:solidFill>
              </a:rPr>
              <a:t>Duration scales with the type and complexity of the release</a:t>
            </a:r>
          </a:p>
          <a:p>
            <a:pPr marL="157480" indent="-157480" algn="l">
              <a:lnSpc>
                <a:spcPts val="1750"/>
              </a:lnSpc>
              <a:spcBef>
                <a:spcPts val="500"/>
              </a:spcBef>
              <a:buFont typeface="Arial"/>
              <a:buChar char="•"/>
            </a:pPr>
            <a:r>
              <a:rPr lang="en-US" sz="1400">
                <a:solidFill>
                  <a:srgbClr val="5C5C52"/>
                </a:solidFill>
              </a:rPr>
              <a:t>Manual steps — above all backend database operations requiring logs to be extracted and kept</a:t>
            </a:r>
          </a:p>
          <a:p>
            <a:pPr marL="157480" indent="-157480" algn="l">
              <a:lnSpc>
                <a:spcPts val="1750"/>
              </a:lnSpc>
              <a:spcBef>
                <a:spcPts val="500"/>
              </a:spcBef>
              <a:buFont typeface="Arial"/>
              <a:buChar char="•"/>
            </a:pPr>
            <a:r>
              <a:rPr lang="en-US" sz="1400">
                <a:solidFill>
                  <a:srgbClr val="5C5C52"/>
                </a:solidFill>
              </a:rPr>
              <a:t>Pipeline chain is complex (release-bundle → </a:t>
            </a:r>
            <a:r>
              <a:rPr lang="en-US" sz="1400" err="1">
                <a:solidFill>
                  <a:srgbClr val="5C5C52"/>
                </a:solidFill>
              </a:rPr>
              <a:t>all.deploy</a:t>
            </a:r>
            <a:r>
              <a:rPr lang="en-US" sz="1400">
                <a:solidFill>
                  <a:srgbClr val="5C5C52"/>
                </a:solidFill>
              </a:rPr>
              <a:t>) and still relies on copy-pasting bundle numbers</a:t>
            </a:r>
          </a:p>
          <a:p>
            <a:pPr marL="157480" indent="-157480" algn="l">
              <a:lnSpc>
                <a:spcPts val="1750"/>
              </a:lnSpc>
              <a:spcBef>
                <a:spcPts val="500"/>
              </a:spcBef>
              <a:buFont typeface="Arial"/>
              <a:buChar char="•"/>
            </a:pPr>
            <a:r>
              <a:rPr lang="en-US" sz="1400">
                <a:solidFill>
                  <a:srgbClr val="5C5C52"/>
                </a:solidFill>
              </a:rPr>
              <a:t>Pipeline speed on the day sits outside our control</a:t>
            </a:r>
          </a:p>
          <a:p>
            <a:pPr marL="157480" indent="-157480">
              <a:lnSpc>
                <a:spcPts val="1750"/>
              </a:lnSpc>
              <a:spcBef>
                <a:spcPts val="500"/>
              </a:spcBef>
              <a:buFont typeface="Arial"/>
              <a:buChar char="•"/>
            </a:pPr>
            <a:r>
              <a:rPr lang="en-US" sz="1400">
                <a:solidFill>
                  <a:srgbClr val="5C5C52"/>
                </a:solidFill>
              </a:rPr>
              <a:t>Pipelines are fairly sequential</a:t>
            </a:r>
          </a:p>
          <a:p>
            <a:pPr marL="157480" indent="-157480">
              <a:lnSpc>
                <a:spcPts val="1750"/>
              </a:lnSpc>
              <a:spcBef>
                <a:spcPts val="500"/>
              </a:spcBef>
              <a:buFont typeface="Arial"/>
              <a:buChar char="•"/>
            </a:pPr>
            <a:r>
              <a:rPr lang="en-US" sz="1400">
                <a:solidFill>
                  <a:srgbClr val="5C5C52"/>
                </a:solidFill>
              </a:rPr>
              <a:t>Begin/end steps (deployment tags) takes 1-2 minutes each, adding up over an entire run</a:t>
            </a:r>
            <a:endParaRPr lang="en-US"/>
          </a:p>
          <a:p>
            <a:pPr marL="157480" indent="-157480" algn="l">
              <a:lnSpc>
                <a:spcPts val="1750"/>
              </a:lnSpc>
              <a:spcBef>
                <a:spcPts val="500"/>
              </a:spcBef>
              <a:buFont typeface="Arial"/>
              <a:buChar char="•"/>
            </a:pPr>
            <a:r>
              <a:rPr lang="en-US" sz="1400">
                <a:solidFill>
                  <a:srgbClr val="5C5C52"/>
                </a:solidFill>
              </a:rPr>
              <a:t>Issues found during release delay the process</a:t>
            </a:r>
          </a:p>
        </p:txBody>
      </p:sp>
      <p:sp>
        <p:nvSpPr>
          <p:cNvPr id="205" name="Shape 205"/>
          <p:cNvSpPr/>
          <p:nvPr/>
        </p:nvSpPr>
        <p:spPr>
          <a:xfrm>
            <a:off x="457200" y="3251200"/>
            <a:ext cx="63500" cy="2971800"/>
          </a:xfrm>
          <a:prstGeom prst="rect">
            <a:avLst/>
          </a:prstGeom>
          <a:solidFill>
            <a:srgbClr val="2E5D4B"/>
          </a:solidFill>
          <a:ln>
            <a:noFill/>
          </a:ln>
        </p:spPr>
        <p:txBody>
          <a:bodyPr wrap="square" lIns="203200" tIns="152400" rIns="177800" bIns="127000" anchor="t">
            <a:noAutofit/>
          </a:bodyPr>
          <a:lstStyle/>
          <a:p>
            <a:endParaRPr lang="en-US"/>
          </a:p>
        </p:txBody>
      </p:sp>
      <p:sp>
        <p:nvSpPr>
          <p:cNvPr id="206" name="Shape 206"/>
          <p:cNvSpPr/>
          <p:nvPr/>
        </p:nvSpPr>
        <p:spPr>
          <a:xfrm>
            <a:off x="6248400" y="3251200"/>
            <a:ext cx="5486400" cy="2971800"/>
          </a:xfrm>
          <a:prstGeom prst="rect">
            <a:avLst/>
          </a:prstGeom>
          <a:solidFill>
            <a:srgbClr val="FFFFFF"/>
          </a:solidFill>
          <a:ln w="9525">
            <a:solidFill>
              <a:srgbClr val="DED7C9"/>
            </a:solidFill>
          </a:ln>
        </p:spPr>
        <p:txBody>
          <a:bodyPr wrap="square" lIns="203200" tIns="152400" rIns="177800" bIns="127000" anchor="ctr" anchorCtr="0">
            <a:noAutofit/>
          </a:bodyPr>
          <a:lstStyle/>
          <a:p>
            <a:pPr algn="l">
              <a:lnSpc>
                <a:spcPts val="1900"/>
              </a:lnSpc>
              <a:buNone/>
            </a:pPr>
            <a:r>
              <a:rPr lang="en-US" sz="1700" b="1">
                <a:solidFill>
                  <a:srgbClr val="1E3B2F"/>
                </a:solidFill>
              </a:rPr>
              <a:t>Quality upstream sets the pace</a:t>
            </a:r>
          </a:p>
          <a:p>
            <a:pPr marL="157480" indent="-157480" algn="l">
              <a:lnSpc>
                <a:spcPts val="1750"/>
              </a:lnSpc>
              <a:spcBef>
                <a:spcPts val="500"/>
              </a:spcBef>
              <a:buFont typeface="Arial"/>
              <a:buChar char="•"/>
            </a:pPr>
            <a:r>
              <a:rPr lang="en-US" sz="1400">
                <a:solidFill>
                  <a:srgbClr val="5C5C52"/>
                </a:solidFill>
              </a:rPr>
              <a:t>Ops runbook creation depends heavily on the quality of the documentation handed over by dev teams</a:t>
            </a:r>
          </a:p>
          <a:p>
            <a:pPr marL="157480" indent="-157480" algn="l">
              <a:lnSpc>
                <a:spcPts val="1750"/>
              </a:lnSpc>
              <a:spcBef>
                <a:spcPts val="500"/>
              </a:spcBef>
              <a:buFont typeface="Arial"/>
              <a:buChar char="•"/>
            </a:pPr>
            <a:r>
              <a:rPr lang="en-US" sz="1400">
                <a:solidFill>
                  <a:srgbClr val="5C5C52"/>
                </a:solidFill>
              </a:rPr>
              <a:t>Issues found late — from stage onwards — happen too often and create avoidable delays</a:t>
            </a:r>
          </a:p>
        </p:txBody>
      </p:sp>
      <p:sp>
        <p:nvSpPr>
          <p:cNvPr id="207" name="Shape 207"/>
          <p:cNvSpPr/>
          <p:nvPr/>
        </p:nvSpPr>
        <p:spPr>
          <a:xfrm>
            <a:off x="6248400" y="3251200"/>
            <a:ext cx="63500" cy="2971800"/>
          </a:xfrm>
          <a:prstGeom prst="rect">
            <a:avLst/>
          </a:prstGeom>
          <a:solidFill>
            <a:srgbClr val="2E5D4B"/>
          </a:solidFill>
          <a:ln>
            <a:noFill/>
          </a:ln>
        </p:spPr>
        <p:txBody>
          <a:bodyPr wrap="square" lIns="203200" tIns="152400" rIns="177800" bIns="127000" anchor="t">
            <a:noAutofit/>
          </a:bodyPr>
          <a:lstStyle/>
          <a:p>
            <a:endParaRPr lang="en-US"/>
          </a:p>
        </p:txBody>
      </p:sp>
      <p:sp>
        <p:nvSpPr>
          <p:cNvPr id="2" name="KPI0">
            <a:extLst>
              <a:ext uri="{FF2B5EF4-FFF2-40B4-BE49-F238E27FC236}">
                <a16:creationId xmlns:a16="http://schemas.microsoft.com/office/drawing/2014/main" id="{9D3B816D-FE0A-E141-BD03-F752098BE2C4}"/>
              </a:ext>
            </a:extLst>
          </p:cNvPr>
          <p:cNvSpPr/>
          <p:nvPr/>
        </p:nvSpPr>
        <p:spPr>
          <a:xfrm>
            <a:off x="457200" y="1193800"/>
            <a:ext cx="2590800" cy="1524000"/>
          </a:xfrm>
          <a:prstGeom prst="rect">
            <a:avLst/>
          </a:prstGeom>
          <a:solidFill>
            <a:srgbClr val="FFFFFF"/>
          </a:solidFill>
          <a:ln w="9525" cap="flat" cmpd="sng" algn="ctr">
            <a:solidFill>
              <a:srgbClr val="DED7C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03200" tIns="152400" rIns="203200" bIns="127000" rtlCol="0" anchor="ctr" anchorCtr="0">
            <a:noAutofit/>
          </a:bodyPr>
          <a:lstStyle/>
          <a:p>
            <a:pPr algn="ctr">
              <a:lnSpc>
                <a:spcPts val="3200"/>
              </a:lnSpc>
              <a:buNone/>
            </a:pPr>
            <a:r>
              <a:rPr lang="en-US" sz="2800" b="1">
                <a:solidFill>
                  <a:srgbClr val="B5651D"/>
                </a:solidFill>
              </a:rPr>
              <a:t>1 day</a:t>
            </a:r>
          </a:p>
          <a:p>
            <a:pPr algn="ctr">
              <a:lnSpc>
                <a:spcPts val="1700"/>
              </a:lnSpc>
              <a:spcBef>
                <a:spcPts val="300"/>
              </a:spcBef>
              <a:buNone/>
            </a:pPr>
            <a:r>
              <a:rPr lang="en-US" sz="1400">
                <a:solidFill>
                  <a:srgbClr val="5C5C52"/>
                </a:solidFill>
              </a:rPr>
              <a:t>stage release</a:t>
            </a:r>
          </a:p>
        </p:txBody>
      </p:sp>
      <p:sp>
        <p:nvSpPr>
          <p:cNvPr id="3" name="KPIBar0">
            <a:extLst>
              <a:ext uri="{FF2B5EF4-FFF2-40B4-BE49-F238E27FC236}">
                <a16:creationId xmlns:a16="http://schemas.microsoft.com/office/drawing/2014/main" id="{740B944F-6C0F-7E42-85AD-9D426A546745}"/>
              </a:ext>
            </a:extLst>
          </p:cNvPr>
          <p:cNvSpPr/>
          <p:nvPr/>
        </p:nvSpPr>
        <p:spPr>
          <a:xfrm>
            <a:off x="457200" y="2641600"/>
            <a:ext cx="2590800" cy="762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KPI1">
            <a:extLst>
              <a:ext uri="{FF2B5EF4-FFF2-40B4-BE49-F238E27FC236}">
                <a16:creationId xmlns:a16="http://schemas.microsoft.com/office/drawing/2014/main" id="{1058F94C-DD00-2647-8946-E5641C37F936}"/>
              </a:ext>
            </a:extLst>
          </p:cNvPr>
          <p:cNvSpPr/>
          <p:nvPr/>
        </p:nvSpPr>
        <p:spPr>
          <a:xfrm>
            <a:off x="3352800" y="1193800"/>
            <a:ext cx="2590800" cy="1524000"/>
          </a:xfrm>
          <a:prstGeom prst="rect">
            <a:avLst/>
          </a:prstGeom>
          <a:solidFill>
            <a:srgbClr val="FFFFFF"/>
          </a:solidFill>
          <a:ln w="9525" cap="flat" cmpd="sng" algn="ctr">
            <a:solidFill>
              <a:srgbClr val="DED7C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03200" tIns="152400" rIns="203200" bIns="127000" rtlCol="0" anchor="ctr" anchorCtr="0">
            <a:noAutofit/>
          </a:bodyPr>
          <a:lstStyle/>
          <a:p>
            <a:pPr algn="ctr">
              <a:lnSpc>
                <a:spcPts val="3200"/>
              </a:lnSpc>
              <a:buNone/>
            </a:pPr>
            <a:r>
              <a:rPr lang="en-US" sz="2800" b="1">
                <a:solidFill>
                  <a:srgbClr val="B5651D"/>
                </a:solidFill>
              </a:rPr>
              <a:t>5 days</a:t>
            </a:r>
          </a:p>
          <a:p>
            <a:pPr algn="ctr">
              <a:lnSpc>
                <a:spcPts val="1700"/>
              </a:lnSpc>
              <a:spcBef>
                <a:spcPts val="300"/>
              </a:spcBef>
              <a:buNone/>
            </a:pPr>
            <a:r>
              <a:rPr lang="en-US" sz="1400">
                <a:solidFill>
                  <a:srgbClr val="5C5C52"/>
                </a:solidFill>
              </a:rPr>
              <a:t>production and training across 4 regions</a:t>
            </a:r>
          </a:p>
        </p:txBody>
      </p:sp>
      <p:sp>
        <p:nvSpPr>
          <p:cNvPr id="5" name="KPIBar1">
            <a:extLst>
              <a:ext uri="{FF2B5EF4-FFF2-40B4-BE49-F238E27FC236}">
                <a16:creationId xmlns:a16="http://schemas.microsoft.com/office/drawing/2014/main" id="{94BF2AD3-23DB-3541-AE3B-D042797E422C}"/>
              </a:ext>
            </a:extLst>
          </p:cNvPr>
          <p:cNvSpPr/>
          <p:nvPr/>
        </p:nvSpPr>
        <p:spPr>
          <a:xfrm>
            <a:off x="3352800" y="2641600"/>
            <a:ext cx="2590800" cy="762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KPI2">
            <a:extLst>
              <a:ext uri="{FF2B5EF4-FFF2-40B4-BE49-F238E27FC236}">
                <a16:creationId xmlns:a16="http://schemas.microsoft.com/office/drawing/2014/main" id="{DB540CA7-59D6-BB41-A489-F2D60683ACFF}"/>
              </a:ext>
            </a:extLst>
          </p:cNvPr>
          <p:cNvSpPr/>
          <p:nvPr/>
        </p:nvSpPr>
        <p:spPr>
          <a:xfrm>
            <a:off x="6248400" y="1193800"/>
            <a:ext cx="2590800" cy="1524000"/>
          </a:xfrm>
          <a:prstGeom prst="rect">
            <a:avLst/>
          </a:prstGeom>
          <a:solidFill>
            <a:srgbClr val="FFFFFF"/>
          </a:solidFill>
          <a:ln w="9525" cap="flat" cmpd="sng" algn="ctr">
            <a:solidFill>
              <a:srgbClr val="DED7C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03200" tIns="152400" rIns="203200" bIns="127000" rtlCol="0" anchor="ctr" anchorCtr="0">
            <a:noAutofit/>
          </a:bodyPr>
          <a:lstStyle/>
          <a:p>
            <a:pPr algn="ctr">
              <a:lnSpc>
                <a:spcPts val="3200"/>
              </a:lnSpc>
              <a:buNone/>
            </a:pPr>
            <a:r>
              <a:rPr lang="en-US" sz="2800" b="1">
                <a:solidFill>
                  <a:srgbClr val="B5651D"/>
                </a:solidFill>
              </a:rPr>
              <a:t>6+ days</a:t>
            </a:r>
          </a:p>
          <a:p>
            <a:pPr algn="ctr">
              <a:lnSpc>
                <a:spcPts val="1700"/>
              </a:lnSpc>
              <a:spcBef>
                <a:spcPts val="300"/>
              </a:spcBef>
              <a:buNone/>
            </a:pPr>
            <a:r>
              <a:rPr lang="en-US" sz="1400">
                <a:solidFill>
                  <a:srgbClr val="5C5C52"/>
                </a:solidFill>
              </a:rPr>
              <a:t>end to end, before handover prep</a:t>
            </a:r>
          </a:p>
        </p:txBody>
      </p:sp>
      <p:sp>
        <p:nvSpPr>
          <p:cNvPr id="7" name="KPIBar2">
            <a:extLst>
              <a:ext uri="{FF2B5EF4-FFF2-40B4-BE49-F238E27FC236}">
                <a16:creationId xmlns:a16="http://schemas.microsoft.com/office/drawing/2014/main" id="{A1468101-EE36-9A40-881A-8352A77F5789}"/>
              </a:ext>
            </a:extLst>
          </p:cNvPr>
          <p:cNvSpPr/>
          <p:nvPr/>
        </p:nvSpPr>
        <p:spPr>
          <a:xfrm>
            <a:off x="6248400" y="2641600"/>
            <a:ext cx="2590800" cy="762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KPI3">
            <a:extLst>
              <a:ext uri="{FF2B5EF4-FFF2-40B4-BE49-F238E27FC236}">
                <a16:creationId xmlns:a16="http://schemas.microsoft.com/office/drawing/2014/main" id="{BEDE9B98-0548-5D45-BD6B-468114410036}"/>
              </a:ext>
            </a:extLst>
          </p:cNvPr>
          <p:cNvSpPr/>
          <p:nvPr/>
        </p:nvSpPr>
        <p:spPr>
          <a:xfrm>
            <a:off x="9144000" y="1193800"/>
            <a:ext cx="2590800" cy="1524000"/>
          </a:xfrm>
          <a:prstGeom prst="rect">
            <a:avLst/>
          </a:prstGeom>
          <a:solidFill>
            <a:srgbClr val="FFFFFF"/>
          </a:solidFill>
          <a:ln w="9525" cap="flat" cmpd="sng" algn="ctr">
            <a:solidFill>
              <a:srgbClr val="DED7C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03200" tIns="152400" rIns="203200" bIns="127000" rtlCol="0" anchor="ctr" anchorCtr="0">
            <a:noAutofit/>
          </a:bodyPr>
          <a:lstStyle/>
          <a:p>
            <a:pPr algn="ctr">
              <a:lnSpc>
                <a:spcPts val="3200"/>
              </a:lnSpc>
              <a:buNone/>
            </a:pPr>
            <a:r>
              <a:rPr lang="en-US" sz="2800" b="1">
                <a:solidFill>
                  <a:srgbClr val="B5651D"/>
                </a:solidFill>
              </a:rPr>
              <a:t>2 people</a:t>
            </a:r>
          </a:p>
          <a:p>
            <a:pPr algn="ctr">
              <a:lnSpc>
                <a:spcPts val="1700"/>
              </a:lnSpc>
              <a:spcBef>
                <a:spcPts val="300"/>
              </a:spcBef>
              <a:buNone/>
            </a:pPr>
            <a:r>
              <a:rPr lang="en-US" sz="1400">
                <a:solidFill>
                  <a:srgbClr val="5C5C52"/>
                </a:solidFill>
              </a:rPr>
              <a:t>Isaak and Svanty engaged almost throughout</a:t>
            </a:r>
          </a:p>
        </p:txBody>
      </p:sp>
      <p:sp>
        <p:nvSpPr>
          <p:cNvPr id="9" name="KPIBar3">
            <a:extLst>
              <a:ext uri="{FF2B5EF4-FFF2-40B4-BE49-F238E27FC236}">
                <a16:creationId xmlns:a16="http://schemas.microsoft.com/office/drawing/2014/main" id="{811CA2C8-DA0D-4D42-A65D-FF0CF07D7831}"/>
              </a:ext>
            </a:extLst>
          </p:cNvPr>
          <p:cNvSpPr/>
          <p:nvPr/>
        </p:nvSpPr>
        <p:spPr>
          <a:xfrm>
            <a:off x="9144000" y="2641600"/>
            <a:ext cx="2590800" cy="76200"/>
          </a:xfrm>
          <a:prstGeom prst="rect">
            <a:avLst/>
          </a:prstGeom>
          <a:solidFill>
            <a:srgbClr val="2E5D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Label2">
            <a:extLst>
              <a:ext uri="{FF2B5EF4-FFF2-40B4-BE49-F238E27FC236}">
                <a16:creationId xmlns:a16="http://schemas.microsoft.com/office/drawing/2014/main" id="{D0140A56-7A06-C846-A880-2FBEB3DDC6D4}"/>
              </a:ext>
            </a:extLst>
          </p:cNvPr>
          <p:cNvSpPr txBox="1"/>
          <p:nvPr/>
        </p:nvSpPr>
        <p:spPr>
          <a:xfrm>
            <a:off x="457200" y="2971800"/>
            <a:ext cx="11277600" cy="228600"/>
          </a:xfrm>
          <a:prstGeom prst="rect">
            <a:avLst/>
          </a:prstGeom>
          <a:noFill/>
        </p:spPr>
        <p:txBody>
          <a:bodyPr vertOverflow="overflow" vert="horz" wrap="square" lIns="0" tIns="0" rIns="0" bIns="0" rtlCol="0" anchor="t">
            <a:noAutofit/>
          </a:bodyPr>
          <a:lstStyle/>
          <a:p>
            <a:pPr algn="l">
              <a:lnSpc>
                <a:spcPts val="1700"/>
              </a:lnSpc>
              <a:buNone/>
            </a:pPr>
            <a:r>
              <a:rPr lang="en-US" sz="1400" b="1">
                <a:solidFill>
                  <a:srgbClr val="B5651D"/>
                </a:solidFill>
              </a:rPr>
              <a:t>WHAT WE SEE TODAY</a:t>
            </a:r>
          </a:p>
        </p:txBody>
      </p:sp>
    </p:spTree>
    <p:extLst>
      <p:ext uri="{BB962C8B-B14F-4D97-AF65-F5344CB8AC3E}">
        <p14:creationId xmlns:p14="http://schemas.microsoft.com/office/powerpoint/2010/main" val="40772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7F0">
            <a:alpha val="100000"/>
          </a:srgbClr>
        </a:solidFill>
        <a:effectLst/>
      </p:bgPr>
    </p:bg>
    <p:spTree>
      <p:nvGrpSpPr>
        <p:cNvPr id="1" name=""/>
        <p:cNvGrpSpPr/>
        <p:nvPr/>
      </p:nvGrpSpPr>
      <p:grpSpPr>
        <a:xfrm>
          <a:off x="0" y="0"/>
          <a:ext cx="0" cy="0"/>
          <a:chOff x="0" y="0"/>
          <a:chExt cx="0" cy="0"/>
        </a:xfrm>
      </p:grpSpPr>
      <p:sp>
        <p:nvSpPr>
          <p:cNvPr id="301" name="Shape 301"/>
          <p:cNvSpPr/>
          <p:nvPr/>
        </p:nvSpPr>
        <p:spPr>
          <a:xfrm>
            <a:off x="457200" y="718949"/>
            <a:ext cx="11277600" cy="558800"/>
          </a:xfrm>
          <a:prstGeom prst="rect">
            <a:avLst/>
          </a:prstGeom>
          <a:noFill/>
          <a:ln>
            <a:noFill/>
          </a:ln>
        </p:spPr>
        <p:txBody>
          <a:bodyPr wrap="square" lIns="0" tIns="0" rIns="0" bIns="0" anchor="t">
            <a:noAutofit/>
          </a:bodyPr>
          <a:lstStyle/>
          <a:p>
            <a:pPr algn="l">
              <a:lnSpc>
                <a:spcPts val="3400"/>
              </a:lnSpc>
              <a:buNone/>
            </a:pPr>
            <a:r>
              <a:rPr lang="en-US" sz="3000" b="1">
                <a:solidFill>
                  <a:srgbClr val="1E3B2F"/>
                </a:solidFill>
              </a:rPr>
              <a:t>Where to Focus</a:t>
            </a:r>
          </a:p>
        </p:txBody>
      </p:sp>
      <p:sp>
        <p:nvSpPr>
          <p:cNvPr id="313" name="Shape 313"/>
          <p:cNvSpPr/>
          <p:nvPr/>
        </p:nvSpPr>
        <p:spPr>
          <a:xfrm>
            <a:off x="483030" y="1270000"/>
            <a:ext cx="5602637" cy="3302000"/>
          </a:xfrm>
          <a:prstGeom prst="rect">
            <a:avLst/>
          </a:prstGeom>
          <a:solidFill>
            <a:srgbClr val="FFFFFF"/>
          </a:solidFill>
          <a:ln w="9525">
            <a:solidFill>
              <a:srgbClr val="DED7C9"/>
            </a:solidFill>
          </a:ln>
        </p:spPr>
        <p:txBody>
          <a:bodyPr wrap="square" lIns="203200" tIns="152400" rIns="177800" bIns="127000" anchor="t" anchorCtr="0">
            <a:noAutofit/>
          </a:bodyPr>
          <a:lstStyle/>
          <a:p>
            <a:pPr algn="l">
              <a:lnSpc>
                <a:spcPts val="1900"/>
              </a:lnSpc>
              <a:buNone/>
            </a:pPr>
            <a:r>
              <a:rPr lang="en-US" sz="1700" b="1">
                <a:solidFill>
                  <a:srgbClr val="1E3B2F"/>
                </a:solidFill>
              </a:rPr>
              <a:t>Quick wins · less friction and risk, small time gains</a:t>
            </a:r>
          </a:p>
          <a:p>
            <a:pPr marL="157480" indent="-157480">
              <a:lnSpc>
                <a:spcPts val="2000"/>
              </a:lnSpc>
              <a:spcBef>
                <a:spcPts val="500"/>
              </a:spcBef>
              <a:buFont typeface="Arial"/>
              <a:buChar char="•"/>
            </a:pPr>
            <a:r>
              <a:rPr lang="en-US" sz="1600" err="1">
                <a:solidFill>
                  <a:srgbClr val="5C5C52"/>
                </a:solidFill>
              </a:rPr>
              <a:t>Minimise</a:t>
            </a:r>
            <a:r>
              <a:rPr lang="en-US" sz="1600">
                <a:solidFill>
                  <a:srgbClr val="5C5C52"/>
                </a:solidFill>
              </a:rPr>
              <a:t> unnecessary manual steps during the release itself</a:t>
            </a:r>
          </a:p>
          <a:p>
            <a:pPr marL="157480" indent="-157480" algn="l">
              <a:lnSpc>
                <a:spcPts val="2000"/>
              </a:lnSpc>
              <a:spcBef>
                <a:spcPts val="500"/>
              </a:spcBef>
              <a:buFont typeface="Arial"/>
              <a:buChar char="•"/>
            </a:pPr>
            <a:r>
              <a:rPr lang="en-US" sz="1600">
                <a:solidFill>
                  <a:srgbClr val="5C5C52"/>
                </a:solidFill>
              </a:rPr>
              <a:t>Improve handover documentation quality so runbook creation stops stalling on chasing clarifications</a:t>
            </a:r>
          </a:p>
          <a:p>
            <a:pPr marL="157480" indent="-157480" algn="l">
              <a:lnSpc>
                <a:spcPts val="2000"/>
              </a:lnSpc>
              <a:spcBef>
                <a:spcPts val="500"/>
              </a:spcBef>
              <a:buFont typeface="Arial"/>
              <a:buChar char="•"/>
            </a:pPr>
            <a:r>
              <a:rPr lang="en-US" sz="1600">
                <a:solidFill>
                  <a:srgbClr val="5C5C52"/>
                </a:solidFill>
              </a:rPr>
              <a:t>Platform will liaise with QA to formalise acceptable evidence to fully automate the OQ document</a:t>
            </a:r>
          </a:p>
          <a:p>
            <a:pPr marL="157480" indent="-157480" algn="l">
              <a:lnSpc>
                <a:spcPts val="2000"/>
              </a:lnSpc>
              <a:spcBef>
                <a:spcPts val="500"/>
              </a:spcBef>
              <a:buFont typeface="Arial"/>
              <a:buChar char="•"/>
            </a:pPr>
            <a:r>
              <a:rPr lang="en-US" sz="1600">
                <a:solidFill>
                  <a:srgbClr val="5C5C52"/>
                </a:solidFill>
              </a:rPr>
              <a:t>One standard announcement per release step in the channel, no individual tagging required</a:t>
            </a:r>
          </a:p>
          <a:p>
            <a:pPr marL="157480" indent="-157480" algn="l">
              <a:lnSpc>
                <a:spcPts val="2000"/>
              </a:lnSpc>
              <a:spcBef>
                <a:spcPts val="500"/>
              </a:spcBef>
              <a:buFont typeface="Arial"/>
              <a:buChar char="•"/>
            </a:pPr>
            <a:r>
              <a:rPr lang="en-US" sz="1600">
                <a:solidFill>
                  <a:srgbClr val="5C5C52"/>
                </a:solidFill>
              </a:rPr>
              <a:t>Agree what we monitor per environment, and who owns it</a:t>
            </a:r>
          </a:p>
        </p:txBody>
      </p:sp>
      <p:sp>
        <p:nvSpPr>
          <p:cNvPr id="314" name="Shape 314"/>
          <p:cNvSpPr/>
          <p:nvPr/>
        </p:nvSpPr>
        <p:spPr>
          <a:xfrm>
            <a:off x="457200" y="1270000"/>
            <a:ext cx="63500" cy="3302000"/>
          </a:xfrm>
          <a:prstGeom prst="rect">
            <a:avLst/>
          </a:prstGeom>
          <a:solidFill>
            <a:srgbClr val="B5651D"/>
          </a:solidFill>
          <a:ln>
            <a:noFill/>
          </a:ln>
        </p:spPr>
        <p:txBody>
          <a:bodyPr wrap="square" lIns="203200" tIns="152400" rIns="177800" bIns="127000" anchor="t">
            <a:noAutofit/>
          </a:bodyPr>
          <a:lstStyle/>
          <a:p>
            <a:endParaRPr lang="en-US"/>
          </a:p>
        </p:txBody>
      </p:sp>
      <p:sp>
        <p:nvSpPr>
          <p:cNvPr id="315" name="Shape 315"/>
          <p:cNvSpPr/>
          <p:nvPr/>
        </p:nvSpPr>
        <p:spPr>
          <a:xfrm>
            <a:off x="6312976" y="1270000"/>
            <a:ext cx="5486400" cy="3302000"/>
          </a:xfrm>
          <a:prstGeom prst="rect">
            <a:avLst/>
          </a:prstGeom>
          <a:solidFill>
            <a:srgbClr val="FFFFFF"/>
          </a:solidFill>
          <a:ln w="9525">
            <a:solidFill>
              <a:srgbClr val="DED7C9"/>
            </a:solidFill>
          </a:ln>
        </p:spPr>
        <p:txBody>
          <a:bodyPr wrap="square" lIns="203200" tIns="152400" rIns="177800" bIns="127000" anchor="t" anchorCtr="0">
            <a:noAutofit/>
          </a:bodyPr>
          <a:lstStyle/>
          <a:p>
            <a:pPr algn="l">
              <a:lnSpc>
                <a:spcPts val="1900"/>
              </a:lnSpc>
              <a:buNone/>
            </a:pPr>
            <a:r>
              <a:rPr lang="en-US" sz="1700" b="1">
                <a:solidFill>
                  <a:srgbClr val="1E3B2F"/>
                </a:solidFill>
              </a:rPr>
              <a:t>Structural plays · the only route to one-day releases</a:t>
            </a:r>
          </a:p>
          <a:p>
            <a:pPr marL="157480" indent="-157480" algn="l">
              <a:lnSpc>
                <a:spcPts val="2000"/>
              </a:lnSpc>
              <a:spcBef>
                <a:spcPts val="500"/>
              </a:spcBef>
              <a:buFont typeface="Arial"/>
              <a:buChar char="•"/>
            </a:pPr>
            <a:r>
              <a:rPr lang="en-US" sz="1600" b="1">
                <a:solidFill>
                  <a:srgbClr val="B5651D"/>
                </a:solidFill>
              </a:rPr>
              <a:t>Raise the quality bar at handover — </a:t>
            </a:r>
            <a:r>
              <a:rPr lang="en-US" sz="1600">
                <a:solidFill>
                  <a:srgbClr val="5C5C52"/>
                </a:solidFill>
              </a:rPr>
              <a:t>code must arrive tested and verified against a defined exit standard</a:t>
            </a:r>
          </a:p>
          <a:p>
            <a:pPr marL="157480" indent="-157480" algn="l">
              <a:lnSpc>
                <a:spcPts val="2000"/>
              </a:lnSpc>
              <a:spcBef>
                <a:spcPts val="500"/>
              </a:spcBef>
              <a:buFont typeface="Arial"/>
              <a:buChar char="•"/>
            </a:pPr>
            <a:r>
              <a:rPr lang="en-US" sz="1600" b="1">
                <a:solidFill>
                  <a:srgbClr val="B5651D"/>
                </a:solidFill>
              </a:rPr>
              <a:t>Test earlier and deeper — </a:t>
            </a:r>
            <a:r>
              <a:rPr lang="en-US" sz="1600">
                <a:solidFill>
                  <a:srgbClr val="5C5C52"/>
                </a:solidFill>
              </a:rPr>
              <a:t>so defects surface in dev, not late</a:t>
            </a:r>
          </a:p>
          <a:p>
            <a:pPr marL="157480" indent="-157480" algn="l">
              <a:lnSpc>
                <a:spcPts val="2000"/>
              </a:lnSpc>
              <a:spcBef>
                <a:spcPts val="500"/>
              </a:spcBef>
              <a:buFont typeface="Arial"/>
              <a:buChar char="•"/>
            </a:pPr>
            <a:r>
              <a:rPr lang="en-US" sz="1600" b="1">
                <a:solidFill>
                  <a:srgbClr val="B5651D"/>
                </a:solidFill>
              </a:rPr>
              <a:t>Rework the pipelines — </a:t>
            </a:r>
            <a:r>
              <a:rPr lang="en-US" sz="1600">
                <a:solidFill>
                  <a:srgbClr val="5C5C52"/>
                </a:solidFill>
              </a:rPr>
              <a:t>reduce complexity, not just the copy-paste</a:t>
            </a:r>
          </a:p>
          <a:p>
            <a:pPr marL="157480" indent="-157480" algn="l">
              <a:lnSpc>
                <a:spcPts val="2000"/>
              </a:lnSpc>
              <a:spcBef>
                <a:spcPts val="500"/>
              </a:spcBef>
              <a:buFont typeface="Arial"/>
              <a:buChar char="•"/>
            </a:pPr>
            <a:r>
              <a:rPr lang="en-US" sz="1600">
                <a:solidFill>
                  <a:srgbClr val="5C5C52"/>
                </a:solidFill>
              </a:rPr>
              <a:t>Release regions in parallel, not eight environments in sequence</a:t>
            </a:r>
          </a:p>
        </p:txBody>
      </p:sp>
      <p:sp>
        <p:nvSpPr>
          <p:cNvPr id="316" name="Shape 316"/>
          <p:cNvSpPr/>
          <p:nvPr/>
        </p:nvSpPr>
        <p:spPr>
          <a:xfrm>
            <a:off x="6248400" y="1270000"/>
            <a:ext cx="63500" cy="3302000"/>
          </a:xfrm>
          <a:prstGeom prst="rect">
            <a:avLst/>
          </a:prstGeom>
          <a:solidFill>
            <a:srgbClr val="2E5D4B"/>
          </a:solidFill>
          <a:ln>
            <a:noFill/>
          </a:ln>
        </p:spPr>
        <p:txBody>
          <a:bodyPr wrap="square" lIns="203200" tIns="152400" rIns="177800" bIns="127000" anchor="t">
            <a:noAutofit/>
          </a:bodyPr>
          <a:lstStyle/>
          <a:p>
            <a:endParaRPr lang="en-US"/>
          </a:p>
        </p:txBody>
      </p:sp>
      <p:sp>
        <p:nvSpPr>
          <p:cNvPr id="317" name="Shape 317"/>
          <p:cNvSpPr/>
          <p:nvPr/>
        </p:nvSpPr>
        <p:spPr>
          <a:xfrm>
            <a:off x="457200" y="4902200"/>
            <a:ext cx="11277600" cy="1143000"/>
          </a:xfrm>
          <a:prstGeom prst="rect">
            <a:avLst/>
          </a:prstGeom>
          <a:solidFill>
            <a:srgbClr val="F2EBE0"/>
          </a:solidFill>
          <a:ln>
            <a:noFill/>
          </a:ln>
        </p:spPr>
        <p:txBody>
          <a:bodyPr wrap="square" lIns="203200" tIns="152400" rIns="177800" bIns="127000" anchor="t">
            <a:noAutofit/>
          </a:bodyPr>
          <a:lstStyle/>
          <a:p>
            <a:endParaRPr lang="en-US"/>
          </a:p>
        </p:txBody>
      </p:sp>
      <p:sp>
        <p:nvSpPr>
          <p:cNvPr id="318" name="Shape 318"/>
          <p:cNvSpPr/>
          <p:nvPr/>
        </p:nvSpPr>
        <p:spPr>
          <a:xfrm>
            <a:off x="457200" y="4902200"/>
            <a:ext cx="63500" cy="1143000"/>
          </a:xfrm>
          <a:prstGeom prst="rect">
            <a:avLst/>
          </a:prstGeom>
          <a:solidFill>
            <a:srgbClr val="B5651D"/>
          </a:solidFill>
          <a:ln>
            <a:noFill/>
          </a:ln>
        </p:spPr>
        <p:txBody>
          <a:bodyPr wrap="square" lIns="203200" tIns="152400" rIns="177800" bIns="127000" anchor="t">
            <a:noAutofit/>
          </a:bodyPr>
          <a:lstStyle/>
          <a:p>
            <a:endParaRPr lang="en-US"/>
          </a:p>
        </p:txBody>
      </p:sp>
      <p:sp>
        <p:nvSpPr>
          <p:cNvPr id="319" name="Shape 319"/>
          <p:cNvSpPr/>
          <p:nvPr/>
        </p:nvSpPr>
        <p:spPr>
          <a:xfrm>
            <a:off x="685800" y="4953000"/>
            <a:ext cx="10896600" cy="1041400"/>
          </a:xfrm>
          <a:prstGeom prst="rect">
            <a:avLst/>
          </a:prstGeom>
          <a:noFill/>
          <a:ln>
            <a:noFill/>
          </a:ln>
        </p:spPr>
        <p:txBody>
          <a:bodyPr wrap="square" lIns="101600" tIns="25400" rIns="50800" bIns="25400" anchor="ctr" anchorCtr="0">
            <a:noAutofit/>
          </a:bodyPr>
          <a:lstStyle/>
          <a:p>
            <a:pPr algn="l">
              <a:lnSpc>
                <a:spcPts val="1900"/>
              </a:lnSpc>
              <a:buNone/>
            </a:pPr>
            <a:r>
              <a:rPr lang="en-US" sz="1600" b="1">
                <a:solidFill>
                  <a:srgbClr val="B5651D"/>
                </a:solidFill>
              </a:rPr>
              <a:t>Food for thought: </a:t>
            </a:r>
          </a:p>
          <a:p>
            <a:pPr algn="l">
              <a:lnSpc>
                <a:spcPts val="1900"/>
              </a:lnSpc>
              <a:buNone/>
            </a:pPr>
            <a:r>
              <a:rPr lang="en-US" sz="1600" b="1">
                <a:solidFill>
                  <a:srgbClr val="B5651D"/>
                </a:solidFill>
              </a:rPr>
              <a:t>- </a:t>
            </a:r>
            <a:r>
              <a:rPr lang="en-US" sz="1600">
                <a:solidFill>
                  <a:srgbClr val="5C5C52"/>
                </a:solidFill>
              </a:rPr>
              <a:t>The quick wins remove friction and risk, but together they shave only a couple of hours off the whole release. They will not turn a six-day release into a one-day release.</a:t>
            </a:r>
          </a:p>
          <a:p>
            <a:pPr algn="l">
              <a:lnSpc>
                <a:spcPts val="1900"/>
              </a:lnSpc>
              <a:spcBef>
                <a:spcPts val="200"/>
              </a:spcBef>
              <a:buNone/>
            </a:pPr>
            <a:r>
              <a:rPr lang="en-US" sz="1600">
                <a:solidFill>
                  <a:srgbClr val="5C5C52"/>
                </a:solidFill>
              </a:rPr>
              <a:t>- A one-day release is a structural target which will require a sustained effort.</a:t>
            </a:r>
          </a:p>
        </p:txBody>
      </p:sp>
    </p:spTree>
    <p:extLst>
      <p:ext uri="{BB962C8B-B14F-4D97-AF65-F5344CB8AC3E}">
        <p14:creationId xmlns:p14="http://schemas.microsoft.com/office/powerpoint/2010/main" val="3739988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The </a:t>
            </a:r>
            <a:r>
              <a:rPr lang="en-US" sz="3400">
                <a:solidFill>
                  <a:srgbClr val="000000"/>
                </a:solidFill>
                <a:latin typeface="Viedoc Monument Grotesk"/>
              </a:rPr>
              <a:t>PQ and VIRP</a:t>
            </a:r>
            <a:r>
              <a:rPr sz="3400">
                <a:solidFill>
                  <a:srgbClr val="000000"/>
                </a:solidFill>
                <a:latin typeface="Viedoc Monument Grotesk"/>
              </a:rPr>
              <a:t> process</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05</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Yupei Li   ·   15 min</a:t>
            </a:r>
          </a:p>
        </p:txBody>
      </p:sp>
      <p:sp>
        <p:nvSpPr>
          <p:cNvPr id="5" name="TextBox 4"/>
          <p:cNvSpPr txBox="1"/>
          <p:nvPr/>
        </p:nvSpPr>
        <p:spPr>
          <a:xfrm>
            <a:off x="384048" y="4937760"/>
            <a:ext cx="6949440" cy="1097280"/>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How VIRP works and where it sits in the release flow. Generation and deployment are both manual today.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The</a:t>
            </a:r>
            <a:r>
              <a:rPr lang="en-US" sz="2400">
                <a:solidFill>
                  <a:srgbClr val="000000"/>
                </a:solidFill>
                <a:latin typeface="Viedoc Monument Grotesk"/>
              </a:rPr>
              <a:t> PQ process</a:t>
            </a:r>
            <a:endParaRPr sz="2400">
              <a:solidFill>
                <a:srgbClr val="000000"/>
              </a:solidFill>
              <a:latin typeface="Viedoc Monument Grotesk"/>
            </a:endParaRPr>
          </a:p>
        </p:txBody>
      </p:sp>
      <p:sp>
        <p:nvSpPr>
          <p:cNvPr id="5" name="TextBox 4"/>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pic>
        <p:nvPicPr>
          <p:cNvPr id="9" name="Picture 8">
            <a:extLst>
              <a:ext uri="{FF2B5EF4-FFF2-40B4-BE49-F238E27FC236}">
                <a16:creationId xmlns:a16="http://schemas.microsoft.com/office/drawing/2014/main" id="{A5F9B356-43A3-D56F-9B8C-C4A2FAA757CC}"/>
              </a:ext>
            </a:extLst>
          </p:cNvPr>
          <p:cNvPicPr>
            <a:picLocks noChangeAspect="1"/>
          </p:cNvPicPr>
          <p:nvPr/>
        </p:nvPicPr>
        <p:blipFill>
          <a:blip r:embed="rId2"/>
          <a:stretch>
            <a:fillRect/>
          </a:stretch>
        </p:blipFill>
        <p:spPr>
          <a:xfrm>
            <a:off x="5380543" y="601978"/>
            <a:ext cx="6123479" cy="2185127"/>
          </a:xfrm>
          <a:prstGeom prst="rect">
            <a:avLst/>
          </a:prstGeom>
        </p:spPr>
      </p:pic>
      <p:graphicFrame>
        <p:nvGraphicFramePr>
          <p:cNvPr id="13" name="Table 0">
            <a:extLst>
              <a:ext uri="{FF2B5EF4-FFF2-40B4-BE49-F238E27FC236}">
                <a16:creationId xmlns:a16="http://schemas.microsoft.com/office/drawing/2014/main" id="{539AA3F9-1CF1-122C-B634-A022E0797B5E}"/>
              </a:ext>
            </a:extLst>
          </p:cNvPr>
          <p:cNvGraphicFramePr>
            <a:graphicFrameLocks noGrp="1"/>
          </p:cNvGraphicFramePr>
          <p:nvPr/>
        </p:nvGraphicFramePr>
        <p:xfrm>
          <a:off x="472440" y="3145247"/>
          <a:ext cx="11247120" cy="2011680"/>
        </p:xfrm>
        <a:graphic>
          <a:graphicData uri="http://schemas.openxmlformats.org/drawingml/2006/table">
            <a:tbl>
              <a:tblPr/>
              <a:tblGrid>
                <a:gridCol w="548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gridCol w="2148840">
                  <a:extLst>
                    <a:ext uri="{9D8B030D-6E8A-4147-A177-3AD203B41FA5}">
                      <a16:colId xmlns:a16="http://schemas.microsoft.com/office/drawing/2014/main" val="20005"/>
                    </a:ext>
                  </a:extLst>
                </a:gridCol>
              </a:tblGrid>
              <a:tr h="0">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Step</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Description</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Time</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Problem</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Painpoint</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Must do/Required</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1</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Prepare PQ specification file (~1 week before Staging). Doc ID &amp; names updated manually; Claude Skills used; including content check.</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E2761"/>
                          </a:solidFill>
                          <a:latin typeface="Calibri" pitchFamily="34" charset="0"/>
                          <a:ea typeface="Calibri" pitchFamily="34" charset="-122"/>
                          <a:cs typeface="Calibri" pitchFamily="34" charset="-120"/>
                        </a:rPr>
                        <a:t>~40 min</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6B6B6B"/>
                          </a:solidFill>
                          <a:latin typeface="Calibri" pitchFamily="34" charset="0"/>
                          <a:ea typeface="Calibri" pitchFamily="34" charset="-122"/>
                          <a:cs typeface="Calibri" pitchFamily="34" charset="-120"/>
                        </a:rPr>
                        <a:t>Doc ID and names must be updated by hand every time.</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C0392B"/>
                          </a:solidFill>
                          <a:latin typeface="Calibri" pitchFamily="34" charset="0"/>
                          <a:ea typeface="Calibri" pitchFamily="34" charset="-122"/>
                          <a:cs typeface="Calibri" pitchFamily="34" charset="-120"/>
                        </a:rPr>
                        <a:t>Repetitive manual entry despite Claude Skills; time lost on formatting, not content.</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2</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Share file with Ganesh to review / request changes.</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b="1">
                          <a:solidFill>
                            <a:srgbClr val="1E2761"/>
                          </a:solidFill>
                          <a:latin typeface="Calibri" pitchFamily="34" charset="0"/>
                          <a:ea typeface="Calibri" pitchFamily="34" charset="-122"/>
                          <a:cs typeface="Calibri" pitchFamily="34" charset="-120"/>
                        </a:rPr>
                        <a:t>Hard to timebox</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6B6B6B"/>
                          </a:solidFill>
                          <a:latin typeface="Calibri" pitchFamily="34" charset="0"/>
                          <a:ea typeface="Calibri" pitchFamily="34" charset="-122"/>
                          <a:cs typeface="Calibri" pitchFamily="34" charset="-120"/>
                        </a:rPr>
                        <a:t>No fixed turnaround time for feedback.</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Feedback must be incorporated before signature.</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3</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Send final file to QA Manager &amp; CPO for signature.</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E2761"/>
                          </a:solidFill>
                          <a:latin typeface="Calibri" pitchFamily="34" charset="0"/>
                          <a:ea typeface="Calibri" pitchFamily="34" charset="-122"/>
                          <a:cs typeface="Calibri" pitchFamily="34" charset="-120"/>
                        </a:rPr>
                        <a:t>Hard to timebox</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6B6B6B"/>
                          </a:solidFill>
                          <a:latin typeface="Calibri" pitchFamily="34" charset="0"/>
                          <a:ea typeface="Calibri" pitchFamily="34" charset="-122"/>
                          <a:cs typeface="Calibri" pitchFamily="34" charset="-120"/>
                        </a:rPr>
                        <a:t>Signature timing is outside process owner's control.</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Both signatures required before archiving.</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4</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Archive the signed file to the Release Binder SharePoint folder.</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b="1">
                          <a:solidFill>
                            <a:srgbClr val="1E2761"/>
                          </a:solidFill>
                          <a:latin typeface="Calibri" pitchFamily="34" charset="0"/>
                          <a:ea typeface="Calibri" pitchFamily="34" charset="-122"/>
                          <a:cs typeface="Calibri" pitchFamily="34" charset="-120"/>
                        </a:rPr>
                        <a:t>Manual</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6B6B6B"/>
                          </a:solidFill>
                          <a:latin typeface="Calibri" pitchFamily="34" charset="0"/>
                          <a:ea typeface="Calibri" pitchFamily="34" charset="-122"/>
                          <a:cs typeface="Calibri" pitchFamily="34" charset="-120"/>
                        </a:rPr>
                        <a:t>Manual filing step, no automation.</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C0392B"/>
                          </a:solidFill>
                          <a:latin typeface="Calibri" pitchFamily="34" charset="0"/>
                          <a:ea typeface="Calibri" pitchFamily="34" charset="-122"/>
                          <a:cs typeface="Calibri" pitchFamily="34" charset="-120"/>
                        </a:rPr>
                        <a:t>Purely administrative, repetitive filing work..</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15" name="TextBox 14">
            <a:extLst>
              <a:ext uri="{FF2B5EF4-FFF2-40B4-BE49-F238E27FC236}">
                <a16:creationId xmlns:a16="http://schemas.microsoft.com/office/drawing/2014/main" id="{B816C0E2-BA8A-3DDE-9152-E5C84E46E9F6}"/>
              </a:ext>
            </a:extLst>
          </p:cNvPr>
          <p:cNvSpPr txBox="1"/>
          <p:nvPr/>
        </p:nvSpPr>
        <p:spPr>
          <a:xfrm>
            <a:off x="472440" y="2424782"/>
            <a:ext cx="6096000" cy="492443"/>
          </a:xfrm>
          <a:prstGeom prst="rect">
            <a:avLst/>
          </a:prstGeom>
          <a:noFill/>
        </p:spPr>
        <p:txBody>
          <a:bodyPr wrap="square">
            <a:spAutoFit/>
          </a:bodyPr>
          <a:lstStyle/>
          <a:p>
            <a:r>
              <a:rPr lang="en-US" sz="2600" b="1">
                <a:solidFill>
                  <a:srgbClr val="1E2761"/>
                </a:solidFill>
                <a:latin typeface="Cambria" pitchFamily="34" charset="0"/>
                <a:ea typeface="Cambria" pitchFamily="34" charset="-122"/>
                <a:cs typeface="Cambria" pitchFamily="34" charset="-120"/>
              </a:rPr>
              <a:t>PQ Specification &amp; Sign-off</a:t>
            </a:r>
            <a:endParaRPr lang="en-US"/>
          </a:p>
        </p:txBody>
      </p:sp>
      <p:sp>
        <p:nvSpPr>
          <p:cNvPr id="16" name="TextBox 15">
            <a:extLst>
              <a:ext uri="{FF2B5EF4-FFF2-40B4-BE49-F238E27FC236}">
                <a16:creationId xmlns:a16="http://schemas.microsoft.com/office/drawing/2014/main" id="{71EF3FC4-775A-169A-836C-8F6C83B227EE}"/>
              </a:ext>
            </a:extLst>
          </p:cNvPr>
          <p:cNvSpPr txBox="1"/>
          <p:nvPr/>
        </p:nvSpPr>
        <p:spPr>
          <a:xfrm>
            <a:off x="397313" y="1681690"/>
            <a:ext cx="4705970" cy="692497"/>
          </a:xfrm>
          <a:prstGeom prst="rect">
            <a:avLst/>
          </a:prstGeom>
          <a:noFill/>
        </p:spPr>
        <p:txBody>
          <a:bodyPr wrap="square" lIns="91440" tIns="45720" rIns="91440" bIns="45720" rtlCol="0" anchor="t">
            <a:spAutoFit/>
          </a:bodyPr>
          <a:lstStyle/>
          <a:p>
            <a:r>
              <a:rPr lang="en-US" sz="1300"/>
              <a:t>2 documents</a:t>
            </a:r>
          </a:p>
          <a:p>
            <a:r>
              <a:rPr lang="en-US" sz="1300"/>
              <a:t>One of them can only be completed after Staging</a:t>
            </a:r>
          </a:p>
          <a:p>
            <a:r>
              <a:rPr lang="en-US" sz="1300"/>
              <a:t>PQ takes normally 3 days </a:t>
            </a:r>
          </a:p>
        </p:txBody>
      </p:sp>
    </p:spTree>
    <p:extLst>
      <p:ext uri="{BB962C8B-B14F-4D97-AF65-F5344CB8AC3E}">
        <p14:creationId xmlns:p14="http://schemas.microsoft.com/office/powerpoint/2010/main" val="2276187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43896-95E2-89DD-BD5C-665BFF8B6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F4446-D544-A61C-FC55-BC6C01CAD5C2}"/>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The</a:t>
            </a:r>
            <a:r>
              <a:rPr lang="en-US" sz="2400">
                <a:solidFill>
                  <a:srgbClr val="000000"/>
                </a:solidFill>
                <a:latin typeface="Viedoc Monument Grotesk"/>
              </a:rPr>
              <a:t> PQ process</a:t>
            </a:r>
            <a:endParaRPr sz="2400">
              <a:solidFill>
                <a:srgbClr val="000000"/>
              </a:solidFill>
              <a:latin typeface="Viedoc Monument Grotesk"/>
            </a:endParaRPr>
          </a:p>
        </p:txBody>
      </p:sp>
      <p:sp>
        <p:nvSpPr>
          <p:cNvPr id="5" name="TextBox 4">
            <a:extLst>
              <a:ext uri="{FF2B5EF4-FFF2-40B4-BE49-F238E27FC236}">
                <a16:creationId xmlns:a16="http://schemas.microsoft.com/office/drawing/2014/main" id="{100885EB-78AA-E0F0-BE11-70A917B54240}"/>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pic>
        <p:nvPicPr>
          <p:cNvPr id="9" name="Picture 8">
            <a:extLst>
              <a:ext uri="{FF2B5EF4-FFF2-40B4-BE49-F238E27FC236}">
                <a16:creationId xmlns:a16="http://schemas.microsoft.com/office/drawing/2014/main" id="{0263FE6C-4927-59DB-8A53-EE581A7D4D19}"/>
              </a:ext>
            </a:extLst>
          </p:cNvPr>
          <p:cNvPicPr>
            <a:picLocks noChangeAspect="1"/>
          </p:cNvPicPr>
          <p:nvPr/>
        </p:nvPicPr>
        <p:blipFill>
          <a:blip r:embed="rId2"/>
          <a:stretch>
            <a:fillRect/>
          </a:stretch>
        </p:blipFill>
        <p:spPr>
          <a:xfrm>
            <a:off x="5380543" y="601978"/>
            <a:ext cx="6123479" cy="2185127"/>
          </a:xfrm>
          <a:prstGeom prst="rect">
            <a:avLst/>
          </a:prstGeom>
        </p:spPr>
      </p:pic>
      <p:graphicFrame>
        <p:nvGraphicFramePr>
          <p:cNvPr id="13" name="Table 0">
            <a:extLst>
              <a:ext uri="{FF2B5EF4-FFF2-40B4-BE49-F238E27FC236}">
                <a16:creationId xmlns:a16="http://schemas.microsoft.com/office/drawing/2014/main" id="{D3F9BE11-7648-570F-B336-618155333A70}"/>
              </a:ext>
            </a:extLst>
          </p:cNvPr>
          <p:cNvGraphicFramePr>
            <a:graphicFrameLocks noGrp="1"/>
          </p:cNvGraphicFramePr>
          <p:nvPr>
            <p:extLst>
              <p:ext uri="{D42A27DB-BD31-4B8C-83A1-F6EECF244321}">
                <p14:modId xmlns:p14="http://schemas.microsoft.com/office/powerpoint/2010/main" val="261233842"/>
              </p:ext>
            </p:extLst>
          </p:nvPr>
        </p:nvGraphicFramePr>
        <p:xfrm>
          <a:off x="472440" y="3145247"/>
          <a:ext cx="11247120" cy="2468880"/>
        </p:xfrm>
        <a:graphic>
          <a:graphicData uri="http://schemas.openxmlformats.org/drawingml/2006/table">
            <a:tbl>
              <a:tblPr/>
              <a:tblGrid>
                <a:gridCol w="548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gridCol w="2148840">
                  <a:extLst>
                    <a:ext uri="{9D8B030D-6E8A-4147-A177-3AD203B41FA5}">
                      <a16:colId xmlns:a16="http://schemas.microsoft.com/office/drawing/2014/main" val="20005"/>
                    </a:ext>
                  </a:extLst>
                </a:gridCol>
              </a:tblGrid>
              <a:tr h="0">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Step</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Description</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Time</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Problem</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Painpoint</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Must do/Required</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5</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1A1A1A"/>
                          </a:solidFill>
                          <a:latin typeface="Calibri"/>
                          <a:ea typeface="Calibri"/>
                          <a:cs typeface="Calibri"/>
                        </a:rPr>
                        <a:t>Prepare PQ result document reflecting the PQ specification. Doc ID &amp; names updated manually; Claude Skills used; including content check.</a:t>
                      </a:r>
                      <a:endParaRPr lang="en-US" sz="1000">
                        <a:latin typeface="Calibri"/>
                        <a:ea typeface="Calibri"/>
                        <a:cs typeface="Calibri"/>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E2761"/>
                          </a:solidFill>
                          <a:latin typeface="Calibri" pitchFamily="34" charset="0"/>
                          <a:ea typeface="Calibri" pitchFamily="34" charset="-122"/>
                          <a:cs typeface="Calibri" pitchFamily="34" charset="-120"/>
                        </a:rPr>
                        <a:t>~40 min</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6B6B6B"/>
                          </a:solidFill>
                          <a:latin typeface="Calibri" pitchFamily="34" charset="0"/>
                          <a:ea typeface="Calibri" pitchFamily="34" charset="-122"/>
                          <a:cs typeface="Calibri" pitchFamily="34" charset="-120"/>
                        </a:rPr>
                        <a:t>Same manual ID/name updates as Step 1 — duplicated effort.</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C0392B"/>
                          </a:solidFill>
                          <a:latin typeface="Calibri" pitchFamily="34" charset="0"/>
                          <a:ea typeface="Calibri" pitchFamily="34" charset="-122"/>
                          <a:cs typeface="Calibri" pitchFamily="34" charset="-120"/>
                        </a:rPr>
                        <a:t>Redundant manual work mirroring Step 1's problem.</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Result doc must accurately reflect the specification.</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6</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Call out PQ testing team to perform PQ per specification once Staging is done. </a:t>
                      </a:r>
                    </a:p>
                    <a:p>
                      <a:pPr marL="0" indent="0">
                        <a:buNone/>
                      </a:pPr>
                      <a:r>
                        <a:rPr lang="en-US" sz="1000">
                          <a:solidFill>
                            <a:srgbClr val="1A1A1A"/>
                          </a:solidFill>
                          <a:latin typeface="Calibri" pitchFamily="34" charset="0"/>
                          <a:ea typeface="Calibri" pitchFamily="34" charset="-122"/>
                          <a:cs typeface="Calibri" pitchFamily="34" charset="-120"/>
                        </a:rPr>
                        <a:t>PQ test</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lgn="l" defTabSz="914400" rtl="0" eaLnBrk="1" latinLnBrk="0" hangingPunct="1">
                        <a:buNone/>
                      </a:pPr>
                      <a:r>
                        <a:rPr lang="en-US" sz="1000" b="1" kern="1200">
                          <a:solidFill>
                            <a:srgbClr val="1E2761"/>
                          </a:solidFill>
                          <a:latin typeface="Calibri" pitchFamily="34" charset="0"/>
                          <a:ea typeface="Calibri" pitchFamily="34" charset="-122"/>
                          <a:cs typeface="Calibri" pitchFamily="34" charset="-120"/>
                        </a:rPr>
                        <a:t>~2-3 days</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lgn="l" defTabSz="914400" rtl="0" eaLnBrk="1" latinLnBrk="0" hangingPunct="1">
                        <a:buNone/>
                      </a:pPr>
                      <a:r>
                        <a:rPr lang="en-US" sz="1000" kern="1200">
                          <a:solidFill>
                            <a:srgbClr val="C0392B"/>
                          </a:solidFill>
                          <a:latin typeface="Calibri" pitchFamily="34" charset="0"/>
                          <a:ea typeface="Calibri" pitchFamily="34" charset="-122"/>
                          <a:cs typeface="Calibri" pitchFamily="34" charset="-12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t>Must be done after Staging.</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7</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Project-manage PQ progress; provide solution and support when needed.</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E2761"/>
                          </a:solidFill>
                          <a:latin typeface="Calibri" pitchFamily="34" charset="0"/>
                          <a:ea typeface="Calibri" pitchFamily="34" charset="-122"/>
                          <a:cs typeface="Calibri" pitchFamily="34" charset="-120"/>
                        </a:rPr>
                        <a:t>Hard to timebox</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6B6B6B"/>
                          </a:solidFill>
                          <a:latin typeface="Calibri" pitchFamily="34" charset="0"/>
                          <a:ea typeface="Calibri" pitchFamily="34" charset="-122"/>
                          <a:cs typeface="Calibri" pitchFamily="34" charset="-120"/>
                        </a:rPr>
                        <a:t>Ad hoc, reactive support with no defined scope.</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000" kern="1200">
                          <a:solidFill>
                            <a:srgbClr val="C0392B"/>
                          </a:solidFill>
                          <a:latin typeface="Calibri" pitchFamily="34" charset="0"/>
                          <a:ea typeface="Calibri" pitchFamily="34" charset="-122"/>
                          <a:cs typeface="Calibri" pitchFamily="34" charset="-120"/>
                        </a:rPr>
                        <a:t>Critical issues can be identified at this point, which normally impact the release cadence and could mean reverting work already completed.</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Issues during PQ testing must be resolved to keep progress.</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8</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1A1A1A"/>
                          </a:solidFill>
                          <a:latin typeface="Calibri" pitchFamily="34" charset="0"/>
                          <a:ea typeface="Calibri" pitchFamily="34" charset="-122"/>
                          <a:cs typeface="Calibri" pitchFamily="34" charset="-120"/>
                        </a:rPr>
                        <a:t>Send final PQ result to CPO for signature.</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b="1">
                          <a:solidFill>
                            <a:srgbClr val="1E2761"/>
                          </a:solidFill>
                          <a:latin typeface="Calibri" pitchFamily="34" charset="0"/>
                          <a:ea typeface="Calibri" pitchFamily="34" charset="-122"/>
                          <a:cs typeface="Calibri" pitchFamily="34" charset="-120"/>
                        </a:rPr>
                        <a:t>Hard to timebox</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6B6B6B"/>
                          </a:solidFill>
                          <a:latin typeface="Calibri" pitchFamily="34" charset="0"/>
                          <a:ea typeface="Calibri" pitchFamily="34" charset="-122"/>
                          <a:cs typeface="Calibri" pitchFamily="34" charset="-120"/>
                        </a:rPr>
                        <a:t>Same signer-dependency issue as Step 3.</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solidFill>
                            <a:srgbClr val="C0392B"/>
                          </a:solidFill>
                          <a:latin typeface="Calibri" pitchFamily="34" charset="0"/>
                          <a:ea typeface="Calibri" pitchFamily="34" charset="-122"/>
                          <a:cs typeface="Calibri" pitchFamily="34" charset="-120"/>
                        </a:rPr>
                        <a:t>- </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15" name="TextBox 14">
            <a:extLst>
              <a:ext uri="{FF2B5EF4-FFF2-40B4-BE49-F238E27FC236}">
                <a16:creationId xmlns:a16="http://schemas.microsoft.com/office/drawing/2014/main" id="{DABA96DC-7187-3B5D-BAFC-65029DBA45E2}"/>
              </a:ext>
            </a:extLst>
          </p:cNvPr>
          <p:cNvSpPr txBox="1"/>
          <p:nvPr/>
        </p:nvSpPr>
        <p:spPr>
          <a:xfrm>
            <a:off x="472440" y="2424782"/>
            <a:ext cx="6096000" cy="492443"/>
          </a:xfrm>
          <a:prstGeom prst="rect">
            <a:avLst/>
          </a:prstGeom>
          <a:noFill/>
        </p:spPr>
        <p:txBody>
          <a:bodyPr wrap="square" lIns="91440" tIns="45720" rIns="91440" bIns="45720" anchor="t">
            <a:spAutoFit/>
          </a:bodyPr>
          <a:lstStyle/>
          <a:p>
            <a:r>
              <a:rPr lang="en-US" sz="2600" b="1">
                <a:solidFill>
                  <a:srgbClr val="1E2761"/>
                </a:solidFill>
                <a:latin typeface="Cambria"/>
                <a:ea typeface="Cambria"/>
                <a:cs typeface="Cambria" pitchFamily="34" charset="-120"/>
              </a:rPr>
              <a:t>PQ Results &amp; Sign-off</a:t>
            </a:r>
            <a:endParaRPr lang="en-US">
              <a:latin typeface="Cambria"/>
              <a:ea typeface="Cambria"/>
            </a:endParaRPr>
          </a:p>
        </p:txBody>
      </p:sp>
      <p:sp>
        <p:nvSpPr>
          <p:cNvPr id="4" name="TextBox 3">
            <a:extLst>
              <a:ext uri="{FF2B5EF4-FFF2-40B4-BE49-F238E27FC236}">
                <a16:creationId xmlns:a16="http://schemas.microsoft.com/office/drawing/2014/main" id="{D07CB3C0-E0EA-2829-BBA3-E29AB46C5A2E}"/>
              </a:ext>
            </a:extLst>
          </p:cNvPr>
          <p:cNvSpPr txBox="1"/>
          <p:nvPr/>
        </p:nvSpPr>
        <p:spPr>
          <a:xfrm>
            <a:off x="397313" y="1681690"/>
            <a:ext cx="4330336" cy="892552"/>
          </a:xfrm>
          <a:prstGeom prst="rect">
            <a:avLst/>
          </a:prstGeom>
          <a:noFill/>
        </p:spPr>
        <p:txBody>
          <a:bodyPr wrap="square" lIns="91440" tIns="45720" rIns="91440" bIns="45720" rtlCol="0" anchor="t">
            <a:spAutoFit/>
          </a:bodyPr>
          <a:lstStyle/>
          <a:p>
            <a:r>
              <a:rPr lang="en-US" sz="1300"/>
              <a:t>2 documents</a:t>
            </a:r>
          </a:p>
          <a:p>
            <a:r>
              <a:rPr lang="en-US" sz="1300"/>
              <a:t>One of them can only be completed after Staging</a:t>
            </a:r>
          </a:p>
          <a:p>
            <a:r>
              <a:rPr lang="en-US" sz="1300">
                <a:ea typeface="+mn-lt"/>
                <a:cs typeface="+mn-lt"/>
              </a:rPr>
              <a:t>PQ takes normally 3 days </a:t>
            </a:r>
          </a:p>
          <a:p>
            <a:endParaRPr lang="en-US" sz="1300"/>
          </a:p>
        </p:txBody>
      </p:sp>
    </p:spTree>
    <p:extLst>
      <p:ext uri="{BB962C8B-B14F-4D97-AF65-F5344CB8AC3E}">
        <p14:creationId xmlns:p14="http://schemas.microsoft.com/office/powerpoint/2010/main" val="3641080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05F0D-EEA9-F57C-7353-E54493123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6EDBC5-1291-B462-4954-4FF1252025BF}"/>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The VIRP process</a:t>
            </a:r>
          </a:p>
        </p:txBody>
      </p:sp>
      <p:sp>
        <p:nvSpPr>
          <p:cNvPr id="4" name="TextBox 3">
            <a:extLst>
              <a:ext uri="{FF2B5EF4-FFF2-40B4-BE49-F238E27FC236}">
                <a16:creationId xmlns:a16="http://schemas.microsoft.com/office/drawing/2014/main" id="{499CF52D-97AE-1F19-4B4B-33A5283E2B3C}"/>
              </a:ext>
            </a:extLst>
          </p:cNvPr>
          <p:cNvSpPr txBox="1"/>
          <p:nvPr/>
        </p:nvSpPr>
        <p:spPr>
          <a:xfrm>
            <a:off x="384048" y="3291840"/>
            <a:ext cx="11430000" cy="1188720"/>
          </a:xfrm>
          <a:prstGeom prst="rect">
            <a:avLst/>
          </a:prstGeom>
          <a:noFill/>
        </p:spPr>
        <p:txBody>
          <a:bodyPr wrap="square" lIns="0" tIns="0" rIns="0" bIns="0">
            <a:spAutoFit/>
          </a:bodyPr>
          <a:lstStyle/>
          <a:p>
            <a:pPr algn="ctr">
              <a:spcBef>
                <a:spcPts val="0"/>
              </a:spcBef>
              <a:spcAft>
                <a:spcPts val="1000"/>
              </a:spcAft>
            </a:pPr>
            <a:r>
              <a:rPr sz="2600" b="0">
                <a:solidFill>
                  <a:srgbClr val="A0A0A0"/>
                </a:solidFill>
                <a:latin typeface="Viedoc Monument Grotesk"/>
              </a:rPr>
              <a:t>Your slides go here</a:t>
            </a:r>
          </a:p>
          <a:p>
            <a:pPr algn="ctr">
              <a:spcBef>
                <a:spcPts val="0"/>
              </a:spcBef>
              <a:spcAft>
                <a:spcPts val="0"/>
              </a:spcAft>
            </a:pPr>
            <a:r>
              <a:rPr sz="1300" b="0">
                <a:solidFill>
                  <a:srgbClr val="A0A0A0"/>
                </a:solidFill>
                <a:latin typeface="Viedoc Monument Grotesk"/>
              </a:rPr>
              <a:t>Paste after the chapter slide before this one, then delete this slide. No slides is also fine.</a:t>
            </a:r>
          </a:p>
        </p:txBody>
      </p:sp>
      <p:sp>
        <p:nvSpPr>
          <p:cNvPr id="5" name="TextBox 4">
            <a:extLst>
              <a:ext uri="{FF2B5EF4-FFF2-40B4-BE49-F238E27FC236}">
                <a16:creationId xmlns:a16="http://schemas.microsoft.com/office/drawing/2014/main" id="{D2983D79-5942-32D9-B58E-A37B115BE303}"/>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pic>
        <p:nvPicPr>
          <p:cNvPr id="7" name="Picture 6">
            <a:extLst>
              <a:ext uri="{FF2B5EF4-FFF2-40B4-BE49-F238E27FC236}">
                <a16:creationId xmlns:a16="http://schemas.microsoft.com/office/drawing/2014/main" id="{535892A8-3596-37A0-0B78-1B2DD7E4B6B3}"/>
              </a:ext>
            </a:extLst>
          </p:cNvPr>
          <p:cNvPicPr>
            <a:picLocks noChangeAspect="1"/>
          </p:cNvPicPr>
          <p:nvPr/>
        </p:nvPicPr>
        <p:blipFill>
          <a:blip r:embed="rId2"/>
          <a:stretch>
            <a:fillRect/>
          </a:stretch>
        </p:blipFill>
        <p:spPr>
          <a:xfrm>
            <a:off x="6097398" y="657996"/>
            <a:ext cx="5710554" cy="2039484"/>
          </a:xfrm>
          <a:prstGeom prst="rect">
            <a:avLst/>
          </a:prstGeom>
        </p:spPr>
      </p:pic>
      <p:sp>
        <p:nvSpPr>
          <p:cNvPr id="11" name="TextBox 10">
            <a:extLst>
              <a:ext uri="{FF2B5EF4-FFF2-40B4-BE49-F238E27FC236}">
                <a16:creationId xmlns:a16="http://schemas.microsoft.com/office/drawing/2014/main" id="{7D0049DE-2221-5716-344A-C1EC6E1F830F}"/>
              </a:ext>
            </a:extLst>
          </p:cNvPr>
          <p:cNvSpPr txBox="1"/>
          <p:nvPr/>
        </p:nvSpPr>
        <p:spPr>
          <a:xfrm>
            <a:off x="287383" y="2768771"/>
            <a:ext cx="6096000" cy="461665"/>
          </a:xfrm>
          <a:prstGeom prst="rect">
            <a:avLst/>
          </a:prstGeom>
          <a:noFill/>
        </p:spPr>
        <p:txBody>
          <a:bodyPr wrap="square">
            <a:spAutoFit/>
          </a:bodyPr>
          <a:lstStyle/>
          <a:p>
            <a:r>
              <a:rPr lang="en-US" sz="2400" b="1">
                <a:solidFill>
                  <a:srgbClr val="1E2761"/>
                </a:solidFill>
                <a:latin typeface="Cambria" pitchFamily="34" charset="0"/>
                <a:ea typeface="Cambria" pitchFamily="34" charset="-122"/>
                <a:cs typeface="Cambria" pitchFamily="34" charset="-120"/>
              </a:rPr>
              <a:t>Static Filing &amp; Form Docs</a:t>
            </a:r>
            <a:endParaRPr lang="en-US"/>
          </a:p>
        </p:txBody>
      </p:sp>
      <p:graphicFrame>
        <p:nvGraphicFramePr>
          <p:cNvPr id="12" name="Table 0">
            <a:extLst>
              <a:ext uri="{FF2B5EF4-FFF2-40B4-BE49-F238E27FC236}">
                <a16:creationId xmlns:a16="http://schemas.microsoft.com/office/drawing/2014/main" id="{0475C623-E6D3-10B4-16D1-0895E63E1E57}"/>
              </a:ext>
            </a:extLst>
          </p:cNvPr>
          <p:cNvGraphicFramePr>
            <a:graphicFrameLocks noGrp="1"/>
          </p:cNvGraphicFramePr>
          <p:nvPr>
            <p:extLst>
              <p:ext uri="{D42A27DB-BD31-4B8C-83A1-F6EECF244321}">
                <p14:modId xmlns:p14="http://schemas.microsoft.com/office/powerpoint/2010/main" val="343084197"/>
              </p:ext>
            </p:extLst>
          </p:nvPr>
        </p:nvGraphicFramePr>
        <p:xfrm>
          <a:off x="377952" y="3429000"/>
          <a:ext cx="11247120" cy="2278380"/>
        </p:xfrm>
        <a:graphic>
          <a:graphicData uri="http://schemas.openxmlformats.org/drawingml/2006/table">
            <a:tbl>
              <a:tblPr/>
              <a:tblGrid>
                <a:gridCol w="4114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0">
                <a:tc>
                  <a:txBody>
                    <a:bodyPr/>
                    <a:lstStyle/>
                    <a:p>
                      <a:pPr marL="0" indent="0" algn="ctr">
                        <a:buNone/>
                      </a:pPr>
                      <a:r>
                        <a:rPr lang="en-US" sz="1150" b="1">
                          <a:solidFill>
                            <a:srgbClr val="FFFFFF"/>
                          </a:solidFill>
                          <a:latin typeface="Calibri" pitchFamily="34" charset="0"/>
                          <a:ea typeface="Calibri" pitchFamily="34" charset="-122"/>
                          <a:cs typeface="Calibri" pitchFamily="34" charset="-120"/>
                        </a:rPr>
                        <a: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Document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Description</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Working Steps</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Painpoint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Must do/Required</a:t>
                      </a:r>
                      <a:endParaRPr lang="en-US" sz="11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1</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VIRP Introduction</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PDF · static unless VIRP content changes</a:t>
                      </a:r>
                      <a:endParaRPr lang="en-US" sz="9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solidFill>
                            <a:srgbClr val="6B6B6B"/>
                          </a:solidFill>
                          <a:latin typeface="Calibri" pitchFamily="34" charset="0"/>
                          <a:ea typeface="Calibri" pitchFamily="34" charset="-122"/>
                          <a:cs typeface="Calibri" pitchFamily="34" charset="-120"/>
                        </a:rPr>
                        <a:t>Manually added to the VIRP SharePoint folder every release.</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solidFill>
                            <a:srgbClr val="C0392B"/>
                          </a:solidFill>
                          <a:latin typeface="Calibri" pitchFamily="34" charset="0"/>
                          <a:ea typeface="Calibri" pitchFamily="34" charset="-122"/>
                          <a:cs typeface="Calibri" pitchFamily="34" charset="-120"/>
                        </a:rPr>
                        <a:t>Purely manual, repetitive administrative work</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2</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Clinical Trial Cloud System Checklist</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Doesn't change often</a:t>
                      </a:r>
                      <a:endParaRPr lang="en-US" sz="9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850">
                          <a:solidFill>
                            <a:srgbClr val="6B6B6B"/>
                          </a:solidFill>
                          <a:latin typeface="Calibri" pitchFamily="34" charset="0"/>
                          <a:ea typeface="Calibri" pitchFamily="34" charset="-122"/>
                          <a:cs typeface="Calibri" pitchFamily="34" charset="-120"/>
                        </a:rPr>
                        <a:t>Manually added to the VIRP SharePoint folder every release.</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Purely manual, repetitive administrative work</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85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3</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Acknowledgement Form</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rgbClr val="1E2761"/>
                          </a:solidFill>
                          <a:latin typeface="Calibri" pitchFamily="34" charset="0"/>
                          <a:ea typeface="Calibri" pitchFamily="34" charset="-122"/>
                          <a:cs typeface="Calibri" pitchFamily="34" charset="-120"/>
                        </a:rPr>
                        <a:t>Word doc · fairly static</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900" i="1">
                          <a:solidFill>
                            <a:srgbClr val="1E2761"/>
                          </a:solidFill>
                          <a:latin typeface="Calibri" pitchFamily="34" charset="0"/>
                          <a:ea typeface="Calibri" pitchFamily="34" charset="-122"/>
                          <a:cs typeface="Calibri" pitchFamily="34" charset="-120"/>
                        </a:rPr>
                      </a:br>
                      <a:r>
                        <a:rPr lang="en-US" sz="900" i="1" kern="1200">
                          <a:solidFill>
                            <a:srgbClr val="1E2761"/>
                          </a:solidFill>
                          <a:latin typeface="Calibri" pitchFamily="34" charset="0"/>
                          <a:ea typeface="Calibri" pitchFamily="34" charset="-122"/>
                          <a:cs typeface="Calibri" pitchFamily="34" charset="-120"/>
                        </a:rPr>
                        <a:t>Content and file name both need the release number.</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solidFill>
                            <a:srgbClr val="6B6B6B"/>
                          </a:solidFill>
                          <a:latin typeface="Calibri" pitchFamily="34" charset="0"/>
                          <a:ea typeface="Calibri" pitchFamily="34" charset="-122"/>
                          <a:cs typeface="Calibri" pitchFamily="34" charset="-120"/>
                        </a:rPr>
                        <a:t>File name and ID is done manually.</a:t>
                      </a:r>
                    </a:p>
                    <a:p>
                      <a:pPr marL="0" indent="0">
                        <a:buNone/>
                      </a:pPr>
                      <a:r>
                        <a:rPr lang="en-US" sz="850">
                          <a:solidFill>
                            <a:srgbClr val="6B6B6B"/>
                          </a:solidFill>
                          <a:latin typeface="Calibri" pitchFamily="34" charset="0"/>
                          <a:ea typeface="Calibri" pitchFamily="34" charset="-122"/>
                          <a:cs typeface="Calibri" pitchFamily="34" charset="-120"/>
                        </a:rPr>
                        <a:t>Content updated using Claude Skills.</a:t>
                      </a:r>
                    </a:p>
                    <a:p>
                      <a:pPr marL="0" indent="0">
                        <a:buNone/>
                      </a:pPr>
                      <a:r>
                        <a:rPr lang="en-US" sz="850">
                          <a:solidFill>
                            <a:srgbClr val="6B6B6B"/>
                          </a:solidFill>
                          <a:latin typeface="Calibri" pitchFamily="34" charset="0"/>
                          <a:ea typeface="Calibri" pitchFamily="34" charset="-122"/>
                          <a:cs typeface="Calibri" pitchFamily="34" charset="-120"/>
                        </a:rPr>
                        <a:t>Upload to SharePoint manually.</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Purely manual, repetitive administrative work on getting the right file name and uploading it to SharePoint.</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4</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VIRP Change Summary</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Word doc · fairly static (conditional)</a:t>
                      </a:r>
                      <a:endParaRPr lang="en-US" sz="9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lvl="0" algn="l">
                        <a:lnSpc>
                          <a:spcPct val="100000"/>
                        </a:lnSpc>
                        <a:spcBef>
                          <a:spcPts val="0"/>
                        </a:spcBef>
                        <a:spcAft>
                          <a:spcPts val="0"/>
                        </a:spcAft>
                        <a:buNone/>
                      </a:pPr>
                      <a:r>
                        <a:rPr lang="en-US" sz="850">
                          <a:solidFill>
                            <a:srgbClr val="6B6B6B"/>
                          </a:solidFill>
                          <a:latin typeface="Calibri"/>
                          <a:ea typeface="Calibri"/>
                          <a:cs typeface="Calibri"/>
                        </a:rPr>
                        <a:t>Content and file name need the release number updated, this is done by Claude Skills.</a:t>
                      </a:r>
                      <a:endParaRPr lang="en-US" sz="850">
                        <a:latin typeface="Calibri"/>
                        <a:ea typeface="Calibri"/>
                        <a:cs typeface="Calibri"/>
                      </a:endParaRPr>
                    </a:p>
                    <a:p>
                      <a:pPr lvl="0" algn="l">
                        <a:lnSpc>
                          <a:spcPct val="100000"/>
                        </a:lnSpc>
                        <a:spcBef>
                          <a:spcPts val="0"/>
                        </a:spcBef>
                        <a:spcAft>
                          <a:spcPts val="0"/>
                        </a:spcAft>
                        <a:buNone/>
                      </a:pPr>
                      <a:r>
                        <a:rPr lang="en-US" sz="850">
                          <a:solidFill>
                            <a:srgbClr val="6B6B6B"/>
                          </a:solidFill>
                          <a:latin typeface="Calibri"/>
                          <a:ea typeface="Calibri"/>
                          <a:cs typeface="Calibri"/>
                        </a:rPr>
                        <a:t>if changes were made to a published VIRP, the summary must reflect those changes too.</a:t>
                      </a:r>
                      <a:endParaRPr lang="en-US" sz="850">
                        <a:latin typeface="Calibri"/>
                        <a:ea typeface="Calibri"/>
                        <a:cs typeface="Calibri"/>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850">
                          <a:solidFill>
                            <a:srgbClr val="C0392B"/>
                          </a:solidFill>
                          <a:latin typeface="Calibri" pitchFamily="34" charset="0"/>
                          <a:ea typeface="Calibri" pitchFamily="34" charset="-122"/>
                          <a:cs typeface="Calibri" pitchFamily="34" charset="-120"/>
                        </a:rPr>
                        <a:t>When published-VIRP changes exist, updating takes ~30+ min due to back-and-forth communication to confirm what changed.</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85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14" name="TextBox 13">
            <a:extLst>
              <a:ext uri="{FF2B5EF4-FFF2-40B4-BE49-F238E27FC236}">
                <a16:creationId xmlns:a16="http://schemas.microsoft.com/office/drawing/2014/main" id="{72774CC0-8038-2FB6-4736-B8CB8A065A99}"/>
              </a:ext>
            </a:extLst>
          </p:cNvPr>
          <p:cNvSpPr txBox="1"/>
          <p:nvPr/>
        </p:nvSpPr>
        <p:spPr>
          <a:xfrm>
            <a:off x="379603" y="1788090"/>
            <a:ext cx="11430000" cy="800219"/>
          </a:xfrm>
          <a:prstGeom prst="rect">
            <a:avLst/>
          </a:prstGeom>
          <a:noFill/>
        </p:spPr>
        <p:txBody>
          <a:bodyPr wrap="square" lIns="0" tIns="0" rIns="0" bIns="0" anchor="t">
            <a:spAutoFit/>
          </a:bodyPr>
          <a:lstStyle/>
          <a:p>
            <a:pPr algn="l">
              <a:spcBef>
                <a:spcPts val="0"/>
              </a:spcBef>
              <a:spcAft>
                <a:spcPts val="0"/>
              </a:spcAft>
            </a:pPr>
            <a:r>
              <a:rPr lang="en-US" sz="1300">
                <a:latin typeface="Viedoc Monument Grotesk"/>
              </a:rPr>
              <a:t>13 documents, done by different roles</a:t>
            </a:r>
          </a:p>
          <a:p>
            <a:pPr algn="l">
              <a:spcBef>
                <a:spcPts val="0"/>
              </a:spcBef>
              <a:spcAft>
                <a:spcPts val="0"/>
              </a:spcAft>
            </a:pPr>
            <a:r>
              <a:rPr lang="en-US" sz="1300">
                <a:latin typeface="Viedoc Monument Grotesk"/>
              </a:rPr>
              <a:t>No strict timeline but a clear deadline</a:t>
            </a:r>
          </a:p>
          <a:p>
            <a:pPr algn="l">
              <a:spcBef>
                <a:spcPts val="0"/>
              </a:spcBef>
              <a:spcAft>
                <a:spcPts val="0"/>
              </a:spcAft>
            </a:pPr>
            <a:r>
              <a:rPr lang="en-US" sz="1300">
                <a:latin typeface="Viedoc Monument Grotesk"/>
              </a:rPr>
              <a:t>Two of them can only be completed after PQ </a:t>
            </a:r>
          </a:p>
          <a:p>
            <a:r>
              <a:rPr lang="en-US" sz="1300">
                <a:latin typeface="Viedoc Monument Grotesk"/>
              </a:rPr>
              <a:t>Normally a week</a:t>
            </a:r>
          </a:p>
        </p:txBody>
      </p:sp>
    </p:spTree>
    <p:extLst>
      <p:ext uri="{BB962C8B-B14F-4D97-AF65-F5344CB8AC3E}">
        <p14:creationId xmlns:p14="http://schemas.microsoft.com/office/powerpoint/2010/main" val="509953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89414-254A-F539-B6C7-280689428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11782-40F5-8F00-4B7B-51ADEFA73036}"/>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The VIRP process</a:t>
            </a:r>
          </a:p>
        </p:txBody>
      </p:sp>
      <p:sp>
        <p:nvSpPr>
          <p:cNvPr id="3" name="TextBox 2">
            <a:extLst>
              <a:ext uri="{FF2B5EF4-FFF2-40B4-BE49-F238E27FC236}">
                <a16:creationId xmlns:a16="http://schemas.microsoft.com/office/drawing/2014/main" id="{EEB3BE67-D770-FE9F-9582-12677747BAC1}"/>
              </a:ext>
            </a:extLst>
          </p:cNvPr>
          <p:cNvSpPr txBox="1"/>
          <p:nvPr/>
        </p:nvSpPr>
        <p:spPr>
          <a:xfrm>
            <a:off x="384048" y="1783080"/>
            <a:ext cx="11430000" cy="800219"/>
          </a:xfrm>
          <a:prstGeom prst="rect">
            <a:avLst/>
          </a:prstGeom>
          <a:noFill/>
        </p:spPr>
        <p:txBody>
          <a:bodyPr wrap="square" lIns="0" tIns="0" rIns="0" bIns="0" anchor="t">
            <a:spAutoFit/>
          </a:bodyPr>
          <a:lstStyle/>
          <a:p>
            <a:pPr algn="l">
              <a:spcBef>
                <a:spcPts val="0"/>
              </a:spcBef>
              <a:spcAft>
                <a:spcPts val="0"/>
              </a:spcAft>
            </a:pPr>
            <a:r>
              <a:rPr lang="en-US" sz="1300">
                <a:latin typeface="Viedoc Monument Grotesk"/>
              </a:rPr>
              <a:t>13 documents, done by different roles</a:t>
            </a:r>
          </a:p>
          <a:p>
            <a:pPr algn="l">
              <a:spcBef>
                <a:spcPts val="0"/>
              </a:spcBef>
              <a:spcAft>
                <a:spcPts val="0"/>
              </a:spcAft>
            </a:pPr>
            <a:r>
              <a:rPr lang="en-US" sz="1300">
                <a:latin typeface="Viedoc Monument Grotesk"/>
              </a:rPr>
              <a:t>No strict timeline but a clear deadline</a:t>
            </a:r>
          </a:p>
          <a:p>
            <a:pPr algn="l">
              <a:spcBef>
                <a:spcPts val="0"/>
              </a:spcBef>
              <a:spcAft>
                <a:spcPts val="0"/>
              </a:spcAft>
            </a:pPr>
            <a:r>
              <a:rPr lang="en-US" sz="1300">
                <a:latin typeface="Viedoc Monument Grotesk"/>
              </a:rPr>
              <a:t>Two of them can only be completed after PQ </a:t>
            </a:r>
          </a:p>
          <a:p>
            <a:r>
              <a:rPr lang="en-US" sz="1300">
                <a:latin typeface="Viedoc Monument Grotesk"/>
              </a:rPr>
              <a:t>Normally a week</a:t>
            </a:r>
          </a:p>
        </p:txBody>
      </p:sp>
      <p:sp>
        <p:nvSpPr>
          <p:cNvPr id="4" name="TextBox 3">
            <a:extLst>
              <a:ext uri="{FF2B5EF4-FFF2-40B4-BE49-F238E27FC236}">
                <a16:creationId xmlns:a16="http://schemas.microsoft.com/office/drawing/2014/main" id="{78DD69D9-2CFA-538F-2592-9E90D1177B06}"/>
              </a:ext>
            </a:extLst>
          </p:cNvPr>
          <p:cNvSpPr txBox="1"/>
          <p:nvPr/>
        </p:nvSpPr>
        <p:spPr>
          <a:xfrm>
            <a:off x="384048" y="3291840"/>
            <a:ext cx="11430000" cy="1188720"/>
          </a:xfrm>
          <a:prstGeom prst="rect">
            <a:avLst/>
          </a:prstGeom>
          <a:noFill/>
        </p:spPr>
        <p:txBody>
          <a:bodyPr wrap="square" lIns="0" tIns="0" rIns="0" bIns="0">
            <a:spAutoFit/>
          </a:bodyPr>
          <a:lstStyle/>
          <a:p>
            <a:pPr algn="ctr">
              <a:spcBef>
                <a:spcPts val="0"/>
              </a:spcBef>
              <a:spcAft>
                <a:spcPts val="1000"/>
              </a:spcAft>
            </a:pPr>
            <a:r>
              <a:rPr sz="2600" b="0">
                <a:solidFill>
                  <a:srgbClr val="A0A0A0"/>
                </a:solidFill>
                <a:latin typeface="Viedoc Monument Grotesk"/>
              </a:rPr>
              <a:t>Your slides go here</a:t>
            </a:r>
          </a:p>
          <a:p>
            <a:pPr algn="ctr">
              <a:spcBef>
                <a:spcPts val="0"/>
              </a:spcBef>
              <a:spcAft>
                <a:spcPts val="0"/>
              </a:spcAft>
            </a:pPr>
            <a:r>
              <a:rPr sz="1300" b="0">
                <a:solidFill>
                  <a:srgbClr val="A0A0A0"/>
                </a:solidFill>
                <a:latin typeface="Viedoc Monument Grotesk"/>
              </a:rPr>
              <a:t>Paste after the chapter slide before this one, then delete this slide. No slides is also fine.</a:t>
            </a:r>
          </a:p>
        </p:txBody>
      </p:sp>
      <p:sp>
        <p:nvSpPr>
          <p:cNvPr id="5" name="TextBox 4">
            <a:extLst>
              <a:ext uri="{FF2B5EF4-FFF2-40B4-BE49-F238E27FC236}">
                <a16:creationId xmlns:a16="http://schemas.microsoft.com/office/drawing/2014/main" id="{28EF540D-C35E-40BB-8ABD-B497AF17E72C}"/>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pic>
        <p:nvPicPr>
          <p:cNvPr id="7" name="Picture 6">
            <a:extLst>
              <a:ext uri="{FF2B5EF4-FFF2-40B4-BE49-F238E27FC236}">
                <a16:creationId xmlns:a16="http://schemas.microsoft.com/office/drawing/2014/main" id="{7CEA48CE-C2E0-CF03-73CB-25C2A0DAADB0}"/>
              </a:ext>
            </a:extLst>
          </p:cNvPr>
          <p:cNvPicPr>
            <a:picLocks noChangeAspect="1"/>
          </p:cNvPicPr>
          <p:nvPr/>
        </p:nvPicPr>
        <p:blipFill>
          <a:blip r:embed="rId2"/>
          <a:stretch>
            <a:fillRect/>
          </a:stretch>
        </p:blipFill>
        <p:spPr>
          <a:xfrm>
            <a:off x="6097398" y="657996"/>
            <a:ext cx="5710554" cy="2039484"/>
          </a:xfrm>
          <a:prstGeom prst="rect">
            <a:avLst/>
          </a:prstGeom>
        </p:spPr>
      </p:pic>
      <p:sp>
        <p:nvSpPr>
          <p:cNvPr id="11" name="TextBox 10">
            <a:extLst>
              <a:ext uri="{FF2B5EF4-FFF2-40B4-BE49-F238E27FC236}">
                <a16:creationId xmlns:a16="http://schemas.microsoft.com/office/drawing/2014/main" id="{1B05DD45-9FB7-5456-561D-6D3E4C0AE07D}"/>
              </a:ext>
            </a:extLst>
          </p:cNvPr>
          <p:cNvSpPr txBox="1"/>
          <p:nvPr/>
        </p:nvSpPr>
        <p:spPr>
          <a:xfrm>
            <a:off x="287383" y="2768771"/>
            <a:ext cx="6096000" cy="461665"/>
          </a:xfrm>
          <a:prstGeom prst="rect">
            <a:avLst/>
          </a:prstGeom>
          <a:noFill/>
        </p:spPr>
        <p:txBody>
          <a:bodyPr wrap="square">
            <a:spAutoFit/>
          </a:bodyPr>
          <a:lstStyle/>
          <a:p>
            <a:r>
              <a:rPr lang="en-US" sz="2400" b="1">
                <a:solidFill>
                  <a:srgbClr val="1E2761"/>
                </a:solidFill>
                <a:latin typeface="Cambria" pitchFamily="34" charset="0"/>
                <a:ea typeface="Cambria" pitchFamily="34" charset="-122"/>
              </a:rPr>
              <a:t>Time consuming, error-prone Docs</a:t>
            </a:r>
            <a:endParaRPr lang="en-US"/>
          </a:p>
        </p:txBody>
      </p:sp>
      <p:graphicFrame>
        <p:nvGraphicFramePr>
          <p:cNvPr id="12" name="Table 0">
            <a:extLst>
              <a:ext uri="{FF2B5EF4-FFF2-40B4-BE49-F238E27FC236}">
                <a16:creationId xmlns:a16="http://schemas.microsoft.com/office/drawing/2014/main" id="{B9E6294B-FA02-5273-68D7-CEDC63FF4130}"/>
              </a:ext>
            </a:extLst>
          </p:cNvPr>
          <p:cNvGraphicFramePr>
            <a:graphicFrameLocks noGrp="1"/>
          </p:cNvGraphicFramePr>
          <p:nvPr>
            <p:extLst>
              <p:ext uri="{D42A27DB-BD31-4B8C-83A1-F6EECF244321}">
                <p14:modId xmlns:p14="http://schemas.microsoft.com/office/powerpoint/2010/main" val="2719367457"/>
              </p:ext>
            </p:extLst>
          </p:nvPr>
        </p:nvGraphicFramePr>
        <p:xfrm>
          <a:off x="388684" y="3300381"/>
          <a:ext cx="11247120" cy="3383280"/>
        </p:xfrm>
        <a:graphic>
          <a:graphicData uri="http://schemas.openxmlformats.org/drawingml/2006/table">
            <a:tbl>
              <a:tblPr/>
              <a:tblGrid>
                <a:gridCol w="4114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0">
                <a:tc>
                  <a:txBody>
                    <a:bodyPr/>
                    <a:lstStyle/>
                    <a:p>
                      <a:pPr marL="0" indent="0" algn="ctr">
                        <a:buNone/>
                      </a:pPr>
                      <a:r>
                        <a:rPr lang="en-US" sz="1150" b="1">
                          <a:solidFill>
                            <a:srgbClr val="FFFFFF"/>
                          </a:solidFill>
                          <a:latin typeface="Calibri" pitchFamily="34" charset="0"/>
                          <a:ea typeface="Calibri" pitchFamily="34" charset="-122"/>
                          <a:cs typeface="Calibri" pitchFamily="34" charset="-120"/>
                        </a:rPr>
                        <a: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Document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Description</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Working Steps</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Painpoint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FFFFFF"/>
                          </a:solidFill>
                          <a:latin typeface="Calibri" pitchFamily="34" charset="0"/>
                          <a:ea typeface="Calibri" pitchFamily="34" charset="-122"/>
                          <a:cs typeface="Calibri" pitchFamily="34" charset="-120"/>
                        </a:rPr>
                        <a:t>Must do/Required</a:t>
                      </a:r>
                      <a:endParaRPr lang="en-US" sz="12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5</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kumimoji="0" lang="en-US" sz="1000" b="1" i="0" u="none" strike="noStrike" kern="1200" cap="none" spc="0" normalizeH="0" baseline="0" noProof="0">
                          <a:ln>
                            <a:noFill/>
                          </a:ln>
                          <a:solidFill>
                            <a:srgbClr val="1A1A1A"/>
                          </a:solidFill>
                          <a:effectLst/>
                          <a:uLnTx/>
                          <a:uFillTx/>
                          <a:latin typeface="Calibri" pitchFamily="34" charset="0"/>
                          <a:ea typeface="Calibri" pitchFamily="34" charset="-122"/>
                          <a:cs typeface="Calibri" pitchFamily="34" charset="-120"/>
                        </a:rPr>
                        <a:t>User Requirement Specification (URS) </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URS information retrieved from ADO via Report Generator</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lvl="0" indent="0">
                        <a:buNone/>
                      </a:pPr>
                      <a:r>
                        <a:rPr lang="en-US" sz="850" b="0" i="0" u="none" strike="noStrike" baseline="0" noProof="0">
                          <a:solidFill>
                            <a:srgbClr val="6B6B6B"/>
                          </a:solidFill>
                          <a:latin typeface="Calibri"/>
                          <a:ea typeface="Calibri"/>
                          <a:cs typeface="Calibri"/>
                        </a:rPr>
                        <a:t>File name and ID is done manually.</a:t>
                      </a:r>
                      <a:endParaRPr lang="en-US"/>
                    </a:p>
                    <a:p>
                      <a:pPr marL="0" lvl="0" indent="0">
                        <a:buNone/>
                      </a:pPr>
                      <a:r>
                        <a:rPr lang="en-US" sz="850">
                          <a:solidFill>
                            <a:srgbClr val="6B6B6B"/>
                          </a:solidFill>
                          <a:latin typeface="Calibri"/>
                          <a:ea typeface="Calibri"/>
                          <a:cs typeface="Calibri"/>
                        </a:rPr>
                        <a:t>Provide right scope and information in Report Generator to generate report. </a:t>
                      </a:r>
                    </a:p>
                    <a:p>
                      <a:pPr marL="0" indent="0">
                        <a:buNone/>
                      </a:pPr>
                      <a:r>
                        <a:rPr lang="en-US" sz="850">
                          <a:solidFill>
                            <a:srgbClr val="6B6B6B"/>
                          </a:solidFill>
                          <a:latin typeface="Calibri" pitchFamily="34" charset="0"/>
                          <a:ea typeface="Calibri" pitchFamily="34" charset="-122"/>
                          <a:cs typeface="Calibri" pitchFamily="34" charset="-120"/>
                        </a:rPr>
                        <a:t>Review the content. </a:t>
                      </a:r>
                      <a:endParaRPr lang="en-US" sz="850">
                        <a:solidFill>
                          <a:srgbClr val="6B6B6B"/>
                        </a:solidFill>
                        <a:latin typeface="Calibri" charset="0"/>
                        <a:ea typeface="Calibri" charset="0"/>
                        <a:cs typeface="Calibri" charset="0"/>
                      </a:endParaRPr>
                    </a:p>
                    <a:p>
                      <a:pPr marL="0" indent="0">
                        <a:buNone/>
                      </a:pPr>
                      <a:r>
                        <a:rPr lang="en-US" sz="850">
                          <a:solidFill>
                            <a:srgbClr val="6B6B6B"/>
                          </a:solidFill>
                          <a:latin typeface="Calibri" charset="0"/>
                          <a:ea typeface="Calibri" charset="0"/>
                          <a:cs typeface="Calibri" charset="0"/>
                        </a:rPr>
                        <a:t>Send for signature. </a:t>
                      </a:r>
                    </a:p>
                    <a:p>
                      <a:pPr marL="0" indent="0">
                        <a:buNone/>
                      </a:pPr>
                      <a:r>
                        <a:rPr lang="en-US" sz="850">
                          <a:solidFill>
                            <a:srgbClr val="6B6B6B"/>
                          </a:solidFill>
                          <a:latin typeface="Calibri" charset="0"/>
                          <a:ea typeface="Calibri" charset="0"/>
                          <a:cs typeface="Calibri" charset="0"/>
                        </a:rPr>
                        <a:t>File in SharePoint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solidFill>
                            <a:srgbClr val="C0392B"/>
                          </a:solidFill>
                          <a:latin typeface="Calibri" pitchFamily="34" charset="0"/>
                          <a:ea typeface="Calibri" pitchFamily="34" charset="-122"/>
                          <a:cs typeface="Calibri" pitchFamily="34" charset="-120"/>
                        </a:rPr>
                        <a:t>Content isn’t ready to be published as generated; needs endless reminders and back-and-forth chats to get the right one. </a:t>
                      </a:r>
                      <a:br>
                        <a:rPr lang="en-US" sz="850">
                          <a:solidFill>
                            <a:srgbClr val="C0392B"/>
                          </a:solidFill>
                          <a:latin typeface="Calibri" pitchFamily="34" charset="0"/>
                          <a:ea typeface="Calibri" pitchFamily="34" charset="-122"/>
                          <a:cs typeface="Calibri" pitchFamily="34" charset="-120"/>
                        </a:rPr>
                      </a:br>
                      <a:r>
                        <a:rPr lang="en-US" sz="850">
                          <a:solidFill>
                            <a:srgbClr val="C0392B"/>
                          </a:solidFill>
                          <a:latin typeface="Calibri" pitchFamily="34" charset="0"/>
                          <a:ea typeface="Calibri" pitchFamily="34" charset="-122"/>
                          <a:cs typeface="Calibri" pitchFamily="34" charset="-120"/>
                        </a:rPr>
                        <a:t>Poor documentation in ADO. </a:t>
                      </a:r>
                    </a:p>
                    <a:p>
                      <a:pPr marL="0" indent="0">
                        <a:buNone/>
                      </a:pPr>
                      <a:r>
                        <a:rPr lang="en-US" sz="850">
                          <a:solidFill>
                            <a:srgbClr val="C0392B"/>
                          </a:solidFill>
                          <a:latin typeface="Calibri" pitchFamily="34" charset="0"/>
                          <a:ea typeface="Calibri" pitchFamily="34" charset="-122"/>
                          <a:cs typeface="Calibri" pitchFamily="34" charset="-120"/>
                        </a:rPr>
                        <a:t>Bug in Report Generator.</a:t>
                      </a:r>
                    </a:p>
                    <a:p>
                      <a:pPr marL="0" indent="0">
                        <a:buNone/>
                      </a:pPr>
                      <a:r>
                        <a:rPr lang="en-US" sz="850">
                          <a:solidFill>
                            <a:srgbClr val="C0392B"/>
                          </a:solidFill>
                          <a:latin typeface="Calibri" pitchFamily="34" charset="0"/>
                          <a:ea typeface="Calibri" pitchFamily="34" charset="-122"/>
                          <a:cs typeface="Calibri" pitchFamily="34" charset="-120"/>
                        </a:rPr>
                        <a:t>Downtime in Report Generator. </a:t>
                      </a:r>
                    </a:p>
                    <a:p>
                      <a:pPr marL="0" indent="0">
                        <a:buNone/>
                      </a:pPr>
                      <a:r>
                        <a:rPr lang="en-US" sz="850">
                          <a:solidFill>
                            <a:srgbClr val="C0392B"/>
                          </a:solidFill>
                          <a:latin typeface="Calibri" pitchFamily="34" charset="0"/>
                          <a:ea typeface="Calibri" pitchFamily="34" charset="-122"/>
                          <a:cs typeface="Calibri" pitchFamily="34" charset="-120"/>
                        </a:rPr>
                        <a:t>Unclear ownership of Report Generator.</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6</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A1A1A"/>
                          </a:solidFill>
                          <a:effectLst/>
                          <a:uLnTx/>
                          <a:uFillTx/>
                          <a:latin typeface="Calibri" pitchFamily="34" charset="0"/>
                          <a:ea typeface="Calibri" pitchFamily="34" charset="-122"/>
                          <a:cs typeface="Calibri" pitchFamily="34" charset="-120"/>
                        </a:rPr>
                        <a:t>User Requirement Traceability Matrix (URTM)</a:t>
                      </a:r>
                      <a:endParaRPr kumimoji="0" lang="en-US" sz="1000" b="0" i="0" u="none" strike="noStrike" kern="1200" cap="none" spc="0" normalizeH="0" baseline="0" noProof="0">
                        <a:ln>
                          <a:noFill/>
                        </a:ln>
                        <a:solidFill>
                          <a:prstClr val="black"/>
                        </a:solidFill>
                        <a:effectLst/>
                        <a:uLnTx/>
                        <a:uFillTx/>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URTM information retrieved from ADO via Report Generator</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lvl="0" indent="0">
                        <a:buNone/>
                      </a:pPr>
                      <a:r>
                        <a:rPr lang="en-US" sz="850" b="0" i="0" u="none" strike="noStrike" baseline="0" noProof="0">
                          <a:solidFill>
                            <a:srgbClr val="6B6B6B"/>
                          </a:solidFill>
                          <a:latin typeface="Calibri"/>
                          <a:ea typeface="Calibri"/>
                          <a:cs typeface="Calibri"/>
                        </a:rPr>
                        <a:t>File name and ID is done manually.</a:t>
                      </a:r>
                      <a:endParaRPr lang="en-US"/>
                    </a:p>
                    <a:p>
                      <a:pPr marL="0" lvl="0" indent="0">
                        <a:buNone/>
                      </a:pPr>
                      <a:r>
                        <a:rPr lang="en-US" sz="850">
                          <a:solidFill>
                            <a:srgbClr val="6B6B6B"/>
                          </a:solidFill>
                          <a:latin typeface="Calibri"/>
                          <a:ea typeface="Calibri"/>
                          <a:cs typeface="Calibri"/>
                        </a:rPr>
                        <a:t>Provide right scope and information in Report Generator to generate report. </a:t>
                      </a:r>
                    </a:p>
                    <a:p>
                      <a:pPr marL="0" indent="0">
                        <a:buNone/>
                      </a:pPr>
                      <a:r>
                        <a:rPr lang="en-US" sz="850">
                          <a:solidFill>
                            <a:srgbClr val="6B6B6B"/>
                          </a:solidFill>
                          <a:latin typeface="Calibri" pitchFamily="34" charset="0"/>
                          <a:ea typeface="Calibri" pitchFamily="34" charset="-122"/>
                          <a:cs typeface="Calibri" pitchFamily="34" charset="-120"/>
                        </a:rPr>
                        <a:t>Review the content. </a:t>
                      </a:r>
                      <a:endParaRPr lang="en-US" sz="850">
                        <a:solidFill>
                          <a:srgbClr val="6B6B6B"/>
                        </a:solidFill>
                        <a:latin typeface="Calibri" charset="0"/>
                        <a:ea typeface="Calibri" charset="0"/>
                        <a:cs typeface="Calibri" charset="0"/>
                      </a:endParaRPr>
                    </a:p>
                    <a:p>
                      <a:pPr marL="0" indent="0">
                        <a:buNone/>
                      </a:pPr>
                      <a:r>
                        <a:rPr lang="en-US" sz="850">
                          <a:solidFill>
                            <a:srgbClr val="6B6B6B"/>
                          </a:solidFill>
                          <a:latin typeface="Calibri" charset="0"/>
                          <a:ea typeface="Calibri" charset="0"/>
                          <a:cs typeface="Calibri" charset="0"/>
                        </a:rPr>
                        <a:t>Send for signature. </a:t>
                      </a:r>
                    </a:p>
                    <a:p>
                      <a:pPr marL="0" indent="0">
                        <a:buNone/>
                      </a:pPr>
                      <a:r>
                        <a:rPr lang="en-US" sz="850">
                          <a:solidFill>
                            <a:srgbClr val="6B6B6B"/>
                          </a:solidFill>
                          <a:latin typeface="Calibri" charset="0"/>
                          <a:ea typeface="Calibri" charset="0"/>
                          <a:cs typeface="Calibri" charset="0"/>
                        </a:rPr>
                        <a:t>File in SharePoint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Purely manual, repetitive administration work </a:t>
                      </a:r>
                      <a:endParaRPr lang="en-US" sz="850">
                        <a:latin typeface="Calibri" charset="0"/>
                        <a:ea typeface="Calibri" charset="0"/>
                        <a:cs typeface="Calibri" charset="0"/>
                      </a:endParaRPr>
                    </a:p>
                    <a:p>
                      <a:pPr marL="0" indent="0">
                        <a:buNone/>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85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7</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A1A1A"/>
                          </a:solidFill>
                          <a:effectLst/>
                          <a:uLnTx/>
                          <a:uFillTx/>
                          <a:latin typeface="Calibri" pitchFamily="34" charset="0"/>
                          <a:ea typeface="Calibri" pitchFamily="34" charset="-122"/>
                          <a:cs typeface="Calibri" pitchFamily="34" charset="-120"/>
                        </a:rPr>
                        <a:t>Impact Assessment spreadsheet</a:t>
                      </a:r>
                      <a:endParaRPr kumimoji="0" lang="en-US" sz="1000" b="0" i="0" u="none" strike="noStrike" kern="1200" cap="none" spc="0" normalizeH="0" baseline="0" noProof="0">
                        <a:ln>
                          <a:noFill/>
                        </a:ln>
                        <a:solidFill>
                          <a:prstClr val="black"/>
                        </a:solidFill>
                        <a:effectLst/>
                        <a:uLnTx/>
                        <a:uFillTx/>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rgbClr val="1E2761"/>
                          </a:solidFill>
                          <a:latin typeface="Calibri" pitchFamily="34" charset="0"/>
                          <a:ea typeface="Calibri" pitchFamily="34" charset="-122"/>
                          <a:cs typeface="Calibri" pitchFamily="34" charset="-120"/>
                        </a:rPr>
                        <a:t>Spreadsheet manually populated by PMs.</a:t>
                      </a:r>
                      <a:br>
                        <a:rPr lang="en-US" sz="900" i="1">
                          <a:solidFill>
                            <a:srgbClr val="1E2761"/>
                          </a:solidFill>
                          <a:latin typeface="Calibri" pitchFamily="34" charset="0"/>
                          <a:ea typeface="Calibri" pitchFamily="34" charset="-122"/>
                          <a:cs typeface="Calibri" pitchFamily="34" charset="-120"/>
                        </a:rPr>
                      </a:br>
                      <a:endParaRPr lang="en-US" sz="900" i="1" kern="1200">
                        <a:solidFill>
                          <a:srgbClr val="1E2761"/>
                        </a:solidFill>
                        <a:latin typeface="Calibri" pitchFamily="34" charset="0"/>
                        <a:ea typeface="Calibri" pitchFamily="34" charset="-122"/>
                        <a:cs typeface="Calibri" pitchFamily="34" charset="-12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lvl="0" indent="0">
                        <a:buNone/>
                      </a:pPr>
                      <a:r>
                        <a:rPr lang="en-US" sz="850" b="0" i="0" u="none" strike="noStrike" baseline="0" noProof="0">
                          <a:solidFill>
                            <a:srgbClr val="6B6B6B"/>
                          </a:solidFill>
                          <a:latin typeface="Calibri"/>
                          <a:ea typeface="Calibri"/>
                          <a:cs typeface="Calibri"/>
                        </a:rPr>
                        <a:t>File name and ID is done manually.</a:t>
                      </a:r>
                      <a:endParaRPr lang="en-US"/>
                    </a:p>
                    <a:p>
                      <a:pPr marL="0" lvl="0" indent="0">
                        <a:buNone/>
                      </a:pPr>
                      <a:r>
                        <a:rPr lang="en-US" sz="850">
                          <a:solidFill>
                            <a:srgbClr val="6B6B6B"/>
                          </a:solidFill>
                          <a:latin typeface="Calibri"/>
                          <a:ea typeface="Calibri"/>
                          <a:cs typeface="Calibri"/>
                        </a:rPr>
                        <a:t>Fully manually populated by PMs. </a:t>
                      </a:r>
                    </a:p>
                    <a:p>
                      <a:pPr marL="0" indent="0">
                        <a:buNone/>
                      </a:pPr>
                      <a:r>
                        <a:rPr lang="en-US" sz="850">
                          <a:solidFill>
                            <a:srgbClr val="6B6B6B"/>
                          </a:solidFill>
                          <a:latin typeface="Calibri" charset="0"/>
                          <a:ea typeface="Calibri" charset="0"/>
                          <a:cs typeface="Calibri" charset="0"/>
                        </a:rPr>
                        <a:t>Manually upload to SharePoint</a:t>
                      </a:r>
                      <a:endParaRPr lang="en-US" sz="850">
                        <a:solidFill>
                          <a:srgbClr val="6B6B6B"/>
                        </a:solidFill>
                        <a:latin typeface="Calibri" pitchFamily="34" charset="0"/>
                        <a:ea typeface="Calibri" pitchFamily="34" charset="-122"/>
                        <a:cs typeface="Calibri" pitchFamily="34" charset="-12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Purely manual, repetitive administration work with ad-hoc communication needed to move it forward.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PM is not sure if this document is required and a must in VIRP.</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latin typeface="Calibri" charset="0"/>
                          <a:ea typeface="Calibri" charset="0"/>
                          <a:cs typeface="Calibri" charset="0"/>
                        </a:rPr>
                        <a: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8</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A1A1A"/>
                          </a:solidFill>
                          <a:effectLst/>
                          <a:uLnTx/>
                          <a:uFillTx/>
                          <a:latin typeface="Calibri" pitchFamily="34" charset="0"/>
                          <a:ea typeface="Calibri" pitchFamily="34" charset="-122"/>
                          <a:cs typeface="Calibri" pitchFamily="34" charset="-120"/>
                        </a:rPr>
                        <a:t>Release Note</a:t>
                      </a:r>
                      <a:endParaRPr kumimoji="0" lang="en-US" sz="1000" b="0" i="0" u="none" strike="noStrike" kern="1200" cap="none" spc="0" normalizeH="0" baseline="0" noProof="0">
                        <a:ln>
                          <a:noFill/>
                        </a:ln>
                        <a:solidFill>
                          <a:prstClr val="black"/>
                        </a:solidFill>
                        <a:effectLst/>
                        <a:uLnTx/>
                        <a:uFillTx/>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Release Note information retrieved from ADO via Report Generator</a:t>
                      </a:r>
                      <a:endParaRPr lang="en-US" sz="9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lvl="0" indent="0">
                        <a:buNone/>
                      </a:pPr>
                      <a:r>
                        <a:rPr lang="en-US" sz="850" b="0" i="0" u="none" strike="noStrike" baseline="0" noProof="0">
                          <a:solidFill>
                            <a:srgbClr val="6B6B6B"/>
                          </a:solidFill>
                          <a:latin typeface="Calibri"/>
                          <a:ea typeface="Calibri"/>
                          <a:cs typeface="Calibri"/>
                        </a:rPr>
                        <a:t>File name and ID is done manually.</a:t>
                      </a:r>
                      <a:endParaRPr lang="en-US"/>
                    </a:p>
                    <a:p>
                      <a:pPr marL="0" lvl="0" indent="0">
                        <a:buNone/>
                      </a:pPr>
                      <a:r>
                        <a:rPr lang="en-US" sz="850">
                          <a:solidFill>
                            <a:srgbClr val="6B6B6B"/>
                          </a:solidFill>
                          <a:latin typeface="Calibri"/>
                          <a:ea typeface="Calibri"/>
                          <a:cs typeface="Calibri"/>
                        </a:rPr>
                        <a:t>Auto-generated, but content needs checking and reformatting.</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850" b="0" i="0" u="none" strike="noStrike" kern="1200" cap="none" spc="0" normalizeH="0" baseline="0" noProof="0">
                          <a:ln>
                            <a:noFill/>
                          </a:ln>
                          <a:solidFill>
                            <a:srgbClr val="C0392B"/>
                          </a:solidFill>
                          <a:effectLst/>
                          <a:uLnTx/>
                          <a:uFillTx/>
                          <a:latin typeface="Calibri" pitchFamily="34" charset="0"/>
                          <a:ea typeface="Calibri" pitchFamily="34" charset="-122"/>
                          <a:cs typeface="Calibri" pitchFamily="34" charset="-120"/>
                        </a:rPr>
                      </a:br>
                      <a:r>
                        <a:rPr kumimoji="0" lang="en-US" sz="850" b="0" i="0" u="none" strike="noStrike" kern="1200" cap="none" spc="0" normalizeH="0" baseline="0">
                          <a:ln>
                            <a:noFill/>
                          </a:ln>
                          <a:solidFill>
                            <a:srgbClr val="C0392B"/>
                          </a:solidFill>
                          <a:effectLst/>
                          <a:uLnTx/>
                          <a:uFillTx/>
                          <a:latin typeface="Calibri" pitchFamily="34" charset="0"/>
                          <a:ea typeface="Calibri" pitchFamily="34" charset="-122"/>
                          <a:cs typeface="Calibri" pitchFamily="34" charset="-120"/>
                        </a:rPr>
                        <a:t>See the “Release Note and eLearning” session</a:t>
                      </a:r>
                      <a:endParaRPr lang="en-US" sz="850">
                        <a:latin typeface="Calibri" charset="0"/>
                        <a:ea typeface="Calibri" charset="0"/>
                        <a:cs typeface="Calibri" charset="0"/>
                      </a:endParaRPr>
                    </a:p>
                    <a:p>
                      <a:pPr marL="0" indent="0">
                        <a:buNone/>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850">
                          <a:latin typeface="Calibri"/>
                          <a:ea typeface="Calibri"/>
                          <a:cs typeface="Calibri"/>
                        </a:rPr>
                        <a:t>See Release Note and eLearning session</a:t>
                      </a: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0057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A2B25E-49AC-987D-E22A-6430C8EA7F6F}"/>
              </a:ext>
            </a:extLst>
          </p:cNvPr>
          <p:cNvPicPr>
            <a:picLocks noChangeAspect="1"/>
          </p:cNvPicPr>
          <p:nvPr/>
        </p:nvPicPr>
        <p:blipFill>
          <a:blip r:embed="rId2"/>
          <a:stretch>
            <a:fillRect/>
          </a:stretch>
        </p:blipFill>
        <p:spPr>
          <a:xfrm>
            <a:off x="218515" y="659187"/>
            <a:ext cx="7474324" cy="3119158"/>
          </a:xfrm>
          <a:prstGeom prst="rect">
            <a:avLst/>
          </a:prstGeom>
        </p:spPr>
      </p:pic>
      <p:pic>
        <p:nvPicPr>
          <p:cNvPr id="5" name="Picture 4">
            <a:extLst>
              <a:ext uri="{FF2B5EF4-FFF2-40B4-BE49-F238E27FC236}">
                <a16:creationId xmlns:a16="http://schemas.microsoft.com/office/drawing/2014/main" id="{050DD1B8-7AA3-9A7D-1975-37056A906015}"/>
              </a:ext>
            </a:extLst>
          </p:cNvPr>
          <p:cNvPicPr>
            <a:picLocks noChangeAspect="1"/>
          </p:cNvPicPr>
          <p:nvPr/>
        </p:nvPicPr>
        <p:blipFill>
          <a:blip r:embed="rId3"/>
          <a:stretch>
            <a:fillRect/>
          </a:stretch>
        </p:blipFill>
        <p:spPr>
          <a:xfrm>
            <a:off x="6539657" y="763203"/>
            <a:ext cx="4924275" cy="2913647"/>
          </a:xfrm>
          <a:prstGeom prst="rect">
            <a:avLst/>
          </a:prstGeom>
        </p:spPr>
      </p:pic>
      <p:pic>
        <p:nvPicPr>
          <p:cNvPr id="8" name="Picture 7">
            <a:extLst>
              <a:ext uri="{FF2B5EF4-FFF2-40B4-BE49-F238E27FC236}">
                <a16:creationId xmlns:a16="http://schemas.microsoft.com/office/drawing/2014/main" id="{783C7CD2-11D8-36B1-D724-2A7F99FFD687}"/>
              </a:ext>
            </a:extLst>
          </p:cNvPr>
          <p:cNvPicPr>
            <a:picLocks noChangeAspect="1"/>
          </p:cNvPicPr>
          <p:nvPr/>
        </p:nvPicPr>
        <p:blipFill>
          <a:blip r:embed="rId4"/>
          <a:stretch>
            <a:fillRect/>
          </a:stretch>
        </p:blipFill>
        <p:spPr>
          <a:xfrm>
            <a:off x="3963338" y="4379757"/>
            <a:ext cx="4115068" cy="513276"/>
          </a:xfrm>
          <a:prstGeom prst="rect">
            <a:avLst/>
          </a:prstGeom>
        </p:spPr>
      </p:pic>
      <p:pic>
        <p:nvPicPr>
          <p:cNvPr id="7" name="Picture 6">
            <a:extLst>
              <a:ext uri="{FF2B5EF4-FFF2-40B4-BE49-F238E27FC236}">
                <a16:creationId xmlns:a16="http://schemas.microsoft.com/office/drawing/2014/main" id="{82B5977B-1C15-85CB-EAC2-65D17813B763}"/>
              </a:ext>
            </a:extLst>
          </p:cNvPr>
          <p:cNvPicPr>
            <a:picLocks noChangeAspect="1"/>
          </p:cNvPicPr>
          <p:nvPr/>
        </p:nvPicPr>
        <p:blipFill>
          <a:blip r:embed="rId5"/>
          <a:stretch>
            <a:fillRect/>
          </a:stretch>
        </p:blipFill>
        <p:spPr>
          <a:xfrm>
            <a:off x="7697541" y="3432085"/>
            <a:ext cx="4127143" cy="2923773"/>
          </a:xfrm>
          <a:prstGeom prst="rect">
            <a:avLst/>
          </a:prstGeom>
        </p:spPr>
      </p:pic>
      <p:pic>
        <p:nvPicPr>
          <p:cNvPr id="9" name="Picture 8">
            <a:extLst>
              <a:ext uri="{FF2B5EF4-FFF2-40B4-BE49-F238E27FC236}">
                <a16:creationId xmlns:a16="http://schemas.microsoft.com/office/drawing/2014/main" id="{7D5B3395-7F2C-7792-0AB0-E6BA3951A932}"/>
              </a:ext>
            </a:extLst>
          </p:cNvPr>
          <p:cNvPicPr>
            <a:picLocks noChangeAspect="1"/>
          </p:cNvPicPr>
          <p:nvPr/>
        </p:nvPicPr>
        <p:blipFill>
          <a:blip r:embed="rId6"/>
          <a:stretch>
            <a:fillRect/>
          </a:stretch>
        </p:blipFill>
        <p:spPr>
          <a:xfrm>
            <a:off x="226922" y="2221605"/>
            <a:ext cx="3152240" cy="4411014"/>
          </a:xfrm>
          <a:prstGeom prst="rect">
            <a:avLst/>
          </a:prstGeom>
        </p:spPr>
      </p:pic>
    </p:spTree>
    <p:extLst>
      <p:ext uri="{BB962C8B-B14F-4D97-AF65-F5344CB8AC3E}">
        <p14:creationId xmlns:p14="http://schemas.microsoft.com/office/powerpoint/2010/main" val="242152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26603-4581-888E-5C3B-3E4A4DA44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1B3CD-E291-E9C2-481E-3C12E5685F0A}"/>
              </a:ext>
            </a:extLst>
          </p:cNvPr>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The VIRP process</a:t>
            </a:r>
          </a:p>
        </p:txBody>
      </p:sp>
      <p:sp>
        <p:nvSpPr>
          <p:cNvPr id="4" name="TextBox 3">
            <a:extLst>
              <a:ext uri="{FF2B5EF4-FFF2-40B4-BE49-F238E27FC236}">
                <a16:creationId xmlns:a16="http://schemas.microsoft.com/office/drawing/2014/main" id="{12C9C3F7-11F1-7B61-12C7-E8AC0C1D218C}"/>
              </a:ext>
            </a:extLst>
          </p:cNvPr>
          <p:cNvSpPr txBox="1"/>
          <p:nvPr/>
        </p:nvSpPr>
        <p:spPr>
          <a:xfrm>
            <a:off x="384048" y="3291840"/>
            <a:ext cx="11430000" cy="1188720"/>
          </a:xfrm>
          <a:prstGeom prst="rect">
            <a:avLst/>
          </a:prstGeom>
          <a:noFill/>
        </p:spPr>
        <p:txBody>
          <a:bodyPr wrap="square" lIns="0" tIns="0" rIns="0" bIns="0">
            <a:spAutoFit/>
          </a:bodyPr>
          <a:lstStyle/>
          <a:p>
            <a:pPr algn="ctr">
              <a:spcBef>
                <a:spcPts val="0"/>
              </a:spcBef>
              <a:spcAft>
                <a:spcPts val="1000"/>
              </a:spcAft>
            </a:pPr>
            <a:r>
              <a:rPr sz="2600" b="0">
                <a:solidFill>
                  <a:srgbClr val="A0A0A0"/>
                </a:solidFill>
                <a:latin typeface="Viedoc Monument Grotesk"/>
              </a:rPr>
              <a:t>Your slides go here</a:t>
            </a:r>
          </a:p>
          <a:p>
            <a:pPr algn="ctr">
              <a:spcBef>
                <a:spcPts val="0"/>
              </a:spcBef>
              <a:spcAft>
                <a:spcPts val="0"/>
              </a:spcAft>
            </a:pPr>
            <a:r>
              <a:rPr sz="1300" b="0">
                <a:solidFill>
                  <a:srgbClr val="A0A0A0"/>
                </a:solidFill>
                <a:latin typeface="Viedoc Monument Grotesk"/>
              </a:rPr>
              <a:t>Paste after the chapter slide before this one, then delete this slide. No slides is also fine.</a:t>
            </a:r>
          </a:p>
        </p:txBody>
      </p:sp>
      <p:sp>
        <p:nvSpPr>
          <p:cNvPr id="5" name="TextBox 4">
            <a:extLst>
              <a:ext uri="{FF2B5EF4-FFF2-40B4-BE49-F238E27FC236}">
                <a16:creationId xmlns:a16="http://schemas.microsoft.com/office/drawing/2014/main" id="{63E22C4F-0660-0451-8CEB-3CA0F4A81958}"/>
              </a:ext>
            </a:extLst>
          </p:cNvPr>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pic>
        <p:nvPicPr>
          <p:cNvPr id="7" name="Picture 6">
            <a:extLst>
              <a:ext uri="{FF2B5EF4-FFF2-40B4-BE49-F238E27FC236}">
                <a16:creationId xmlns:a16="http://schemas.microsoft.com/office/drawing/2014/main" id="{6A60D9FF-C227-AFC4-31E4-1BE9858C8AC5}"/>
              </a:ext>
            </a:extLst>
          </p:cNvPr>
          <p:cNvPicPr>
            <a:picLocks noChangeAspect="1"/>
          </p:cNvPicPr>
          <p:nvPr/>
        </p:nvPicPr>
        <p:blipFill>
          <a:blip r:embed="rId2"/>
          <a:stretch>
            <a:fillRect/>
          </a:stretch>
        </p:blipFill>
        <p:spPr>
          <a:xfrm>
            <a:off x="6097398" y="657996"/>
            <a:ext cx="5710554" cy="2039484"/>
          </a:xfrm>
          <a:prstGeom prst="rect">
            <a:avLst/>
          </a:prstGeom>
        </p:spPr>
      </p:pic>
      <p:sp>
        <p:nvSpPr>
          <p:cNvPr id="11" name="TextBox 10">
            <a:extLst>
              <a:ext uri="{FF2B5EF4-FFF2-40B4-BE49-F238E27FC236}">
                <a16:creationId xmlns:a16="http://schemas.microsoft.com/office/drawing/2014/main" id="{B5B2CCC6-C517-743A-50BD-EA6B18A2E12B}"/>
              </a:ext>
            </a:extLst>
          </p:cNvPr>
          <p:cNvSpPr txBox="1"/>
          <p:nvPr/>
        </p:nvSpPr>
        <p:spPr>
          <a:xfrm>
            <a:off x="287383" y="2768771"/>
            <a:ext cx="6096000" cy="461665"/>
          </a:xfrm>
          <a:prstGeom prst="rect">
            <a:avLst/>
          </a:prstGeom>
          <a:noFill/>
        </p:spPr>
        <p:txBody>
          <a:bodyPr wrap="square" lIns="91440" tIns="45720" rIns="91440" bIns="45720" anchor="t">
            <a:spAutoFit/>
          </a:bodyPr>
          <a:lstStyle/>
          <a:p>
            <a:r>
              <a:rPr lang="en-US" sz="2400" b="1">
                <a:solidFill>
                  <a:srgbClr val="1E2761"/>
                </a:solidFill>
                <a:latin typeface="Cambria"/>
                <a:ea typeface="Cambria"/>
              </a:rPr>
              <a:t>Other QA documents</a:t>
            </a:r>
            <a:endParaRPr lang="en-US">
              <a:latin typeface="Cambria"/>
              <a:ea typeface="Cambria"/>
            </a:endParaRPr>
          </a:p>
        </p:txBody>
      </p:sp>
      <p:graphicFrame>
        <p:nvGraphicFramePr>
          <p:cNvPr id="12" name="Table 0">
            <a:extLst>
              <a:ext uri="{FF2B5EF4-FFF2-40B4-BE49-F238E27FC236}">
                <a16:creationId xmlns:a16="http://schemas.microsoft.com/office/drawing/2014/main" id="{643F6217-AAEB-30E5-1021-60E7DA2EE762}"/>
              </a:ext>
            </a:extLst>
          </p:cNvPr>
          <p:cNvGraphicFramePr>
            <a:graphicFrameLocks noGrp="1"/>
          </p:cNvGraphicFramePr>
          <p:nvPr>
            <p:extLst>
              <p:ext uri="{D42A27DB-BD31-4B8C-83A1-F6EECF244321}">
                <p14:modId xmlns:p14="http://schemas.microsoft.com/office/powerpoint/2010/main" val="3030128044"/>
              </p:ext>
            </p:extLst>
          </p:nvPr>
        </p:nvGraphicFramePr>
        <p:xfrm>
          <a:off x="377952" y="3291840"/>
          <a:ext cx="11247120" cy="2537460"/>
        </p:xfrm>
        <a:graphic>
          <a:graphicData uri="http://schemas.openxmlformats.org/drawingml/2006/table">
            <a:tbl>
              <a:tblPr/>
              <a:tblGrid>
                <a:gridCol w="4114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0">
                <a:tc>
                  <a:txBody>
                    <a:bodyPr/>
                    <a:lstStyle/>
                    <a:p>
                      <a:pPr marL="0" indent="0" algn="ctr">
                        <a:buNone/>
                      </a:pPr>
                      <a:r>
                        <a:rPr lang="en-US" sz="1150" b="1">
                          <a:solidFill>
                            <a:srgbClr val="FFFFFF"/>
                          </a:solidFill>
                          <a:latin typeface="Calibri" pitchFamily="34" charset="0"/>
                          <a:ea typeface="Calibri" pitchFamily="34" charset="-122"/>
                          <a:cs typeface="Calibri" pitchFamily="34" charset="-120"/>
                        </a:rPr>
                        <a: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Document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Description</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Working Steps</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indent="0" algn="l">
                        <a:buNone/>
                      </a:pPr>
                      <a:r>
                        <a:rPr lang="en-US" sz="1150" b="1">
                          <a:solidFill>
                            <a:srgbClr val="FFFFFF"/>
                          </a:solidFill>
                          <a:latin typeface="Calibri" pitchFamily="34" charset="0"/>
                          <a:ea typeface="Calibri" pitchFamily="34" charset="-122"/>
                          <a:cs typeface="Calibri" pitchFamily="34" charset="-120"/>
                        </a:rPr>
                        <a:t>Painpoint</a:t>
                      </a:r>
                      <a:endParaRPr lang="en-US" sz="11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Calibri" pitchFamily="34" charset="0"/>
                          <a:ea typeface="Calibri" pitchFamily="34" charset="-122"/>
                          <a:cs typeface="Calibri" pitchFamily="34" charset="-120"/>
                        </a:rPr>
                        <a:t>Must do/Required</a:t>
                      </a:r>
                      <a:endParaRPr lang="en-US" sz="11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9&amp;10</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EDC Management sheet (EN + JP)</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Manually maintained and reviewed, in two languages, by both PC and QA.</a:t>
                      </a:r>
                    </a:p>
                    <a:p>
                      <a:pPr marL="0" indent="0">
                        <a:buNone/>
                      </a:pPr>
                      <a:endParaRPr lang="en-US" sz="900" i="1">
                        <a:solidFill>
                          <a:srgbClr val="1E2761"/>
                        </a:solidFill>
                        <a:latin typeface="Calibri" pitchFamily="34" charset="0"/>
                        <a:ea typeface="Calibri" pitchFamily="34" charset="-122"/>
                        <a:cs typeface="Calibri" pitchFamily="34" charset="-12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a:solidFill>
                            <a:srgbClr val="6B6B6B"/>
                          </a:solidFill>
                          <a:latin typeface="Calibri" pitchFamily="34" charset="0"/>
                          <a:ea typeface="Calibri" pitchFamily="34" charset="-122"/>
                          <a:cs typeface="Calibri" pitchFamily="34" charset="-120"/>
                        </a:rPr>
                        <a:t>Manually maintained and reviewed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a:solidFill>
                            <a:srgbClr val="6B6B6B"/>
                          </a:solidFill>
                          <a:latin typeface="Calibri" pitchFamily="34" charset="0"/>
                          <a:ea typeface="Calibri" pitchFamily="34" charset="-122"/>
                          <a:cs typeface="Calibri" pitchFamily="34" charset="-120"/>
                        </a:rPr>
                        <a:t>Upload to SharePoint</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solidFill>
                            <a:srgbClr val="C0392B"/>
                          </a:solidFill>
                          <a:latin typeface="Calibri" pitchFamily="34" charset="0"/>
                          <a:ea typeface="Calibri" pitchFamily="34" charset="-122"/>
                          <a:cs typeface="Calibri" pitchFamily="34" charset="-120"/>
                        </a:rPr>
                        <a:t>See the “QA during a release” session later</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850">
                          <a:solidFill>
                            <a:schemeClr val="tx1"/>
                          </a:solidFill>
                          <a:latin typeface="Calibri" pitchFamily="34" charset="0"/>
                          <a:ea typeface="Calibri" pitchFamily="34" charset="-122"/>
                          <a:cs typeface="Calibri" pitchFamily="34" charset="-120"/>
                        </a:rPr>
                        <a:t>See the “QA during a release” session later</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11</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Quality System TOC</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900" i="1">
                          <a:solidFill>
                            <a:srgbClr val="1E2761"/>
                          </a:solidFill>
                          <a:latin typeface="Calibri" pitchFamily="34" charset="0"/>
                          <a:ea typeface="Calibri" pitchFamily="34" charset="-122"/>
                          <a:cs typeface="Calibri" pitchFamily="34" charset="-120"/>
                        </a:rPr>
                        <a:t>Auto-generated from PT, but new SOPs need manual highlighting</a:t>
                      </a:r>
                    </a:p>
                    <a:p>
                      <a:pPr marL="0" indent="0">
                        <a:buNone/>
                      </a:pPr>
                      <a:endParaRPr lang="en-US" sz="900" i="1">
                        <a:solidFill>
                          <a:srgbClr val="1E2761"/>
                        </a:solidFill>
                        <a:latin typeface="Calibri" pitchFamily="34" charset="0"/>
                        <a:ea typeface="Calibri" pitchFamily="34" charset="-122"/>
                        <a:cs typeface="Calibri" pitchFamily="34" charset="-12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a:solidFill>
                            <a:srgbClr val="6B6B6B"/>
                          </a:solidFill>
                          <a:latin typeface="Calibri" pitchFamily="34" charset="0"/>
                          <a:ea typeface="Calibri" pitchFamily="34" charset="-122"/>
                          <a:cs typeface="Calibri" pitchFamily="34" charset="-120"/>
                        </a:rPr>
                        <a:t>Auto-generated from PT, but new SOPs need manual highlighting</a:t>
                      </a:r>
                    </a:p>
                    <a:p>
                      <a:pPr marL="0" indent="0">
                        <a:buNone/>
                      </a:pPr>
                      <a:endParaRPr lang="en-US" sz="850">
                        <a:solidFill>
                          <a:srgbClr val="6B6B6B"/>
                        </a:solidFill>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See the “QA during a release” session later</a:t>
                      </a:r>
                    </a:p>
                    <a:p>
                      <a:pPr marL="0" indent="0">
                        <a:buNone/>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chemeClr val="tx1"/>
                          </a:solidFill>
                          <a:latin typeface="Calibri" pitchFamily="34" charset="0"/>
                          <a:ea typeface="Calibri" pitchFamily="34" charset="-122"/>
                          <a:cs typeface="Calibri" pitchFamily="34" charset="-120"/>
                        </a:rPr>
                        <a:t>See the “QA during a release” session later</a:t>
                      </a:r>
                    </a:p>
                    <a:p>
                      <a:pPr marL="0" indent="0">
                        <a:buNone/>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12</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Validation Summary Report</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rgbClr val="1E2761"/>
                          </a:solidFill>
                          <a:latin typeface="Calibri" pitchFamily="34" charset="0"/>
                          <a:ea typeface="Calibri" pitchFamily="34" charset="-122"/>
                          <a:cs typeface="Calibri" pitchFamily="34" charset="-120"/>
                        </a:rPr>
                        <a:t>Manually drafted report; requires signature.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rgbClr val="1E2761"/>
                          </a:solidFill>
                          <a:latin typeface="Calibri" pitchFamily="34" charset="0"/>
                          <a:ea typeface="Calibri" pitchFamily="34" charset="-122"/>
                          <a:cs typeface="Calibri" pitchFamily="34" charset="-120"/>
                        </a:rPr>
                        <a:t>Can be completed after the PQ results are available.</a:t>
                      </a:r>
                      <a:br>
                        <a:rPr lang="en-US" sz="900" i="1">
                          <a:solidFill>
                            <a:srgbClr val="1E2761"/>
                          </a:solidFill>
                          <a:latin typeface="Calibri" pitchFamily="34" charset="0"/>
                          <a:ea typeface="Calibri" pitchFamily="34" charset="-122"/>
                          <a:cs typeface="Calibri" pitchFamily="34" charset="-120"/>
                        </a:rPr>
                      </a:br>
                      <a:endParaRPr lang="en-US" sz="900" i="1" kern="1200">
                        <a:solidFill>
                          <a:srgbClr val="1E2761"/>
                        </a:solidFill>
                        <a:latin typeface="Calibri" pitchFamily="34" charset="0"/>
                        <a:ea typeface="Calibri" pitchFamily="34" charset="-122"/>
                        <a:cs typeface="Calibri" pitchFamily="34" charset="-12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lvl="0" indent="0">
                        <a:buNone/>
                      </a:pPr>
                      <a:r>
                        <a:rPr lang="en-US" sz="850" b="0" i="0" u="none" strike="noStrike" baseline="0" noProof="0">
                          <a:solidFill>
                            <a:srgbClr val="6B6B6B"/>
                          </a:solidFill>
                          <a:latin typeface="Calibri"/>
                          <a:ea typeface="Calibri"/>
                          <a:cs typeface="Calibri"/>
                        </a:rPr>
                        <a:t>File name and ID is done manually.</a:t>
                      </a:r>
                      <a:endParaRPr lang="en-US"/>
                    </a:p>
                    <a:p>
                      <a:pPr marL="0" lvl="0" indent="0">
                        <a:buNone/>
                      </a:pPr>
                      <a:r>
                        <a:rPr lang="en-US" sz="850">
                          <a:solidFill>
                            <a:srgbClr val="6B6B6B"/>
                          </a:solidFill>
                          <a:latin typeface="Calibri"/>
                          <a:ea typeface="Calibri"/>
                          <a:cs typeface="Calibri"/>
                        </a:rPr>
                        <a:t>Manually drafted after PQ results are available. Sent for signature.</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See the “QA during a release” session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chemeClr val="tx1"/>
                          </a:solidFill>
                          <a:latin typeface="Calibri" pitchFamily="34" charset="0"/>
                          <a:ea typeface="Calibri" pitchFamily="34" charset="-122"/>
                          <a:cs typeface="Calibri" pitchFamily="34" charset="-120"/>
                        </a:rPr>
                        <a:t>See the “QA during a release” session later</a:t>
                      </a:r>
                    </a:p>
                    <a:p>
                      <a:pPr marL="0" indent="0">
                        <a:buNone/>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b="1">
                          <a:solidFill>
                            <a:srgbClr val="1E2761"/>
                          </a:solidFill>
                          <a:latin typeface="Calibri" pitchFamily="34" charset="0"/>
                          <a:ea typeface="Calibri" pitchFamily="34" charset="-122"/>
                          <a:cs typeface="Calibri" pitchFamily="34" charset="-120"/>
                        </a:rPr>
                        <a:t>13</a:t>
                      </a:r>
                      <a:endParaRPr lang="en-US" sz="13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1000" b="1">
                          <a:solidFill>
                            <a:srgbClr val="1A1A1A"/>
                          </a:solidFill>
                          <a:latin typeface="Calibri" pitchFamily="34" charset="0"/>
                          <a:ea typeface="Calibri" pitchFamily="34" charset="-122"/>
                          <a:cs typeface="Calibri" pitchFamily="34" charset="-120"/>
                        </a:rPr>
                        <a:t>Release Certificate</a:t>
                      </a:r>
                      <a:endParaRPr lang="en-US" sz="100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indent="0">
                        <a:buNone/>
                      </a:pPr>
                      <a:r>
                        <a:rPr lang="en-US" sz="900">
                          <a:latin typeface="Calibri" charset="0"/>
                          <a:ea typeface="Calibri" charset="0"/>
                          <a:cs typeface="Calibri" charset="0"/>
                        </a:rPr>
                        <a:t>Manually drafted</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lvl="0" indent="0">
                        <a:buNone/>
                      </a:pPr>
                      <a:r>
                        <a:rPr lang="en-US" sz="850" b="0" i="0" u="none" strike="noStrike" baseline="0" noProof="0">
                          <a:solidFill>
                            <a:srgbClr val="6B6B6B"/>
                          </a:solidFill>
                          <a:latin typeface="Calibri"/>
                          <a:ea typeface="Calibri"/>
                          <a:cs typeface="Calibri"/>
                        </a:rPr>
                        <a:t>File name and ID is done manually.</a:t>
                      </a:r>
                      <a:endParaRPr lang="en-US"/>
                    </a:p>
                    <a:p>
                      <a:pPr marL="0" lvl="0" indent="0">
                        <a:buNone/>
                      </a:pPr>
                      <a:r>
                        <a:rPr lang="en-US" sz="850">
                          <a:solidFill>
                            <a:srgbClr val="6B6B6B"/>
                          </a:solidFill>
                          <a:latin typeface="Calibri"/>
                          <a:ea typeface="Calibri"/>
                          <a:cs typeface="Calibri"/>
                        </a:rPr>
                        <a:t>Manually drafted.</a:t>
                      </a: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rgbClr val="C0392B"/>
                          </a:solidFill>
                          <a:latin typeface="Calibri" pitchFamily="34" charset="0"/>
                          <a:ea typeface="Calibri" pitchFamily="34" charset="-122"/>
                          <a:cs typeface="Calibri" pitchFamily="34" charset="-120"/>
                        </a:rPr>
                        <a:t>See the “QA during a release” session later</a:t>
                      </a:r>
                    </a:p>
                    <a:p>
                      <a:pPr marL="0" indent="0">
                        <a:buNone/>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a:solidFill>
                            <a:schemeClr val="tx1"/>
                          </a:solidFill>
                          <a:latin typeface="Calibri" pitchFamily="34" charset="0"/>
                          <a:ea typeface="Calibri" pitchFamily="34" charset="-122"/>
                          <a:cs typeface="Calibri" pitchFamily="34" charset="-120"/>
                        </a:rPr>
                        <a:t>See the “QA during a release” session later</a:t>
                      </a:r>
                    </a:p>
                    <a:p>
                      <a:pPr marL="0" indent="0">
                        <a:buNone/>
                      </a:pPr>
                      <a:endParaRPr lang="en-US" sz="850">
                        <a:latin typeface="Calibri" charset="0"/>
                        <a:ea typeface="Calibri" charset="0"/>
                        <a:cs typeface="Calibri" charset="0"/>
                      </a:endParaRPr>
                    </a:p>
                  </a:txBody>
                  <a:tcPr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C28D6705-1A20-A289-42EE-F545C64EBE41}"/>
              </a:ext>
            </a:extLst>
          </p:cNvPr>
          <p:cNvSpPr txBox="1"/>
          <p:nvPr/>
        </p:nvSpPr>
        <p:spPr>
          <a:xfrm>
            <a:off x="379603" y="1777276"/>
            <a:ext cx="11430000" cy="800219"/>
          </a:xfrm>
          <a:prstGeom prst="rect">
            <a:avLst/>
          </a:prstGeom>
          <a:noFill/>
        </p:spPr>
        <p:txBody>
          <a:bodyPr wrap="square" lIns="0" tIns="0" rIns="0" bIns="0" anchor="t">
            <a:spAutoFit/>
          </a:bodyPr>
          <a:lstStyle/>
          <a:p>
            <a:pPr algn="l">
              <a:spcBef>
                <a:spcPts val="0"/>
              </a:spcBef>
              <a:spcAft>
                <a:spcPts val="0"/>
              </a:spcAft>
            </a:pPr>
            <a:r>
              <a:rPr lang="en-US" sz="1300">
                <a:latin typeface="Viedoc Monument Grotesk"/>
              </a:rPr>
              <a:t>13 documents, done by different roles</a:t>
            </a:r>
          </a:p>
          <a:p>
            <a:pPr algn="l">
              <a:spcBef>
                <a:spcPts val="0"/>
              </a:spcBef>
              <a:spcAft>
                <a:spcPts val="0"/>
              </a:spcAft>
            </a:pPr>
            <a:r>
              <a:rPr lang="en-US" sz="1300">
                <a:latin typeface="Viedoc Monument Grotesk"/>
              </a:rPr>
              <a:t>No strict timeline but a clear deadline</a:t>
            </a:r>
          </a:p>
          <a:p>
            <a:r>
              <a:rPr lang="en-US" sz="1300">
                <a:latin typeface="Viedoc Monument Grotesk"/>
              </a:rPr>
              <a:t>Two of them can only be completed after PQ</a:t>
            </a:r>
          </a:p>
          <a:p>
            <a:r>
              <a:rPr lang="en-US" sz="1300">
                <a:latin typeface="Viedoc Monument Grotesk"/>
              </a:rPr>
              <a:t>Normally a week</a:t>
            </a:r>
            <a:endParaRPr lang="en-US" sz="1300" b="0">
              <a:latin typeface="Viedoc Monument Grotesk"/>
            </a:endParaRPr>
          </a:p>
        </p:txBody>
      </p:sp>
      <p:sp>
        <p:nvSpPr>
          <p:cNvPr id="3" name="TextBox 2">
            <a:extLst>
              <a:ext uri="{FF2B5EF4-FFF2-40B4-BE49-F238E27FC236}">
                <a16:creationId xmlns:a16="http://schemas.microsoft.com/office/drawing/2014/main" id="{B9DE2F19-5B60-38FB-DE1A-2C5D56176B4A}"/>
              </a:ext>
            </a:extLst>
          </p:cNvPr>
          <p:cNvSpPr txBox="1"/>
          <p:nvPr/>
        </p:nvSpPr>
        <p:spPr>
          <a:xfrm>
            <a:off x="389217" y="5920232"/>
            <a:ext cx="728621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Final VIRP package is generated then sent to IT for deploying</a:t>
            </a:r>
          </a:p>
        </p:txBody>
      </p:sp>
    </p:spTree>
    <p:extLst>
      <p:ext uri="{BB962C8B-B14F-4D97-AF65-F5344CB8AC3E}">
        <p14:creationId xmlns:p14="http://schemas.microsoft.com/office/powerpoint/2010/main" val="537912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The translation process</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06</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Yupei Li   ·   15 min</a:t>
            </a:r>
          </a:p>
        </p:txBody>
      </p:sp>
      <p:sp>
        <p:nvSpPr>
          <p:cNvPr id="5" name="TextBox 4"/>
          <p:cNvSpPr txBox="1"/>
          <p:nvPr/>
        </p:nvSpPr>
        <p:spPr>
          <a:xfrm>
            <a:off x="384048" y="4937760"/>
            <a:ext cx="6949440" cy="1097280"/>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How it works now, where it sits relative to code freeze and staging, and what the prototype process would change.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The translation process</a:t>
            </a:r>
          </a:p>
        </p:txBody>
      </p:sp>
      <p:sp>
        <p:nvSpPr>
          <p:cNvPr id="3" name="TextBox 2"/>
          <p:cNvSpPr txBox="1"/>
          <p:nvPr/>
        </p:nvSpPr>
        <p:spPr>
          <a:xfrm>
            <a:off x="260783" y="1491727"/>
            <a:ext cx="4554165" cy="1508105"/>
          </a:xfrm>
          <a:prstGeom prst="rect">
            <a:avLst/>
          </a:prstGeom>
          <a:noFill/>
        </p:spPr>
        <p:txBody>
          <a:bodyPr wrap="square" lIns="0" tIns="0" rIns="0" bIns="0" anchor="t">
            <a:spAutoFit/>
          </a:bodyPr>
          <a:lstStyle/>
          <a:p>
            <a:pPr marL="285750" indent="-285750">
              <a:buFont typeface="Arial" panose="020B0604020202020204" pitchFamily="34" charset="0"/>
              <a:buChar char="•"/>
            </a:pPr>
            <a:r>
              <a:rPr lang="en-US" sz="1400"/>
              <a:t>Undergoing transition to an AI-assisted translation platform (Called </a:t>
            </a:r>
            <a:r>
              <a:rPr lang="en-US" sz="1400" err="1"/>
              <a:t>Lokalise</a:t>
            </a:r>
            <a:r>
              <a:rPr lang="en-US" sz="1400"/>
              <a:t>)</a:t>
            </a:r>
          </a:p>
          <a:p>
            <a:pPr marL="285750" indent="-285750">
              <a:buFont typeface="Arial" panose="020B0604020202020204" pitchFamily="34" charset="0"/>
              <a:buChar char="•"/>
            </a:pPr>
            <a:r>
              <a:rPr lang="en-US" sz="1400"/>
              <a:t>Technically feasible after running two pilots with </a:t>
            </a:r>
            <a:r>
              <a:rPr lang="en-US" sz="1400" err="1"/>
              <a:t>Lokalise</a:t>
            </a:r>
            <a:r>
              <a:rPr lang="en-US" sz="1400"/>
              <a:t> </a:t>
            </a:r>
          </a:p>
          <a:p>
            <a:pPr marL="285750" indent="-285750">
              <a:buFont typeface="Arial" panose="020B0604020202020204" pitchFamily="34" charset="0"/>
              <a:buChar char="•"/>
            </a:pPr>
            <a:r>
              <a:rPr lang="en-US" sz="1400"/>
              <a:t>Few blockers to address </a:t>
            </a:r>
          </a:p>
          <a:p>
            <a:pPr marL="285750" indent="-285750">
              <a:buFont typeface="Arial" panose="020B0604020202020204" pitchFamily="34" charset="0"/>
              <a:buChar char="•"/>
            </a:pPr>
            <a:r>
              <a:rPr lang="en-US" sz="1400"/>
              <a:t>Processes are being developed </a:t>
            </a:r>
          </a:p>
          <a:p>
            <a:pPr marL="285750" indent="-285750">
              <a:buFont typeface="Arial" panose="020B0604020202020204" pitchFamily="34" charset="0"/>
              <a:buChar char="•"/>
            </a:pPr>
            <a:r>
              <a:rPr lang="en-US" sz="1400"/>
              <a:t>Normally take one and half weeks, most time on reviewing, communication</a:t>
            </a:r>
          </a:p>
        </p:txBody>
      </p:sp>
      <p:sp>
        <p:nvSpPr>
          <p:cNvPr id="5" name="TextBox 4"/>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pic>
        <p:nvPicPr>
          <p:cNvPr id="7" name="Picture 6">
            <a:extLst>
              <a:ext uri="{FF2B5EF4-FFF2-40B4-BE49-F238E27FC236}">
                <a16:creationId xmlns:a16="http://schemas.microsoft.com/office/drawing/2014/main" id="{47FD3D47-B643-8C69-B0FF-8359E96FC59A}"/>
              </a:ext>
            </a:extLst>
          </p:cNvPr>
          <p:cNvPicPr>
            <a:picLocks noChangeAspect="1"/>
          </p:cNvPicPr>
          <p:nvPr/>
        </p:nvPicPr>
        <p:blipFill>
          <a:blip r:embed="rId2"/>
          <a:stretch>
            <a:fillRect/>
          </a:stretch>
        </p:blipFill>
        <p:spPr>
          <a:xfrm>
            <a:off x="4527977" y="639000"/>
            <a:ext cx="7477839" cy="2783476"/>
          </a:xfrm>
          <a:prstGeom prst="rect">
            <a:avLst/>
          </a:prstGeom>
        </p:spPr>
      </p:pic>
    </p:spTree>
    <p:extLst>
      <p:ext uri="{BB962C8B-B14F-4D97-AF65-F5344CB8AC3E}">
        <p14:creationId xmlns:p14="http://schemas.microsoft.com/office/powerpoint/2010/main" val="3691214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90144"/>
            <a:ext cx="48768" cy="670560"/>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792480" y="365760"/>
            <a:ext cx="1085088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a:solidFill>
                  <a:srgbClr val="1A1A1A"/>
                </a:solidFill>
                <a:latin typeface="Calibri" pitchFamily="34" charset="0"/>
                <a:ea typeface="Calibri" pitchFamily="34" charset="-122"/>
                <a:cs typeface="Calibri" pitchFamily="34" charset="-120"/>
              </a:rPr>
              <a:t>Background</a:t>
            </a:r>
            <a:endParaRPr lang="en-US" sz="2933"/>
          </a:p>
        </p:txBody>
      </p:sp>
      <p:sp>
        <p:nvSpPr>
          <p:cNvPr id="4" name="Text 2"/>
          <p:cNvSpPr/>
          <p:nvPr/>
        </p:nvSpPr>
        <p:spPr>
          <a:xfrm>
            <a:off x="792480" y="853440"/>
            <a:ext cx="1085088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a:solidFill>
                  <a:srgbClr val="9AA5B4"/>
                </a:solidFill>
                <a:latin typeface="Calibri" pitchFamily="34" charset="0"/>
                <a:ea typeface="Calibri" pitchFamily="34" charset="-122"/>
                <a:cs typeface="Calibri" pitchFamily="34" charset="-120"/>
              </a:rPr>
              <a:t>Current process under PMSOP05 Localization, and what the process looks like with Lokalise</a:t>
            </a:r>
            <a:endParaRPr lang="en-US" sz="1600"/>
          </a:p>
        </p:txBody>
      </p:sp>
      <p:sp>
        <p:nvSpPr>
          <p:cNvPr id="5" name="Shape 3"/>
          <p:cNvSpPr/>
          <p:nvPr/>
        </p:nvSpPr>
        <p:spPr>
          <a:xfrm>
            <a:off x="548640" y="1316736"/>
            <a:ext cx="11094720" cy="12192"/>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 name="Shape 4"/>
          <p:cNvSpPr/>
          <p:nvPr/>
        </p:nvSpPr>
        <p:spPr>
          <a:xfrm>
            <a:off x="487680" y="1487424"/>
            <a:ext cx="5120640" cy="463296"/>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Text 5"/>
          <p:cNvSpPr/>
          <p:nvPr/>
        </p:nvSpPr>
        <p:spPr>
          <a:xfrm>
            <a:off x="487680" y="1487424"/>
            <a:ext cx="512064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Current Process  (Conversis)</a:t>
            </a:r>
            <a:endParaRPr lang="en-US" sz="1600"/>
          </a:p>
        </p:txBody>
      </p:sp>
      <p:sp>
        <p:nvSpPr>
          <p:cNvPr id="8" name="Shape 6"/>
          <p:cNvSpPr/>
          <p:nvPr/>
        </p:nvSpPr>
        <p:spPr>
          <a:xfrm>
            <a:off x="487680" y="1950720"/>
            <a:ext cx="5120640" cy="609600"/>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9" name="Shape 7"/>
          <p:cNvSpPr/>
          <p:nvPr/>
        </p:nvSpPr>
        <p:spPr>
          <a:xfrm>
            <a:off x="3474720" y="2011680"/>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0" name="Text 8"/>
          <p:cNvSpPr/>
          <p:nvPr/>
        </p:nvSpPr>
        <p:spPr>
          <a:xfrm>
            <a:off x="670560" y="1999488"/>
            <a:ext cx="268224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① Code freeze</a:t>
            </a:r>
            <a:endParaRPr lang="en-US" sz="1400"/>
          </a:p>
        </p:txBody>
      </p:sp>
      <p:sp>
        <p:nvSpPr>
          <p:cNvPr id="11" name="Text 9"/>
          <p:cNvSpPr/>
          <p:nvPr/>
        </p:nvSpPr>
        <p:spPr>
          <a:xfrm>
            <a:off x="670560" y="2279904"/>
            <a:ext cx="268224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Call for translation</a:t>
            </a:r>
            <a:endParaRPr lang="en-US" sz="1200"/>
          </a:p>
        </p:txBody>
      </p:sp>
      <p:sp>
        <p:nvSpPr>
          <p:cNvPr id="12" name="Text 10"/>
          <p:cNvSpPr/>
          <p:nvPr/>
        </p:nvSpPr>
        <p:spPr>
          <a:xfrm>
            <a:off x="3596640" y="1950720"/>
            <a:ext cx="24384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Dev team</a:t>
            </a:r>
            <a:endParaRPr lang="en-US" sz="1333"/>
          </a:p>
        </p:txBody>
      </p:sp>
      <p:sp>
        <p:nvSpPr>
          <p:cNvPr id="13" name="Shape 11"/>
          <p:cNvSpPr/>
          <p:nvPr/>
        </p:nvSpPr>
        <p:spPr>
          <a:xfrm>
            <a:off x="2987040" y="2560320"/>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4" name="Text 12"/>
          <p:cNvSpPr/>
          <p:nvPr/>
        </p:nvSpPr>
        <p:spPr>
          <a:xfrm>
            <a:off x="2901696" y="2474976"/>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15" name="Shape 13"/>
          <p:cNvSpPr/>
          <p:nvPr/>
        </p:nvSpPr>
        <p:spPr>
          <a:xfrm>
            <a:off x="487680" y="2645664"/>
            <a:ext cx="5120640" cy="60960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6" name="Shape 14"/>
          <p:cNvSpPr/>
          <p:nvPr/>
        </p:nvSpPr>
        <p:spPr>
          <a:xfrm>
            <a:off x="3474720" y="2706624"/>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7" name="Text 15"/>
          <p:cNvSpPr/>
          <p:nvPr/>
        </p:nvSpPr>
        <p:spPr>
          <a:xfrm>
            <a:off x="670560" y="2694432"/>
            <a:ext cx="268224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② Export keys</a:t>
            </a:r>
            <a:endParaRPr lang="en-US" sz="1400"/>
          </a:p>
        </p:txBody>
      </p:sp>
      <p:sp>
        <p:nvSpPr>
          <p:cNvPr id="18" name="Text 16"/>
          <p:cNvSpPr/>
          <p:nvPr/>
        </p:nvSpPr>
        <p:spPr>
          <a:xfrm>
            <a:off x="670560" y="2974848"/>
            <a:ext cx="268224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Developers push files to SharePoint</a:t>
            </a:r>
            <a:endParaRPr lang="en-US" sz="1200"/>
          </a:p>
        </p:txBody>
      </p:sp>
      <p:sp>
        <p:nvSpPr>
          <p:cNvPr id="19" name="Text 17"/>
          <p:cNvSpPr/>
          <p:nvPr/>
        </p:nvSpPr>
        <p:spPr>
          <a:xfrm>
            <a:off x="3596640" y="2645664"/>
            <a:ext cx="24384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Dev team</a:t>
            </a:r>
            <a:endParaRPr lang="en-US" sz="1333"/>
          </a:p>
        </p:txBody>
      </p:sp>
      <p:sp>
        <p:nvSpPr>
          <p:cNvPr id="20" name="Shape 18"/>
          <p:cNvSpPr/>
          <p:nvPr/>
        </p:nvSpPr>
        <p:spPr>
          <a:xfrm>
            <a:off x="2987040" y="3255264"/>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1" name="Text 19"/>
          <p:cNvSpPr/>
          <p:nvPr/>
        </p:nvSpPr>
        <p:spPr>
          <a:xfrm>
            <a:off x="2901696" y="3169920"/>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22" name="Shape 20"/>
          <p:cNvSpPr/>
          <p:nvPr/>
        </p:nvSpPr>
        <p:spPr>
          <a:xfrm>
            <a:off x="487680" y="3340608"/>
            <a:ext cx="5120640" cy="609600"/>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3" name="Shape 21"/>
          <p:cNvSpPr/>
          <p:nvPr/>
        </p:nvSpPr>
        <p:spPr>
          <a:xfrm>
            <a:off x="3474720" y="3401568"/>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4" name="Text 22"/>
          <p:cNvSpPr/>
          <p:nvPr/>
        </p:nvSpPr>
        <p:spPr>
          <a:xfrm>
            <a:off x="670560" y="3389376"/>
            <a:ext cx="268224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③ Quote approval</a:t>
            </a:r>
            <a:endParaRPr lang="en-US" sz="1400"/>
          </a:p>
        </p:txBody>
      </p:sp>
      <p:sp>
        <p:nvSpPr>
          <p:cNvPr id="25" name="Text 23"/>
          <p:cNvSpPr/>
          <p:nvPr/>
        </p:nvSpPr>
        <p:spPr>
          <a:xfrm>
            <a:off x="670560" y="3669792"/>
            <a:ext cx="268224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PM reviews and approves Conversis quote</a:t>
            </a:r>
            <a:endParaRPr lang="en-US" sz="1200"/>
          </a:p>
        </p:txBody>
      </p:sp>
      <p:sp>
        <p:nvSpPr>
          <p:cNvPr id="26" name="Text 24"/>
          <p:cNvSpPr/>
          <p:nvPr/>
        </p:nvSpPr>
        <p:spPr>
          <a:xfrm>
            <a:off x="3596640" y="3340608"/>
            <a:ext cx="24384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PM</a:t>
            </a:r>
            <a:endParaRPr lang="en-US" sz="1333"/>
          </a:p>
        </p:txBody>
      </p:sp>
      <p:sp>
        <p:nvSpPr>
          <p:cNvPr id="27" name="Shape 25"/>
          <p:cNvSpPr/>
          <p:nvPr/>
        </p:nvSpPr>
        <p:spPr>
          <a:xfrm>
            <a:off x="2987040" y="3950208"/>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8" name="Text 26"/>
          <p:cNvSpPr/>
          <p:nvPr/>
        </p:nvSpPr>
        <p:spPr>
          <a:xfrm>
            <a:off x="2901696" y="3864864"/>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29" name="Shape 27"/>
          <p:cNvSpPr/>
          <p:nvPr/>
        </p:nvSpPr>
        <p:spPr>
          <a:xfrm>
            <a:off x="487680" y="4035552"/>
            <a:ext cx="5120640" cy="60960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0" name="Shape 28"/>
          <p:cNvSpPr/>
          <p:nvPr/>
        </p:nvSpPr>
        <p:spPr>
          <a:xfrm>
            <a:off x="3474720" y="4096512"/>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1" name="Text 29"/>
          <p:cNvSpPr/>
          <p:nvPr/>
        </p:nvSpPr>
        <p:spPr>
          <a:xfrm>
            <a:off x="670560" y="4084320"/>
            <a:ext cx="268224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④ Translation</a:t>
            </a:r>
            <a:endParaRPr lang="en-US" sz="1400"/>
          </a:p>
        </p:txBody>
      </p:sp>
      <p:sp>
        <p:nvSpPr>
          <p:cNvPr id="32" name="Text 30"/>
          <p:cNvSpPr/>
          <p:nvPr/>
        </p:nvSpPr>
        <p:spPr>
          <a:xfrm>
            <a:off x="670560" y="4364736"/>
            <a:ext cx="268224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Conversis translates (~5 business days)</a:t>
            </a:r>
            <a:endParaRPr lang="en-US" sz="1200"/>
          </a:p>
        </p:txBody>
      </p:sp>
      <p:sp>
        <p:nvSpPr>
          <p:cNvPr id="33" name="Text 31"/>
          <p:cNvSpPr/>
          <p:nvPr/>
        </p:nvSpPr>
        <p:spPr>
          <a:xfrm>
            <a:off x="3596640" y="4035552"/>
            <a:ext cx="24384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Conversis</a:t>
            </a:r>
            <a:endParaRPr lang="en-US" sz="1333"/>
          </a:p>
        </p:txBody>
      </p:sp>
      <p:sp>
        <p:nvSpPr>
          <p:cNvPr id="34" name="Shape 32"/>
          <p:cNvSpPr/>
          <p:nvPr/>
        </p:nvSpPr>
        <p:spPr>
          <a:xfrm>
            <a:off x="2987040" y="4645152"/>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5" name="Text 33"/>
          <p:cNvSpPr/>
          <p:nvPr/>
        </p:nvSpPr>
        <p:spPr>
          <a:xfrm>
            <a:off x="2901696" y="4559808"/>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36" name="Shape 34"/>
          <p:cNvSpPr/>
          <p:nvPr/>
        </p:nvSpPr>
        <p:spPr>
          <a:xfrm>
            <a:off x="487680" y="4730496"/>
            <a:ext cx="5120640" cy="609600"/>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7" name="Shape 35"/>
          <p:cNvSpPr/>
          <p:nvPr/>
        </p:nvSpPr>
        <p:spPr>
          <a:xfrm>
            <a:off x="3474720" y="4791456"/>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8" name="Text 36"/>
          <p:cNvSpPr/>
          <p:nvPr/>
        </p:nvSpPr>
        <p:spPr>
          <a:xfrm>
            <a:off x="670560" y="4779264"/>
            <a:ext cx="268224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⑤ Files returned</a:t>
            </a:r>
            <a:endParaRPr lang="en-US" sz="1400"/>
          </a:p>
        </p:txBody>
      </p:sp>
      <p:sp>
        <p:nvSpPr>
          <p:cNvPr id="39" name="Text 37"/>
          <p:cNvSpPr/>
          <p:nvPr/>
        </p:nvSpPr>
        <p:spPr>
          <a:xfrm>
            <a:off x="670560" y="5059680"/>
            <a:ext cx="268224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Translation + certificates → SharePoint</a:t>
            </a:r>
            <a:endParaRPr lang="en-US" sz="1200"/>
          </a:p>
        </p:txBody>
      </p:sp>
      <p:sp>
        <p:nvSpPr>
          <p:cNvPr id="40" name="Text 38"/>
          <p:cNvSpPr/>
          <p:nvPr/>
        </p:nvSpPr>
        <p:spPr>
          <a:xfrm>
            <a:off x="3596640" y="4730496"/>
            <a:ext cx="24384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Conversis</a:t>
            </a:r>
            <a:endParaRPr lang="en-US" sz="1333"/>
          </a:p>
        </p:txBody>
      </p:sp>
      <p:sp>
        <p:nvSpPr>
          <p:cNvPr id="41" name="Shape 39"/>
          <p:cNvSpPr/>
          <p:nvPr/>
        </p:nvSpPr>
        <p:spPr>
          <a:xfrm>
            <a:off x="2987040" y="5340096"/>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2" name="Text 40"/>
          <p:cNvSpPr/>
          <p:nvPr/>
        </p:nvSpPr>
        <p:spPr>
          <a:xfrm>
            <a:off x="2901696" y="5254752"/>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43" name="Shape 41"/>
          <p:cNvSpPr/>
          <p:nvPr/>
        </p:nvSpPr>
        <p:spPr>
          <a:xfrm>
            <a:off x="487680" y="5425440"/>
            <a:ext cx="5120640" cy="60960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4" name="Shape 42"/>
          <p:cNvSpPr/>
          <p:nvPr/>
        </p:nvSpPr>
        <p:spPr>
          <a:xfrm>
            <a:off x="3474720" y="5486400"/>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5" name="Text 43"/>
          <p:cNvSpPr/>
          <p:nvPr/>
        </p:nvSpPr>
        <p:spPr>
          <a:xfrm>
            <a:off x="670560" y="5474208"/>
            <a:ext cx="268224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⑥ Import to ADO</a:t>
            </a:r>
            <a:endParaRPr lang="en-US" sz="1400"/>
          </a:p>
        </p:txBody>
      </p:sp>
      <p:sp>
        <p:nvSpPr>
          <p:cNvPr id="46" name="Text 44"/>
          <p:cNvSpPr/>
          <p:nvPr/>
        </p:nvSpPr>
        <p:spPr>
          <a:xfrm>
            <a:off x="670560" y="5754624"/>
            <a:ext cx="268224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Developers import files to Azure DevOps</a:t>
            </a:r>
            <a:endParaRPr lang="en-US" sz="1200"/>
          </a:p>
        </p:txBody>
      </p:sp>
      <p:sp>
        <p:nvSpPr>
          <p:cNvPr id="47" name="Text 45"/>
          <p:cNvSpPr/>
          <p:nvPr/>
        </p:nvSpPr>
        <p:spPr>
          <a:xfrm>
            <a:off x="3596640" y="5425440"/>
            <a:ext cx="2438400"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Dev team</a:t>
            </a:r>
            <a:endParaRPr lang="en-US" sz="1333"/>
          </a:p>
        </p:txBody>
      </p:sp>
      <p:sp>
        <p:nvSpPr>
          <p:cNvPr id="48" name="Shape 46"/>
          <p:cNvSpPr/>
          <p:nvPr/>
        </p:nvSpPr>
        <p:spPr>
          <a:xfrm>
            <a:off x="487680" y="6169152"/>
            <a:ext cx="5120640" cy="316992"/>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9" name="Text 47"/>
          <p:cNvSpPr/>
          <p:nvPr/>
        </p:nvSpPr>
        <p:spPr>
          <a:xfrm>
            <a:off x="487680" y="6169152"/>
            <a:ext cx="512064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50">
                <a:solidFill>
                  <a:srgbClr val="B7791F"/>
                </a:solidFill>
                <a:latin typeface="Calibri"/>
                <a:ea typeface="Calibri"/>
                <a:cs typeface="Calibri"/>
              </a:rPr>
              <a:t>  Lead time: ~5 business days</a:t>
            </a:r>
            <a:endParaRPr lang="en-US" sz="1250">
              <a:latin typeface="Calibri"/>
              <a:ea typeface="Calibri"/>
              <a:cs typeface="Calibri"/>
            </a:endParaRPr>
          </a:p>
        </p:txBody>
      </p:sp>
      <p:sp>
        <p:nvSpPr>
          <p:cNvPr id="50" name="Shape 48"/>
          <p:cNvSpPr/>
          <p:nvPr/>
        </p:nvSpPr>
        <p:spPr>
          <a:xfrm>
            <a:off x="6583680" y="1487424"/>
            <a:ext cx="5120640" cy="463296"/>
          </a:xfrm>
          <a:prstGeom prst="rect">
            <a:avLst/>
          </a:prstGeom>
          <a:solidFill>
            <a:srgbClr val="2A7F6F"/>
          </a:solidFill>
          <a:ln w="12700">
            <a:solidFill>
              <a:srgbClr val="2A7F6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1" name="Text 49"/>
          <p:cNvSpPr/>
          <p:nvPr/>
        </p:nvSpPr>
        <p:spPr>
          <a:xfrm>
            <a:off x="6583680" y="1487424"/>
            <a:ext cx="512064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Future Process  (Lokalise)</a:t>
            </a:r>
            <a:endParaRPr lang="en-US" sz="1600"/>
          </a:p>
        </p:txBody>
      </p:sp>
      <p:sp>
        <p:nvSpPr>
          <p:cNvPr id="52" name="Shape 50"/>
          <p:cNvSpPr/>
          <p:nvPr/>
        </p:nvSpPr>
        <p:spPr>
          <a:xfrm>
            <a:off x="6583680" y="1950720"/>
            <a:ext cx="5120640" cy="609600"/>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3" name="Shape 51"/>
          <p:cNvSpPr/>
          <p:nvPr/>
        </p:nvSpPr>
        <p:spPr>
          <a:xfrm>
            <a:off x="9204960" y="2011680"/>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4" name="Text 52"/>
          <p:cNvSpPr/>
          <p:nvPr/>
        </p:nvSpPr>
        <p:spPr>
          <a:xfrm>
            <a:off x="6766560" y="1999488"/>
            <a:ext cx="23164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① Code freeze</a:t>
            </a:r>
            <a:endParaRPr lang="en-US" sz="1400"/>
          </a:p>
        </p:txBody>
      </p:sp>
      <p:sp>
        <p:nvSpPr>
          <p:cNvPr id="55" name="Text 53"/>
          <p:cNvSpPr/>
          <p:nvPr/>
        </p:nvSpPr>
        <p:spPr>
          <a:xfrm>
            <a:off x="6766560" y="2279904"/>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Each team pushes keys to Lokalise</a:t>
            </a:r>
            <a:endParaRPr lang="en-US" sz="1200"/>
          </a:p>
        </p:txBody>
      </p:sp>
      <p:sp>
        <p:nvSpPr>
          <p:cNvPr id="56" name="Text 54"/>
          <p:cNvSpPr/>
          <p:nvPr/>
        </p:nvSpPr>
        <p:spPr>
          <a:xfrm>
            <a:off x="9326880" y="1950720"/>
            <a:ext cx="23530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Dev team</a:t>
            </a:r>
            <a:endParaRPr lang="en-US" sz="1333"/>
          </a:p>
        </p:txBody>
      </p:sp>
      <p:sp>
        <p:nvSpPr>
          <p:cNvPr id="57" name="Shape 55"/>
          <p:cNvSpPr/>
          <p:nvPr/>
        </p:nvSpPr>
        <p:spPr>
          <a:xfrm>
            <a:off x="9083040" y="2560320"/>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8" name="Text 56"/>
          <p:cNvSpPr/>
          <p:nvPr/>
        </p:nvSpPr>
        <p:spPr>
          <a:xfrm>
            <a:off x="8997696" y="2474976"/>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59" name="Shape 57"/>
          <p:cNvSpPr/>
          <p:nvPr/>
        </p:nvSpPr>
        <p:spPr>
          <a:xfrm>
            <a:off x="6583680" y="2645664"/>
            <a:ext cx="5120640" cy="60960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0" name="Shape 58"/>
          <p:cNvSpPr/>
          <p:nvPr/>
        </p:nvSpPr>
        <p:spPr>
          <a:xfrm>
            <a:off x="9204960" y="2706624"/>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1" name="Text 59"/>
          <p:cNvSpPr/>
          <p:nvPr/>
        </p:nvSpPr>
        <p:spPr>
          <a:xfrm>
            <a:off x="6766560" y="2694432"/>
            <a:ext cx="23164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② AI translation</a:t>
            </a:r>
            <a:endParaRPr lang="en-US" sz="1400"/>
          </a:p>
        </p:txBody>
      </p:sp>
      <p:sp>
        <p:nvSpPr>
          <p:cNvPr id="62" name="Text 60"/>
          <p:cNvSpPr/>
          <p:nvPr/>
        </p:nvSpPr>
        <p:spPr>
          <a:xfrm>
            <a:off x="6766560" y="2974848"/>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Keys translated automatically</a:t>
            </a:r>
            <a:endParaRPr lang="en-US" sz="1200"/>
          </a:p>
        </p:txBody>
      </p:sp>
      <p:sp>
        <p:nvSpPr>
          <p:cNvPr id="63" name="Text 61"/>
          <p:cNvSpPr/>
          <p:nvPr/>
        </p:nvSpPr>
        <p:spPr>
          <a:xfrm>
            <a:off x="9326880" y="2645664"/>
            <a:ext cx="23530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Lokalise</a:t>
            </a:r>
            <a:endParaRPr lang="en-US" sz="1333"/>
          </a:p>
        </p:txBody>
      </p:sp>
      <p:sp>
        <p:nvSpPr>
          <p:cNvPr id="64" name="Shape 62"/>
          <p:cNvSpPr/>
          <p:nvPr/>
        </p:nvSpPr>
        <p:spPr>
          <a:xfrm>
            <a:off x="9083040" y="3255264"/>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5" name="Text 63"/>
          <p:cNvSpPr/>
          <p:nvPr/>
        </p:nvSpPr>
        <p:spPr>
          <a:xfrm>
            <a:off x="8997696" y="3169920"/>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66" name="Shape 64"/>
          <p:cNvSpPr/>
          <p:nvPr/>
        </p:nvSpPr>
        <p:spPr>
          <a:xfrm>
            <a:off x="6583680" y="3340608"/>
            <a:ext cx="5120640" cy="609600"/>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7" name="Shape 65"/>
          <p:cNvSpPr/>
          <p:nvPr/>
        </p:nvSpPr>
        <p:spPr>
          <a:xfrm>
            <a:off x="9204960" y="3401568"/>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8" name="Text 66"/>
          <p:cNvSpPr/>
          <p:nvPr/>
        </p:nvSpPr>
        <p:spPr>
          <a:xfrm>
            <a:off x="6766560" y="3389376"/>
            <a:ext cx="23164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③ Review &amp; validate</a:t>
            </a:r>
            <a:endParaRPr lang="en-US" sz="1400"/>
          </a:p>
        </p:txBody>
      </p:sp>
      <p:sp>
        <p:nvSpPr>
          <p:cNvPr id="69" name="Text 67"/>
          <p:cNvSpPr/>
          <p:nvPr/>
        </p:nvSpPr>
        <p:spPr>
          <a:xfrm>
            <a:off x="6766560" y="3669792"/>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Team reviews and validates translation</a:t>
            </a:r>
            <a:endParaRPr lang="en-US" sz="1200"/>
          </a:p>
        </p:txBody>
      </p:sp>
      <p:sp>
        <p:nvSpPr>
          <p:cNvPr id="70" name="Text 68"/>
          <p:cNvSpPr/>
          <p:nvPr/>
        </p:nvSpPr>
        <p:spPr>
          <a:xfrm>
            <a:off x="9326880" y="3340608"/>
            <a:ext cx="23530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Product team</a:t>
            </a:r>
            <a:endParaRPr lang="en-US" sz="1333"/>
          </a:p>
        </p:txBody>
      </p:sp>
      <p:sp>
        <p:nvSpPr>
          <p:cNvPr id="71" name="Shape 69"/>
          <p:cNvSpPr/>
          <p:nvPr/>
        </p:nvSpPr>
        <p:spPr>
          <a:xfrm>
            <a:off x="9083040" y="3950208"/>
            <a:ext cx="12192" cy="73152"/>
          </a:xfrm>
          <a:prstGeom prst="rect">
            <a:avLst/>
          </a:prstGeom>
          <a:solidFill>
            <a:srgbClr val="9AA5B4"/>
          </a:solidFill>
          <a:ln w="12700">
            <a:solidFill>
              <a:srgbClr val="9AA5B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2" name="Text 70"/>
          <p:cNvSpPr/>
          <p:nvPr/>
        </p:nvSpPr>
        <p:spPr>
          <a:xfrm>
            <a:off x="8997696" y="3864864"/>
            <a:ext cx="195072" cy="1584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933">
                <a:solidFill>
                  <a:srgbClr val="9AA5B4"/>
                </a:solidFill>
                <a:latin typeface="Calibri" pitchFamily="34" charset="0"/>
                <a:ea typeface="Calibri" pitchFamily="34" charset="-122"/>
                <a:cs typeface="Calibri" pitchFamily="34" charset="-120"/>
              </a:rPr>
              <a:t>▼</a:t>
            </a:r>
            <a:endParaRPr lang="en-US" sz="933"/>
          </a:p>
        </p:txBody>
      </p:sp>
      <p:sp>
        <p:nvSpPr>
          <p:cNvPr id="73" name="Shape 71"/>
          <p:cNvSpPr/>
          <p:nvPr/>
        </p:nvSpPr>
        <p:spPr>
          <a:xfrm>
            <a:off x="6583680" y="4035552"/>
            <a:ext cx="5120640" cy="60960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4" name="Shape 72"/>
          <p:cNvSpPr/>
          <p:nvPr/>
        </p:nvSpPr>
        <p:spPr>
          <a:xfrm>
            <a:off x="9204960" y="4096512"/>
            <a:ext cx="12192" cy="487680"/>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5" name="Text 73"/>
          <p:cNvSpPr/>
          <p:nvPr/>
        </p:nvSpPr>
        <p:spPr>
          <a:xfrm>
            <a:off x="6766560" y="4084320"/>
            <a:ext cx="231648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a:solidFill>
                  <a:srgbClr val="1E3A5F"/>
                </a:solidFill>
                <a:latin typeface="Calibri" pitchFamily="34" charset="0"/>
                <a:ea typeface="Calibri" pitchFamily="34" charset="-122"/>
                <a:cs typeface="Calibri" pitchFamily="34" charset="-120"/>
              </a:rPr>
              <a:t>④ Import to ADO</a:t>
            </a:r>
            <a:endParaRPr lang="en-US" sz="1400"/>
          </a:p>
        </p:txBody>
      </p:sp>
      <p:sp>
        <p:nvSpPr>
          <p:cNvPr id="76" name="Text 74"/>
          <p:cNvSpPr/>
          <p:nvPr/>
        </p:nvSpPr>
        <p:spPr>
          <a:xfrm>
            <a:off x="6766560" y="4364736"/>
            <a:ext cx="2316480" cy="2438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9AA5B4"/>
                </a:solidFill>
                <a:latin typeface="Calibri" pitchFamily="34" charset="0"/>
                <a:ea typeface="Calibri" pitchFamily="34" charset="-122"/>
                <a:cs typeface="Calibri" pitchFamily="34" charset="-120"/>
              </a:rPr>
              <a:t>Reviewed files imported to Azure DevOps</a:t>
            </a:r>
            <a:endParaRPr lang="en-US" sz="1200"/>
          </a:p>
        </p:txBody>
      </p:sp>
      <p:sp>
        <p:nvSpPr>
          <p:cNvPr id="77" name="Text 75"/>
          <p:cNvSpPr/>
          <p:nvPr/>
        </p:nvSpPr>
        <p:spPr>
          <a:xfrm>
            <a:off x="9326880" y="4035552"/>
            <a:ext cx="23530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4A5568"/>
                </a:solidFill>
                <a:latin typeface="Calibri" pitchFamily="34" charset="0"/>
                <a:ea typeface="Calibri" pitchFamily="34" charset="-122"/>
                <a:cs typeface="Calibri" pitchFamily="34" charset="-120"/>
              </a:rPr>
              <a:t>Dev team</a:t>
            </a:r>
            <a:endParaRPr lang="en-US" sz="1333"/>
          </a:p>
        </p:txBody>
      </p:sp>
      <p:sp>
        <p:nvSpPr>
          <p:cNvPr id="78" name="Shape 76"/>
          <p:cNvSpPr/>
          <p:nvPr/>
        </p:nvSpPr>
        <p:spPr>
          <a:xfrm>
            <a:off x="6583680" y="4779264"/>
            <a:ext cx="5120640" cy="316992"/>
          </a:xfrm>
          <a:prstGeom prst="rect">
            <a:avLst/>
          </a:prstGeom>
          <a:solidFill>
            <a:srgbClr val="FFFFFF"/>
          </a:solidFill>
          <a:ln w="9525">
            <a:solidFill>
              <a:srgbClr val="2A7F6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9" name="Text 77"/>
          <p:cNvSpPr/>
          <p:nvPr/>
        </p:nvSpPr>
        <p:spPr>
          <a:xfrm>
            <a:off x="6583680" y="4779264"/>
            <a:ext cx="512064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a:solidFill>
                  <a:srgbClr val="2A7F6F"/>
                </a:solidFill>
                <a:latin typeface="Calibri" pitchFamily="34" charset="0"/>
                <a:ea typeface="Calibri" pitchFamily="34" charset="-122"/>
                <a:cs typeface="Calibri" pitchFamily="34" charset="-120"/>
              </a:rPr>
              <a:t>✓  No SharePoint  ·  No middleman</a:t>
            </a:r>
            <a:endParaRPr lang="en-US" sz="1267"/>
          </a:p>
        </p:txBody>
      </p:sp>
      <p:sp>
        <p:nvSpPr>
          <p:cNvPr id="80" name="Shape 78"/>
          <p:cNvSpPr/>
          <p:nvPr/>
        </p:nvSpPr>
        <p:spPr>
          <a:xfrm>
            <a:off x="6583680" y="5145024"/>
            <a:ext cx="5120640" cy="316992"/>
          </a:xfrm>
          <a:prstGeom prst="rect">
            <a:avLst/>
          </a:prstGeom>
          <a:solidFill>
            <a:srgbClr val="FFFFFF"/>
          </a:solidFill>
          <a:ln w="9525">
            <a:solidFill>
              <a:srgbClr val="2A7F6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81" name="Text 79"/>
          <p:cNvSpPr/>
          <p:nvPr/>
        </p:nvSpPr>
        <p:spPr>
          <a:xfrm>
            <a:off x="6583680" y="5145024"/>
            <a:ext cx="512064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a:solidFill>
                  <a:srgbClr val="2A7F6F"/>
                </a:solidFill>
                <a:latin typeface="Calibri" pitchFamily="34" charset="0"/>
                <a:ea typeface="Calibri" pitchFamily="34" charset="-122"/>
                <a:cs typeface="Calibri" pitchFamily="34" charset="-120"/>
              </a:rPr>
              <a:t>✓  Flexible: teams work independently</a:t>
            </a:r>
            <a:endParaRPr lang="en-US" sz="1267"/>
          </a:p>
        </p:txBody>
      </p:sp>
      <p:sp>
        <p:nvSpPr>
          <p:cNvPr id="82" name="Shape 80"/>
          <p:cNvSpPr/>
          <p:nvPr/>
        </p:nvSpPr>
        <p:spPr>
          <a:xfrm>
            <a:off x="6583680" y="5510784"/>
            <a:ext cx="5120640" cy="316992"/>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83" name="Text 81"/>
          <p:cNvSpPr/>
          <p:nvPr/>
        </p:nvSpPr>
        <p:spPr>
          <a:xfrm>
            <a:off x="6583680" y="5510784"/>
            <a:ext cx="512064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a:solidFill>
                  <a:srgbClr val="9AA5B4"/>
                </a:solidFill>
                <a:latin typeface="Calibri" pitchFamily="34" charset="0"/>
                <a:ea typeface="Calibri" pitchFamily="34" charset="-122"/>
                <a:cs typeface="Calibri" pitchFamily="34" charset="-120"/>
              </a:rPr>
              <a:t>Potentially automated end-to-end</a:t>
            </a:r>
            <a:endParaRPr lang="en-US" sz="1267"/>
          </a:p>
        </p:txBody>
      </p:sp>
    </p:spTree>
    <p:extLst>
      <p:ext uri="{BB962C8B-B14F-4D97-AF65-F5344CB8AC3E}">
        <p14:creationId xmlns:p14="http://schemas.microsoft.com/office/powerpoint/2010/main" val="2862283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90144"/>
            <a:ext cx="48768" cy="670560"/>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792480" y="365760"/>
            <a:ext cx="1085088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a:solidFill>
                  <a:srgbClr val="1A1A1A"/>
                </a:solidFill>
                <a:latin typeface="Calibri" pitchFamily="34" charset="0"/>
                <a:ea typeface="Calibri" pitchFamily="34" charset="-122"/>
                <a:cs typeface="Calibri" pitchFamily="34" charset="-120"/>
              </a:rPr>
              <a:t>Proposed Translation Process</a:t>
            </a:r>
            <a:endParaRPr lang="en-US" sz="2933"/>
          </a:p>
        </p:txBody>
      </p:sp>
      <p:sp>
        <p:nvSpPr>
          <p:cNvPr id="4" name="Text 2"/>
          <p:cNvSpPr/>
          <p:nvPr/>
        </p:nvSpPr>
        <p:spPr>
          <a:xfrm>
            <a:off x="792480" y="853440"/>
            <a:ext cx="1085088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a:solidFill>
                  <a:srgbClr val="9AA5B4"/>
                </a:solidFill>
                <a:latin typeface="Calibri" pitchFamily="34" charset="0"/>
                <a:ea typeface="Calibri" pitchFamily="34" charset="-122"/>
                <a:cs typeface="Calibri" pitchFamily="34" charset="-120"/>
              </a:rPr>
              <a:t>End-to-end workflow for each product team</a:t>
            </a:r>
            <a:endParaRPr lang="en-US" sz="1600"/>
          </a:p>
        </p:txBody>
      </p:sp>
      <p:sp>
        <p:nvSpPr>
          <p:cNvPr id="5" name="Shape 3"/>
          <p:cNvSpPr/>
          <p:nvPr/>
        </p:nvSpPr>
        <p:spPr>
          <a:xfrm>
            <a:off x="548640" y="1316736"/>
            <a:ext cx="11094720" cy="12192"/>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 name="Shape 4"/>
          <p:cNvSpPr/>
          <p:nvPr/>
        </p:nvSpPr>
        <p:spPr>
          <a:xfrm>
            <a:off x="463296" y="1487424"/>
            <a:ext cx="2097024" cy="475488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Shape 5"/>
          <p:cNvSpPr/>
          <p:nvPr/>
        </p:nvSpPr>
        <p:spPr>
          <a:xfrm>
            <a:off x="463296" y="1487424"/>
            <a:ext cx="2097024" cy="48768"/>
          </a:xfrm>
          <a:prstGeom prst="rect">
            <a:avLst/>
          </a:prstGeom>
          <a:solidFill>
            <a:srgbClr val="2A7F6F"/>
          </a:solidFill>
          <a:ln w="12700">
            <a:solidFill>
              <a:srgbClr val="2A7F6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8" name="Shape 6"/>
          <p:cNvSpPr/>
          <p:nvPr/>
        </p:nvSpPr>
        <p:spPr>
          <a:xfrm>
            <a:off x="1280160" y="1633728"/>
            <a:ext cx="463296" cy="414528"/>
          </a:xfrm>
          <a:prstGeom prst="rect">
            <a:avLst/>
          </a:prstGeom>
          <a:solidFill>
            <a:srgbClr val="2A7F6F"/>
          </a:solidFill>
          <a:ln w="12700">
            <a:solidFill>
              <a:srgbClr val="2A7F6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9" name="Text 7"/>
          <p:cNvSpPr/>
          <p:nvPr/>
        </p:nvSpPr>
        <p:spPr>
          <a:xfrm>
            <a:off x="1280160" y="1633728"/>
            <a:ext cx="463296"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latin typeface="Calibri" pitchFamily="34" charset="0"/>
                <a:ea typeface="Calibri" pitchFamily="34" charset="-122"/>
                <a:cs typeface="Calibri" pitchFamily="34" charset="-120"/>
              </a:rPr>
              <a:t>1</a:t>
            </a:r>
            <a:endParaRPr lang="en-US" sz="1867"/>
          </a:p>
        </p:txBody>
      </p:sp>
      <p:sp>
        <p:nvSpPr>
          <p:cNvPr id="10" name="Text 8"/>
          <p:cNvSpPr/>
          <p:nvPr/>
        </p:nvSpPr>
        <p:spPr>
          <a:xfrm>
            <a:off x="585216" y="2218944"/>
            <a:ext cx="1853184"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2A7F6F"/>
                </a:solidFill>
                <a:latin typeface="Calibri" pitchFamily="34" charset="0"/>
                <a:ea typeface="Calibri" pitchFamily="34" charset="-122"/>
                <a:cs typeface="Calibri" pitchFamily="34" charset="-120"/>
              </a:rPr>
              <a:t>Pre-Translation</a:t>
            </a:r>
            <a:endParaRPr lang="en-US" sz="1400"/>
          </a:p>
          <a:p>
            <a:pPr marL="0" indent="0" algn="ctr">
              <a:buNone/>
            </a:pPr>
            <a:r>
              <a:rPr lang="en-US" sz="1400" b="1">
                <a:solidFill>
                  <a:srgbClr val="2A7F6F"/>
                </a:solidFill>
                <a:latin typeface="Calibri" pitchFamily="34" charset="0"/>
                <a:ea typeface="Calibri" pitchFamily="34" charset="-122"/>
                <a:cs typeface="Calibri" pitchFamily="34" charset="-120"/>
              </a:rPr>
              <a:t>Communication</a:t>
            </a:r>
            <a:endParaRPr lang="en-US" sz="1400"/>
          </a:p>
        </p:txBody>
      </p:sp>
      <p:sp>
        <p:nvSpPr>
          <p:cNvPr id="11" name="Text 9"/>
          <p:cNvSpPr/>
          <p:nvPr/>
        </p:nvSpPr>
        <p:spPr>
          <a:xfrm>
            <a:off x="585216" y="2974848"/>
            <a:ext cx="1853184" cy="31089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a:solidFill>
                  <a:srgbClr val="4A5568"/>
                </a:solidFill>
                <a:latin typeface="Calibri" pitchFamily="34" charset="0"/>
                <a:ea typeface="Calibri" pitchFamily="34" charset="-122"/>
                <a:cs typeface="Calibri" pitchFamily="34" charset="-120"/>
              </a:rPr>
              <a:t>Confirm which languages are supported per product. Share updated language list with Product Communicator.</a:t>
            </a:r>
            <a:endParaRPr lang="en-US" sz="1267"/>
          </a:p>
        </p:txBody>
      </p:sp>
      <p:pic>
        <p:nvPicPr>
          <p:cNvPr id="12" name="Image 0" descr="preencoded.png"/>
          <p:cNvPicPr>
            <a:picLocks noChangeAspect="1"/>
          </p:cNvPicPr>
          <p:nvPr/>
        </p:nvPicPr>
        <p:blipFill>
          <a:blip r:embed="rId3"/>
          <a:stretch>
            <a:fillRect/>
          </a:stretch>
        </p:blipFill>
        <p:spPr>
          <a:xfrm>
            <a:off x="2572512" y="3438144"/>
            <a:ext cx="219456" cy="219456"/>
          </a:xfrm>
          <a:prstGeom prst="rect">
            <a:avLst/>
          </a:prstGeom>
        </p:spPr>
      </p:pic>
      <p:sp>
        <p:nvSpPr>
          <p:cNvPr id="13" name="Shape 10"/>
          <p:cNvSpPr/>
          <p:nvPr/>
        </p:nvSpPr>
        <p:spPr>
          <a:xfrm>
            <a:off x="2670048" y="1487424"/>
            <a:ext cx="2097024" cy="475488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4" name="Shape 11"/>
          <p:cNvSpPr/>
          <p:nvPr/>
        </p:nvSpPr>
        <p:spPr>
          <a:xfrm>
            <a:off x="2670048" y="1487424"/>
            <a:ext cx="2097024" cy="48768"/>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5" name="Shape 12"/>
          <p:cNvSpPr/>
          <p:nvPr/>
        </p:nvSpPr>
        <p:spPr>
          <a:xfrm>
            <a:off x="3486912" y="1633728"/>
            <a:ext cx="463296" cy="414528"/>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6" name="Text 13"/>
          <p:cNvSpPr/>
          <p:nvPr/>
        </p:nvSpPr>
        <p:spPr>
          <a:xfrm>
            <a:off x="3486912" y="1633728"/>
            <a:ext cx="463296"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latin typeface="Calibri" pitchFamily="34" charset="0"/>
                <a:ea typeface="Calibri" pitchFamily="34" charset="-122"/>
                <a:cs typeface="Calibri" pitchFamily="34" charset="-120"/>
              </a:rPr>
              <a:t>2</a:t>
            </a:r>
            <a:endParaRPr lang="en-US" sz="1867"/>
          </a:p>
        </p:txBody>
      </p:sp>
      <p:sp>
        <p:nvSpPr>
          <p:cNvPr id="17" name="Text 14"/>
          <p:cNvSpPr/>
          <p:nvPr/>
        </p:nvSpPr>
        <p:spPr>
          <a:xfrm>
            <a:off x="2791968" y="2218944"/>
            <a:ext cx="1853184"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1E3A5F"/>
                </a:solidFill>
                <a:latin typeface="Calibri" pitchFamily="34" charset="0"/>
                <a:ea typeface="Calibri" pitchFamily="34" charset="-122"/>
                <a:cs typeface="Calibri" pitchFamily="34" charset="-120"/>
              </a:rPr>
              <a:t>Key Tagging</a:t>
            </a:r>
            <a:endParaRPr lang="en-US" sz="1400"/>
          </a:p>
          <a:p>
            <a:pPr marL="0" indent="0" algn="ctr">
              <a:buNone/>
            </a:pPr>
            <a:r>
              <a:rPr lang="en-US" sz="1400" b="1">
                <a:solidFill>
                  <a:srgbClr val="1E3A5F"/>
                </a:solidFill>
                <a:latin typeface="Calibri" pitchFamily="34" charset="0"/>
                <a:ea typeface="Calibri" pitchFamily="34" charset="-122"/>
                <a:cs typeface="Calibri" pitchFamily="34" charset="-120"/>
              </a:rPr>
              <a:t>&amp; Push</a:t>
            </a:r>
            <a:endParaRPr lang="en-US" sz="1400"/>
          </a:p>
        </p:txBody>
      </p:sp>
      <p:sp>
        <p:nvSpPr>
          <p:cNvPr id="18" name="Text 15"/>
          <p:cNvSpPr/>
          <p:nvPr/>
        </p:nvSpPr>
        <p:spPr>
          <a:xfrm>
            <a:off x="2791968" y="2974848"/>
            <a:ext cx="1853184" cy="31089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a:solidFill>
                  <a:srgbClr val="4A5568"/>
                </a:solidFill>
                <a:latin typeface="Calibri" pitchFamily="34" charset="0"/>
                <a:ea typeface="Calibri" pitchFamily="34" charset="-122"/>
                <a:cs typeface="Calibri" pitchFamily="34" charset="-120"/>
              </a:rPr>
              <a:t>Developers tag new/changed translation keys and push them to the corresponding Lokalise project. New languages require setup verification before first push.</a:t>
            </a:r>
            <a:endParaRPr lang="en-US" sz="1267"/>
          </a:p>
        </p:txBody>
      </p:sp>
      <p:pic>
        <p:nvPicPr>
          <p:cNvPr id="19" name="Image 1" descr="preencoded.png"/>
          <p:cNvPicPr>
            <a:picLocks noChangeAspect="1"/>
          </p:cNvPicPr>
          <p:nvPr/>
        </p:nvPicPr>
        <p:blipFill>
          <a:blip r:embed="rId3"/>
          <a:stretch>
            <a:fillRect/>
          </a:stretch>
        </p:blipFill>
        <p:spPr>
          <a:xfrm>
            <a:off x="4779264" y="3438144"/>
            <a:ext cx="219456" cy="219456"/>
          </a:xfrm>
          <a:prstGeom prst="rect">
            <a:avLst/>
          </a:prstGeom>
        </p:spPr>
      </p:pic>
      <p:sp>
        <p:nvSpPr>
          <p:cNvPr id="20" name="Shape 16"/>
          <p:cNvSpPr/>
          <p:nvPr/>
        </p:nvSpPr>
        <p:spPr>
          <a:xfrm>
            <a:off x="4876800" y="1487424"/>
            <a:ext cx="2097024" cy="475488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1" name="Shape 17"/>
          <p:cNvSpPr/>
          <p:nvPr/>
        </p:nvSpPr>
        <p:spPr>
          <a:xfrm>
            <a:off x="4876800" y="1487424"/>
            <a:ext cx="2097024" cy="48768"/>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2" name="Shape 18"/>
          <p:cNvSpPr/>
          <p:nvPr/>
        </p:nvSpPr>
        <p:spPr>
          <a:xfrm>
            <a:off x="5693664" y="1633728"/>
            <a:ext cx="463296" cy="414528"/>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3" name="Text 19"/>
          <p:cNvSpPr/>
          <p:nvPr/>
        </p:nvSpPr>
        <p:spPr>
          <a:xfrm>
            <a:off x="5693664" y="1633728"/>
            <a:ext cx="463296"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latin typeface="Calibri" pitchFamily="34" charset="0"/>
                <a:ea typeface="Calibri" pitchFamily="34" charset="-122"/>
                <a:cs typeface="Calibri" pitchFamily="34" charset="-120"/>
              </a:rPr>
              <a:t>3</a:t>
            </a:r>
            <a:endParaRPr lang="en-US" sz="1867"/>
          </a:p>
        </p:txBody>
      </p:sp>
      <p:sp>
        <p:nvSpPr>
          <p:cNvPr id="24" name="Text 20"/>
          <p:cNvSpPr/>
          <p:nvPr/>
        </p:nvSpPr>
        <p:spPr>
          <a:xfrm>
            <a:off x="4998720" y="2218944"/>
            <a:ext cx="1853184"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1E3A5F"/>
                </a:solidFill>
                <a:latin typeface="Calibri" pitchFamily="34" charset="0"/>
                <a:ea typeface="Calibri" pitchFamily="34" charset="-122"/>
                <a:cs typeface="Calibri" pitchFamily="34" charset="-120"/>
              </a:rPr>
              <a:t>AI Translation</a:t>
            </a:r>
            <a:endParaRPr lang="en-US" sz="1400"/>
          </a:p>
        </p:txBody>
      </p:sp>
      <p:sp>
        <p:nvSpPr>
          <p:cNvPr id="25" name="Text 21"/>
          <p:cNvSpPr/>
          <p:nvPr/>
        </p:nvSpPr>
        <p:spPr>
          <a:xfrm>
            <a:off x="4998720" y="2974848"/>
            <a:ext cx="1853184" cy="31089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a:solidFill>
                  <a:srgbClr val="4A5568"/>
                </a:solidFill>
                <a:latin typeface="Calibri" pitchFamily="34" charset="0"/>
                <a:ea typeface="Calibri" pitchFamily="34" charset="-122"/>
                <a:cs typeface="Calibri" pitchFamily="34" charset="-120"/>
              </a:rPr>
              <a:t>AI translates tagged keys, referencing Translation Memory for consistency. Note: automated workflow not yet implemented — translation triggered manually for now.</a:t>
            </a:r>
            <a:endParaRPr lang="en-US" sz="1267"/>
          </a:p>
        </p:txBody>
      </p:sp>
      <p:pic>
        <p:nvPicPr>
          <p:cNvPr id="26" name="Image 2" descr="preencoded.png"/>
          <p:cNvPicPr>
            <a:picLocks noChangeAspect="1"/>
          </p:cNvPicPr>
          <p:nvPr/>
        </p:nvPicPr>
        <p:blipFill>
          <a:blip r:embed="rId3"/>
          <a:stretch>
            <a:fillRect/>
          </a:stretch>
        </p:blipFill>
        <p:spPr>
          <a:xfrm>
            <a:off x="6986016" y="3438144"/>
            <a:ext cx="219456" cy="219456"/>
          </a:xfrm>
          <a:prstGeom prst="rect">
            <a:avLst/>
          </a:prstGeom>
        </p:spPr>
      </p:pic>
      <p:sp>
        <p:nvSpPr>
          <p:cNvPr id="27" name="Shape 22"/>
          <p:cNvSpPr/>
          <p:nvPr/>
        </p:nvSpPr>
        <p:spPr>
          <a:xfrm>
            <a:off x="7083552" y="1487424"/>
            <a:ext cx="2097024" cy="475488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8" name="Shape 23"/>
          <p:cNvSpPr/>
          <p:nvPr/>
        </p:nvSpPr>
        <p:spPr>
          <a:xfrm>
            <a:off x="7083552" y="1487424"/>
            <a:ext cx="2097024" cy="48768"/>
          </a:xfrm>
          <a:prstGeom prst="rect">
            <a:avLst/>
          </a:prstGeom>
          <a:solidFill>
            <a:srgbClr val="C05621"/>
          </a:solidFill>
          <a:ln w="12700">
            <a:solidFill>
              <a:srgbClr val="C0562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9" name="Shape 24"/>
          <p:cNvSpPr/>
          <p:nvPr/>
        </p:nvSpPr>
        <p:spPr>
          <a:xfrm>
            <a:off x="7900416" y="1633728"/>
            <a:ext cx="463296" cy="414528"/>
          </a:xfrm>
          <a:prstGeom prst="rect">
            <a:avLst/>
          </a:prstGeom>
          <a:solidFill>
            <a:srgbClr val="C05621"/>
          </a:solidFill>
          <a:ln w="12700">
            <a:solidFill>
              <a:srgbClr val="C0562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0" name="Text 25"/>
          <p:cNvSpPr/>
          <p:nvPr/>
        </p:nvSpPr>
        <p:spPr>
          <a:xfrm>
            <a:off x="7900416" y="1633728"/>
            <a:ext cx="463296"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latin typeface="Calibri" pitchFamily="34" charset="0"/>
                <a:ea typeface="Calibri" pitchFamily="34" charset="-122"/>
                <a:cs typeface="Calibri" pitchFamily="34" charset="-120"/>
              </a:rPr>
              <a:t>4</a:t>
            </a:r>
            <a:endParaRPr lang="en-US" sz="1867"/>
          </a:p>
        </p:txBody>
      </p:sp>
      <p:sp>
        <p:nvSpPr>
          <p:cNvPr id="31" name="Text 26"/>
          <p:cNvSpPr/>
          <p:nvPr/>
        </p:nvSpPr>
        <p:spPr>
          <a:xfrm>
            <a:off x="7205472" y="2218944"/>
            <a:ext cx="1853184"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C05621"/>
                </a:solidFill>
                <a:latin typeface="Calibri" pitchFamily="34" charset="0"/>
                <a:ea typeface="Calibri" pitchFamily="34" charset="-122"/>
                <a:cs typeface="Calibri" pitchFamily="34" charset="-120"/>
              </a:rPr>
              <a:t>Human Review</a:t>
            </a:r>
            <a:endParaRPr lang="en-US" sz="1400"/>
          </a:p>
        </p:txBody>
      </p:sp>
      <p:sp>
        <p:nvSpPr>
          <p:cNvPr id="32" name="Text 27"/>
          <p:cNvSpPr/>
          <p:nvPr/>
        </p:nvSpPr>
        <p:spPr>
          <a:xfrm>
            <a:off x="7205472" y="2974848"/>
            <a:ext cx="1853184" cy="31089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a:solidFill>
                  <a:srgbClr val="4A5568"/>
                </a:solidFill>
                <a:latin typeface="Calibri" pitchFamily="34" charset="0"/>
                <a:ea typeface="Calibri" pitchFamily="34" charset="-122"/>
                <a:cs typeface="Calibri" pitchFamily="34" charset="-120"/>
              </a:rPr>
              <a:t>Reviewer validates translation. Must understand the language. In-house resources (JP, CN confirmed). Others TBD — see interim plan.</a:t>
            </a:r>
            <a:endParaRPr lang="en-US" sz="1267"/>
          </a:p>
        </p:txBody>
      </p:sp>
      <p:pic>
        <p:nvPicPr>
          <p:cNvPr id="33" name="Image 3" descr="preencoded.png"/>
          <p:cNvPicPr>
            <a:picLocks noChangeAspect="1"/>
          </p:cNvPicPr>
          <p:nvPr/>
        </p:nvPicPr>
        <p:blipFill>
          <a:blip r:embed="rId3"/>
          <a:stretch>
            <a:fillRect/>
          </a:stretch>
        </p:blipFill>
        <p:spPr>
          <a:xfrm>
            <a:off x="9192768" y="3438144"/>
            <a:ext cx="219456" cy="219456"/>
          </a:xfrm>
          <a:prstGeom prst="rect">
            <a:avLst/>
          </a:prstGeom>
        </p:spPr>
      </p:pic>
      <p:sp>
        <p:nvSpPr>
          <p:cNvPr id="34" name="Shape 28"/>
          <p:cNvSpPr/>
          <p:nvPr/>
        </p:nvSpPr>
        <p:spPr>
          <a:xfrm>
            <a:off x="9290304" y="1487424"/>
            <a:ext cx="2097024" cy="4754880"/>
          </a:xfrm>
          <a:prstGeom prst="rect">
            <a:avLst/>
          </a:prstGeom>
          <a:solidFill>
            <a:srgbClr val="FFFFFF"/>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5" name="Shape 29"/>
          <p:cNvSpPr/>
          <p:nvPr/>
        </p:nvSpPr>
        <p:spPr>
          <a:xfrm>
            <a:off x="9290304" y="1487424"/>
            <a:ext cx="2097024" cy="48768"/>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6" name="Shape 30"/>
          <p:cNvSpPr/>
          <p:nvPr/>
        </p:nvSpPr>
        <p:spPr>
          <a:xfrm>
            <a:off x="10107168" y="1633728"/>
            <a:ext cx="463296" cy="414528"/>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7" name="Text 31"/>
          <p:cNvSpPr/>
          <p:nvPr/>
        </p:nvSpPr>
        <p:spPr>
          <a:xfrm>
            <a:off x="10107168" y="1633728"/>
            <a:ext cx="463296" cy="41452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FFFFFF"/>
                </a:solidFill>
                <a:latin typeface="Calibri" pitchFamily="34" charset="0"/>
                <a:ea typeface="Calibri" pitchFamily="34" charset="-122"/>
                <a:cs typeface="Calibri" pitchFamily="34" charset="-120"/>
              </a:rPr>
              <a:t>5</a:t>
            </a:r>
            <a:endParaRPr lang="en-US" sz="1867"/>
          </a:p>
        </p:txBody>
      </p:sp>
      <p:sp>
        <p:nvSpPr>
          <p:cNvPr id="38" name="Text 32"/>
          <p:cNvSpPr/>
          <p:nvPr/>
        </p:nvSpPr>
        <p:spPr>
          <a:xfrm>
            <a:off x="9412224" y="2218944"/>
            <a:ext cx="1853184"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00" b="1">
                <a:solidFill>
                  <a:srgbClr val="1E3A5F"/>
                </a:solidFill>
                <a:latin typeface="Calibri" pitchFamily="34" charset="0"/>
                <a:ea typeface="Calibri" pitchFamily="34" charset="-122"/>
                <a:cs typeface="Calibri" pitchFamily="34" charset="-120"/>
              </a:rPr>
              <a:t>Import to ADO</a:t>
            </a:r>
            <a:endParaRPr lang="en-US" sz="1400"/>
          </a:p>
        </p:txBody>
      </p:sp>
      <p:sp>
        <p:nvSpPr>
          <p:cNvPr id="39" name="Text 33"/>
          <p:cNvSpPr/>
          <p:nvPr/>
        </p:nvSpPr>
        <p:spPr>
          <a:xfrm>
            <a:off x="9412224" y="2974848"/>
            <a:ext cx="1853184" cy="31089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a:solidFill>
                  <a:srgbClr val="4A5568"/>
                </a:solidFill>
                <a:latin typeface="Calibri" pitchFamily="34" charset="0"/>
                <a:ea typeface="Calibri" pitchFamily="34" charset="-122"/>
                <a:cs typeface="Calibri" pitchFamily="34" charset="-120"/>
              </a:rPr>
              <a:t>Reviewed translations imported back to Azure DevOps.</a:t>
            </a:r>
            <a:endParaRPr lang="en-US" sz="1267"/>
          </a:p>
        </p:txBody>
      </p:sp>
      <p:sp>
        <p:nvSpPr>
          <p:cNvPr id="40" name="Shape 34"/>
          <p:cNvSpPr/>
          <p:nvPr/>
        </p:nvSpPr>
        <p:spPr>
          <a:xfrm>
            <a:off x="463296" y="6364224"/>
            <a:ext cx="11265408" cy="268224"/>
          </a:xfrm>
          <a:prstGeom prst="rect">
            <a:avLst/>
          </a:prstGeom>
          <a:solidFill>
            <a:srgbClr val="F8FAFC"/>
          </a:solidFill>
          <a:ln w="635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1" name="Shape 35"/>
          <p:cNvSpPr/>
          <p:nvPr/>
        </p:nvSpPr>
        <p:spPr>
          <a:xfrm>
            <a:off x="463296" y="6364224"/>
            <a:ext cx="48768" cy="268224"/>
          </a:xfrm>
          <a:prstGeom prst="rect">
            <a:avLst/>
          </a:prstGeom>
          <a:solidFill>
            <a:srgbClr val="B7791F"/>
          </a:solidFill>
          <a:ln w="12700">
            <a:solidFill>
              <a:srgbClr val="B7791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2" name="Text 36"/>
          <p:cNvSpPr/>
          <p:nvPr/>
        </p:nvSpPr>
        <p:spPr>
          <a:xfrm>
            <a:off x="670560" y="6364224"/>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a:solidFill>
                  <a:srgbClr val="4A5568"/>
                </a:solidFill>
                <a:latin typeface="Calibri" pitchFamily="34" charset="0"/>
                <a:ea typeface="Calibri" pitchFamily="34" charset="-122"/>
                <a:cs typeface="Calibri" pitchFamily="34" charset="-120"/>
              </a:rPr>
              <a:t>Interim: in-house reviewers (JP &amp; CN confirmed) + PTE partner (pending) + Conversis as fallback</a:t>
            </a:r>
            <a:endParaRPr lang="en-US" sz="1267"/>
          </a:p>
        </p:txBody>
      </p:sp>
    </p:spTree>
    <p:extLst>
      <p:ext uri="{BB962C8B-B14F-4D97-AF65-F5344CB8AC3E}">
        <p14:creationId xmlns:p14="http://schemas.microsoft.com/office/powerpoint/2010/main" val="3808558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14A0A83-8849-A5F5-A60C-F40F7E29E0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98F0B1-87B4-5B65-2F5E-B4C81BD0D142}"/>
              </a:ext>
            </a:extLst>
          </p:cNvPr>
          <p:cNvSpPr/>
          <p:nvPr/>
        </p:nvSpPr>
        <p:spPr>
          <a:xfrm>
            <a:off x="548640" y="390144"/>
            <a:ext cx="48768" cy="670560"/>
          </a:xfrm>
          <a:prstGeom prst="rect">
            <a:avLst/>
          </a:prstGeom>
          <a:solidFill>
            <a:srgbClr val="1E3A5F"/>
          </a:solidFill>
          <a:ln w="12700">
            <a:solidFill>
              <a:srgbClr val="1E3A5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a:extLst>
              <a:ext uri="{FF2B5EF4-FFF2-40B4-BE49-F238E27FC236}">
                <a16:creationId xmlns:a16="http://schemas.microsoft.com/office/drawing/2014/main" id="{B7C5F3B8-F2F9-0C06-1ADF-753D5FBAA27B}"/>
              </a:ext>
            </a:extLst>
          </p:cNvPr>
          <p:cNvSpPr/>
          <p:nvPr/>
        </p:nvSpPr>
        <p:spPr>
          <a:xfrm>
            <a:off x="792480" y="365760"/>
            <a:ext cx="1085088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a:solidFill>
                  <a:srgbClr val="1A1A1A"/>
                </a:solidFill>
                <a:latin typeface="Calibri" pitchFamily="34" charset="0"/>
                <a:ea typeface="Calibri" pitchFamily="34" charset="-122"/>
                <a:cs typeface="Calibri" pitchFamily="34" charset="-120"/>
              </a:rPr>
              <a:t>Platform Status</a:t>
            </a:r>
            <a:endParaRPr lang="en-US" sz="2933"/>
          </a:p>
        </p:txBody>
      </p:sp>
      <p:sp>
        <p:nvSpPr>
          <p:cNvPr id="4" name="Text 2">
            <a:extLst>
              <a:ext uri="{FF2B5EF4-FFF2-40B4-BE49-F238E27FC236}">
                <a16:creationId xmlns:a16="http://schemas.microsoft.com/office/drawing/2014/main" id="{FA56F952-0C34-C85B-7391-AA8FA24AC9E5}"/>
              </a:ext>
            </a:extLst>
          </p:cNvPr>
          <p:cNvSpPr/>
          <p:nvPr/>
        </p:nvSpPr>
        <p:spPr>
          <a:xfrm>
            <a:off x="792480" y="853440"/>
            <a:ext cx="1085088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a:solidFill>
                  <a:srgbClr val="9AA5B4"/>
                </a:solidFill>
                <a:latin typeface="Calibri" pitchFamily="34" charset="0"/>
                <a:ea typeface="Calibri" pitchFamily="34" charset="-122"/>
                <a:cs typeface="Calibri" pitchFamily="34" charset="-120"/>
              </a:rPr>
              <a:t>What is set up, what is pending, and what are the known limitations?</a:t>
            </a:r>
            <a:endParaRPr lang="en-US" sz="1600"/>
          </a:p>
        </p:txBody>
      </p:sp>
      <p:sp>
        <p:nvSpPr>
          <p:cNvPr id="5" name="Shape 3">
            <a:extLst>
              <a:ext uri="{FF2B5EF4-FFF2-40B4-BE49-F238E27FC236}">
                <a16:creationId xmlns:a16="http://schemas.microsoft.com/office/drawing/2014/main" id="{307A5F75-7A26-6DCB-B11B-98BDE1ABFF73}"/>
              </a:ext>
            </a:extLst>
          </p:cNvPr>
          <p:cNvSpPr/>
          <p:nvPr/>
        </p:nvSpPr>
        <p:spPr>
          <a:xfrm>
            <a:off x="548640" y="1316736"/>
            <a:ext cx="11094720" cy="12192"/>
          </a:xfrm>
          <a:prstGeom prst="rect">
            <a:avLst/>
          </a:prstGeom>
          <a:solidFill>
            <a:srgbClr val="E2E8F0"/>
          </a:solidFill>
          <a:ln w="12700">
            <a:solidFill>
              <a:srgbClr val="E2E8F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 name="Shape 4">
            <a:extLst>
              <a:ext uri="{FF2B5EF4-FFF2-40B4-BE49-F238E27FC236}">
                <a16:creationId xmlns:a16="http://schemas.microsoft.com/office/drawing/2014/main" id="{25E09F7F-E104-48E7-0528-0B0251519B12}"/>
              </a:ext>
            </a:extLst>
          </p:cNvPr>
          <p:cNvSpPr/>
          <p:nvPr/>
        </p:nvSpPr>
        <p:spPr>
          <a:xfrm>
            <a:off x="548640" y="1487424"/>
            <a:ext cx="3511296" cy="36576"/>
          </a:xfrm>
          <a:prstGeom prst="rect">
            <a:avLst/>
          </a:prstGeom>
          <a:solidFill>
            <a:srgbClr val="276749"/>
          </a:solidFill>
          <a:ln w="12700">
            <a:solidFill>
              <a:srgbClr val="276749"/>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pic>
        <p:nvPicPr>
          <p:cNvPr id="7" name="Image 0" descr="preencoded.png">
            <a:extLst>
              <a:ext uri="{FF2B5EF4-FFF2-40B4-BE49-F238E27FC236}">
                <a16:creationId xmlns:a16="http://schemas.microsoft.com/office/drawing/2014/main" id="{8A1EB804-A333-AA7A-5C7C-896B016F9ACC}"/>
              </a:ext>
            </a:extLst>
          </p:cNvPr>
          <p:cNvPicPr>
            <a:picLocks noChangeAspect="1"/>
          </p:cNvPicPr>
          <p:nvPr/>
        </p:nvPicPr>
        <p:blipFill>
          <a:blip r:embed="rId3"/>
          <a:stretch>
            <a:fillRect/>
          </a:stretch>
        </p:blipFill>
        <p:spPr>
          <a:xfrm>
            <a:off x="548640" y="1609344"/>
            <a:ext cx="268224" cy="268224"/>
          </a:xfrm>
          <a:prstGeom prst="rect">
            <a:avLst/>
          </a:prstGeom>
        </p:spPr>
      </p:pic>
      <p:sp>
        <p:nvSpPr>
          <p:cNvPr id="8" name="Text 5">
            <a:extLst>
              <a:ext uri="{FF2B5EF4-FFF2-40B4-BE49-F238E27FC236}">
                <a16:creationId xmlns:a16="http://schemas.microsoft.com/office/drawing/2014/main" id="{EF3A14E9-63FF-FCEB-C36A-27D93B413FEA}"/>
              </a:ext>
            </a:extLst>
          </p:cNvPr>
          <p:cNvSpPr/>
          <p:nvPr/>
        </p:nvSpPr>
        <p:spPr>
          <a:xfrm>
            <a:off x="890016" y="1584960"/>
            <a:ext cx="304800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276749"/>
                </a:solidFill>
                <a:latin typeface="Calibri" pitchFamily="34" charset="0"/>
                <a:ea typeface="Calibri" pitchFamily="34" charset="-122"/>
                <a:cs typeface="Calibri" pitchFamily="34" charset="-120"/>
              </a:rPr>
              <a:t>Completed setup</a:t>
            </a:r>
            <a:endParaRPr lang="en-US" sz="1467"/>
          </a:p>
        </p:txBody>
      </p:sp>
      <p:sp>
        <p:nvSpPr>
          <p:cNvPr id="9" name="Text 6">
            <a:extLst>
              <a:ext uri="{FF2B5EF4-FFF2-40B4-BE49-F238E27FC236}">
                <a16:creationId xmlns:a16="http://schemas.microsoft.com/office/drawing/2014/main" id="{AE31D3F6-6699-6D5C-51F9-2C28E6E93D60}"/>
              </a:ext>
            </a:extLst>
          </p:cNvPr>
          <p:cNvSpPr/>
          <p:nvPr/>
        </p:nvSpPr>
        <p:spPr>
          <a:xfrm>
            <a:off x="621792" y="1999488"/>
            <a:ext cx="3364992" cy="46329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1400">
                <a:solidFill>
                  <a:srgbClr val="4A5568"/>
                </a:solidFill>
                <a:latin typeface="Calibri" pitchFamily="34" charset="0"/>
                <a:ea typeface="Calibri" pitchFamily="34" charset="-122"/>
                <a:cs typeface="Calibri" pitchFamily="34" charset="-120"/>
              </a:rPr>
              <a:t>Language codes configured and verified against Translation Memory (TM) files</a:t>
            </a:r>
            <a:endParaRPr lang="en-US" sz="1400"/>
          </a:p>
          <a:p>
            <a:pPr marL="457189" indent="-457189">
              <a:spcAft>
                <a:spcPts val="800"/>
              </a:spcAft>
              <a:buSzPct val="100000"/>
              <a:buChar char="•"/>
            </a:pPr>
            <a:r>
              <a:rPr lang="en-US" sz="1400">
                <a:solidFill>
                  <a:srgbClr val="4A5568"/>
                </a:solidFill>
                <a:latin typeface="Calibri" pitchFamily="34" charset="0"/>
                <a:ea typeface="Calibri" pitchFamily="34" charset="-122"/>
                <a:cs typeface="Calibri" pitchFamily="34" charset="-120"/>
              </a:rPr>
              <a:t>Custom language codes aligned with Azure DevOps file naming conventions</a:t>
            </a:r>
            <a:endParaRPr lang="en-US" sz="1400"/>
          </a:p>
          <a:p>
            <a:pPr marL="457189" indent="-457189">
              <a:spcAft>
                <a:spcPts val="800"/>
              </a:spcAft>
              <a:buSzPct val="100000"/>
              <a:buChar char="•"/>
            </a:pPr>
            <a:r>
              <a:rPr lang="en-US" sz="1400">
                <a:solidFill>
                  <a:srgbClr val="4A5568"/>
                </a:solidFill>
                <a:latin typeface="Calibri" pitchFamily="34" charset="0"/>
                <a:ea typeface="Calibri" pitchFamily="34" charset="-122"/>
                <a:cs typeface="Calibri" pitchFamily="34" charset="-120"/>
              </a:rPr>
              <a:t>General AI translation guide in place for reviewers</a:t>
            </a:r>
            <a:endParaRPr lang="en-US" sz="1400"/>
          </a:p>
          <a:p>
            <a:pPr marL="457189" indent="-457189">
              <a:spcAft>
                <a:spcPts val="800"/>
              </a:spcAft>
              <a:buSzPct val="100000"/>
              <a:buChar char="•"/>
            </a:pPr>
            <a:r>
              <a:rPr lang="en-US" sz="1400">
                <a:solidFill>
                  <a:srgbClr val="4A5568"/>
                </a:solidFill>
                <a:latin typeface="Calibri" pitchFamily="34" charset="0"/>
                <a:ea typeface="Calibri" pitchFamily="34" charset="-122"/>
                <a:cs typeface="Calibri" pitchFamily="34" charset="-120"/>
              </a:rPr>
              <a:t>Translation workflow verified: keys can be pushed, translated, reviewed, and imported</a:t>
            </a:r>
            <a:endParaRPr lang="en-US" sz="1400"/>
          </a:p>
        </p:txBody>
      </p:sp>
      <p:sp>
        <p:nvSpPr>
          <p:cNvPr id="10" name="Shape 7">
            <a:extLst>
              <a:ext uri="{FF2B5EF4-FFF2-40B4-BE49-F238E27FC236}">
                <a16:creationId xmlns:a16="http://schemas.microsoft.com/office/drawing/2014/main" id="{7F5D28EE-E21D-A4F4-B3D9-89A1036CD40F}"/>
              </a:ext>
            </a:extLst>
          </p:cNvPr>
          <p:cNvSpPr/>
          <p:nvPr/>
        </p:nvSpPr>
        <p:spPr>
          <a:xfrm>
            <a:off x="4303776" y="1487424"/>
            <a:ext cx="3511296" cy="36576"/>
          </a:xfrm>
          <a:prstGeom prst="rect">
            <a:avLst/>
          </a:prstGeom>
          <a:solidFill>
            <a:srgbClr val="B7791F"/>
          </a:solidFill>
          <a:ln w="12700">
            <a:solidFill>
              <a:srgbClr val="B7791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pic>
        <p:nvPicPr>
          <p:cNvPr id="11" name="Image 1" descr="preencoded.png">
            <a:extLst>
              <a:ext uri="{FF2B5EF4-FFF2-40B4-BE49-F238E27FC236}">
                <a16:creationId xmlns:a16="http://schemas.microsoft.com/office/drawing/2014/main" id="{58355BA1-8533-A3D0-BF93-3886891BEAAE}"/>
              </a:ext>
            </a:extLst>
          </p:cNvPr>
          <p:cNvPicPr>
            <a:picLocks noChangeAspect="1"/>
          </p:cNvPicPr>
          <p:nvPr/>
        </p:nvPicPr>
        <p:blipFill>
          <a:blip r:embed="rId4"/>
          <a:stretch>
            <a:fillRect/>
          </a:stretch>
        </p:blipFill>
        <p:spPr>
          <a:xfrm>
            <a:off x="4303776" y="1609344"/>
            <a:ext cx="268224" cy="268224"/>
          </a:xfrm>
          <a:prstGeom prst="rect">
            <a:avLst/>
          </a:prstGeom>
        </p:spPr>
      </p:pic>
      <p:sp>
        <p:nvSpPr>
          <p:cNvPr id="12" name="Text 8">
            <a:extLst>
              <a:ext uri="{FF2B5EF4-FFF2-40B4-BE49-F238E27FC236}">
                <a16:creationId xmlns:a16="http://schemas.microsoft.com/office/drawing/2014/main" id="{62A78A2F-1207-7701-127D-6837E22C075B}"/>
              </a:ext>
            </a:extLst>
          </p:cNvPr>
          <p:cNvSpPr/>
          <p:nvPr/>
        </p:nvSpPr>
        <p:spPr>
          <a:xfrm>
            <a:off x="4645152" y="1584960"/>
            <a:ext cx="304800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B7791F"/>
                </a:solidFill>
                <a:latin typeface="Calibri" pitchFamily="34" charset="0"/>
                <a:ea typeface="Calibri" pitchFamily="34" charset="-122"/>
                <a:cs typeface="Calibri" pitchFamily="34" charset="-120"/>
              </a:rPr>
              <a:t>In progress / pending</a:t>
            </a:r>
            <a:endParaRPr lang="en-US" sz="1467"/>
          </a:p>
        </p:txBody>
      </p:sp>
      <p:sp>
        <p:nvSpPr>
          <p:cNvPr id="13" name="Text 9">
            <a:extLst>
              <a:ext uri="{FF2B5EF4-FFF2-40B4-BE49-F238E27FC236}">
                <a16:creationId xmlns:a16="http://schemas.microsoft.com/office/drawing/2014/main" id="{7A2495E4-9931-2FA2-3012-F236D4F358CC}"/>
              </a:ext>
            </a:extLst>
          </p:cNvPr>
          <p:cNvSpPr/>
          <p:nvPr/>
        </p:nvSpPr>
        <p:spPr>
          <a:xfrm>
            <a:off x="4376928" y="1999488"/>
            <a:ext cx="3364992" cy="46329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1400">
                <a:solidFill>
                  <a:srgbClr val="4A5568"/>
                </a:solidFill>
                <a:latin typeface="Calibri" pitchFamily="34" charset="0"/>
                <a:ea typeface="Calibri" pitchFamily="34" charset="-122"/>
                <a:cs typeface="Calibri" pitchFamily="34" charset="-120"/>
              </a:rPr>
              <a:t>Automated review workflow not yet implemented — requires review resources to be confirmed first</a:t>
            </a:r>
            <a:endParaRPr lang="en-US" sz="1400"/>
          </a:p>
          <a:p>
            <a:pPr marL="457189" indent="-457189">
              <a:spcAft>
                <a:spcPts val="800"/>
              </a:spcAft>
              <a:buSzPct val="100000"/>
              <a:buChar char="•"/>
            </a:pPr>
            <a:r>
              <a:rPr lang="en-US" sz="1400">
                <a:solidFill>
                  <a:srgbClr val="4A5568"/>
                </a:solidFill>
                <a:latin typeface="Calibri" pitchFamily="34" charset="0"/>
                <a:ea typeface="Calibri" pitchFamily="34" charset="-122"/>
                <a:cs typeface="Calibri" pitchFamily="34" charset="-120"/>
              </a:rPr>
              <a:t>PTE partner: Lokalise shortlist questionnaire submitted 2 weeks ago — awaiting response</a:t>
            </a:r>
            <a:endParaRPr lang="en-US" sz="1400"/>
          </a:p>
          <a:p>
            <a:pPr marL="457189" indent="-457189">
              <a:spcAft>
                <a:spcPts val="800"/>
              </a:spcAft>
              <a:buSzPct val="100000"/>
              <a:buChar char="•"/>
            </a:pPr>
            <a:r>
              <a:rPr lang="en-US" sz="1400">
                <a:solidFill>
                  <a:srgbClr val="4A5568"/>
                </a:solidFill>
                <a:latin typeface="Calibri" pitchFamily="34" charset="0"/>
                <a:ea typeface="Calibri" pitchFamily="34" charset="-122"/>
                <a:cs typeface="Calibri" pitchFamily="34" charset="-120"/>
              </a:rPr>
              <a:t>Fallback plan: Conversis remains available if PTE partner is not confirmed in time</a:t>
            </a:r>
            <a:endParaRPr lang="en-US" sz="1400"/>
          </a:p>
        </p:txBody>
      </p:sp>
      <p:pic>
        <p:nvPicPr>
          <p:cNvPr id="22" name="Picture 21">
            <a:extLst>
              <a:ext uri="{FF2B5EF4-FFF2-40B4-BE49-F238E27FC236}">
                <a16:creationId xmlns:a16="http://schemas.microsoft.com/office/drawing/2014/main" id="{A2E192E6-312D-D9ED-14A3-BC61C92A1ADB}"/>
              </a:ext>
            </a:extLst>
          </p:cNvPr>
          <p:cNvPicPr>
            <a:picLocks noChangeAspect="1"/>
          </p:cNvPicPr>
          <p:nvPr/>
        </p:nvPicPr>
        <p:blipFill>
          <a:blip r:embed="rId5"/>
          <a:stretch>
            <a:fillRect/>
          </a:stretch>
        </p:blipFill>
        <p:spPr>
          <a:xfrm>
            <a:off x="8132065" y="1524000"/>
            <a:ext cx="3294884" cy="4632960"/>
          </a:xfrm>
          <a:prstGeom prst="rect">
            <a:avLst/>
          </a:prstGeom>
        </p:spPr>
      </p:pic>
      <p:sp>
        <p:nvSpPr>
          <p:cNvPr id="23" name="TextBox 22">
            <a:extLst>
              <a:ext uri="{FF2B5EF4-FFF2-40B4-BE49-F238E27FC236}">
                <a16:creationId xmlns:a16="http://schemas.microsoft.com/office/drawing/2014/main" id="{12347D50-F00A-97D1-63C6-AC8916818FD9}"/>
              </a:ext>
            </a:extLst>
          </p:cNvPr>
          <p:cNvSpPr txBox="1"/>
          <p:nvPr/>
        </p:nvSpPr>
        <p:spPr>
          <a:xfrm>
            <a:off x="9692640" y="6209109"/>
            <a:ext cx="3901440" cy="256545"/>
          </a:xfrm>
          <a:prstGeom prst="rect">
            <a:avLst/>
          </a:prstGeom>
          <a:noFill/>
        </p:spPr>
        <p:txBody>
          <a:bodyPr wrap="square" rtlCol="0">
            <a:spAutoFit/>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067" i="1" err="1">
                <a:hlinkClick r:id="rId6"/>
              </a:rPr>
              <a:t>Viedoc.SdvManager</a:t>
            </a:r>
            <a:r>
              <a:rPr lang="en-US" sz="1067" i="1">
                <a:hlinkClick r:id="rId6"/>
              </a:rPr>
              <a:t> | </a:t>
            </a:r>
            <a:r>
              <a:rPr lang="en-US" sz="1067" i="1" err="1">
                <a:hlinkClick r:id="rId6"/>
              </a:rPr>
              <a:t>Lokalise</a:t>
            </a:r>
            <a:endParaRPr lang="en-US" sz="1067" i="1"/>
          </a:p>
        </p:txBody>
      </p:sp>
    </p:spTree>
    <p:extLst>
      <p:ext uri="{BB962C8B-B14F-4D97-AF65-F5344CB8AC3E}">
        <p14:creationId xmlns:p14="http://schemas.microsoft.com/office/powerpoint/2010/main" val="2143764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QA during a release</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07</a:t>
            </a:r>
          </a:p>
        </p:txBody>
      </p:sp>
      <p:sp>
        <p:nvSpPr>
          <p:cNvPr id="4" name="TextBox 3"/>
          <p:cNvSpPr txBox="1"/>
          <p:nvPr/>
        </p:nvSpPr>
        <p:spPr>
          <a:xfrm>
            <a:off x="384048" y="4480560"/>
            <a:ext cx="7772400" cy="230832"/>
          </a:xfrm>
          <a:prstGeom prst="rect">
            <a:avLst/>
          </a:prstGeom>
          <a:noFill/>
        </p:spPr>
        <p:txBody>
          <a:bodyPr wrap="square" lIns="0" tIns="0" rIns="0" bIns="0" anchor="t">
            <a:spAutoFit/>
          </a:bodyPr>
          <a:lstStyle/>
          <a:p>
            <a:r>
              <a:rPr sz="1500" b="1">
                <a:solidFill>
                  <a:srgbClr val="000000"/>
                </a:solidFill>
                <a:latin typeface="Viedoc Monument Grotesk"/>
              </a:rPr>
              <a:t>Surya Paul</a:t>
            </a:r>
            <a:r>
              <a:rPr lang="en-US" sz="1500" b="1">
                <a:solidFill>
                  <a:srgbClr val="000000"/>
                </a:solidFill>
                <a:latin typeface="Viedoc Monument Grotesk"/>
              </a:rPr>
              <a:t> </a:t>
            </a:r>
            <a:r>
              <a:rPr sz="1500" b="1">
                <a:solidFill>
                  <a:srgbClr val="000000"/>
                </a:solidFill>
                <a:latin typeface="Viedoc Monument Grotesk"/>
              </a:rPr>
              <a:t> ·   </a:t>
            </a:r>
            <a:r>
              <a:rPr lang="en-US" sz="1500" b="1">
                <a:solidFill>
                  <a:srgbClr val="000000"/>
                </a:solidFill>
                <a:latin typeface="Viedoc Monument Grotesk"/>
              </a:rPr>
              <a:t>10 </a:t>
            </a:r>
            <a:r>
              <a:rPr sz="1500" b="1">
                <a:solidFill>
                  <a:srgbClr val="000000"/>
                </a:solidFill>
                <a:latin typeface="Viedoc Monument Grotesk"/>
              </a:rPr>
              <a:t>min</a:t>
            </a:r>
            <a:endParaRPr lang="en-US" sz="1500" b="1">
              <a:solidFill>
                <a:srgbClr val="000000"/>
              </a:solidFill>
              <a:latin typeface="Viedoc Monument Grotesk"/>
            </a:endParaRPr>
          </a:p>
        </p:txBody>
      </p:sp>
      <p:sp>
        <p:nvSpPr>
          <p:cNvPr id="5" name="TextBox 4"/>
          <p:cNvSpPr txBox="1"/>
          <p:nvPr/>
        </p:nvSpPr>
        <p:spPr>
          <a:xfrm>
            <a:off x="384048" y="4937760"/>
            <a:ext cx="6949440" cy="655564"/>
          </a:xfrm>
          <a:prstGeom prst="rect">
            <a:avLst/>
          </a:prstGeom>
          <a:noFill/>
        </p:spPr>
        <p:txBody>
          <a:bodyPr wrap="square" lIns="0" tIns="0" rIns="0" bIns="0">
            <a:spAutoFit/>
          </a:bodyPr>
          <a:lstStyle/>
          <a:p>
            <a:pPr>
              <a:lnSpc>
                <a:spcPct val="120000"/>
              </a:lnSpc>
            </a:pPr>
            <a:r>
              <a:rPr sz="1200" b="0">
                <a:solidFill>
                  <a:srgbClr val="5E5E5E"/>
                </a:solidFill>
                <a:latin typeface="Viedoc Monument Grotesk"/>
              </a:rPr>
              <a:t>What QA does across a </a:t>
            </a:r>
            <a:r>
              <a:rPr lang="en-US" sz="1200" b="0" err="1">
                <a:solidFill>
                  <a:srgbClr val="5E5E5E"/>
                </a:solidFill>
                <a:latin typeface="Viedoc Monument Grotesk"/>
              </a:rPr>
              <a:t>Viedoc</a:t>
            </a:r>
            <a:r>
              <a:rPr sz="1200" b="0">
                <a:solidFill>
                  <a:srgbClr val="5E5E5E"/>
                </a:solidFill>
                <a:latin typeface="Viedoc Monument Grotesk"/>
              </a:rPr>
              <a:t> release — </a:t>
            </a:r>
            <a:r>
              <a:rPr lang="en-US" sz="1200">
                <a:solidFill>
                  <a:srgbClr val="5E5E5E"/>
                </a:solidFill>
                <a:latin typeface="Viedoc Monument Grotesk"/>
              </a:rPr>
              <a:t>The</a:t>
            </a:r>
            <a:r>
              <a:rPr lang="en-US" sz="1200" b="0">
                <a:solidFill>
                  <a:srgbClr val="5E5E5E"/>
                </a:solidFill>
                <a:latin typeface="Viedoc Monument Grotesk"/>
              </a:rPr>
              <a:t> </a:t>
            </a:r>
            <a:r>
              <a:rPr sz="1200" b="0">
                <a:solidFill>
                  <a:srgbClr val="5E5E5E"/>
                </a:solidFill>
                <a:latin typeface="Viedoc Monument Grotesk"/>
              </a:rPr>
              <a:t>Validation Summary report, </a:t>
            </a:r>
            <a:r>
              <a:rPr lang="en-US" sz="1200">
                <a:solidFill>
                  <a:srgbClr val="5E5E5E"/>
                </a:solidFill>
                <a:latin typeface="Viedoc Monument Grotesk"/>
              </a:rPr>
              <a:t>maintaining and updating reg and quality documentations, running</a:t>
            </a:r>
            <a:r>
              <a:rPr sz="1200" b="0">
                <a:solidFill>
                  <a:srgbClr val="5E5E5E"/>
                </a:solidFill>
                <a:latin typeface="Viedoc Monument Grotesk"/>
              </a:rPr>
              <a:t> the regulatory suite</a:t>
            </a:r>
            <a:r>
              <a:rPr lang="en-US" sz="1200">
                <a:solidFill>
                  <a:srgbClr val="5E5E5E"/>
                </a:solidFill>
                <a:latin typeface="Viedoc Monument Grotesk"/>
              </a:rPr>
              <a:t> and signing off reports and release certificate</a:t>
            </a:r>
            <a:endParaRPr lang="en-US" sz="1200" b="0">
              <a:solidFill>
                <a:srgbClr val="5E5E5E"/>
              </a:solidFill>
              <a:latin typeface="Viedoc Monument Grotesk"/>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2400">
                <a:solidFill>
                  <a:srgbClr val="000000"/>
                </a:solidFill>
                <a:latin typeface="Viedoc Monument Grotesk"/>
              </a:rPr>
              <a:t>QA during a release</a:t>
            </a:r>
          </a:p>
        </p:txBody>
      </p:sp>
      <p:sp>
        <p:nvSpPr>
          <p:cNvPr id="3" name="TextBox 2"/>
          <p:cNvSpPr txBox="1"/>
          <p:nvPr/>
        </p:nvSpPr>
        <p:spPr>
          <a:xfrm>
            <a:off x="384048" y="1783080"/>
            <a:ext cx="11430000" cy="200055"/>
          </a:xfrm>
          <a:prstGeom prst="rect">
            <a:avLst/>
          </a:prstGeom>
          <a:noFill/>
        </p:spPr>
        <p:txBody>
          <a:bodyPr wrap="square" lIns="0" tIns="0" rIns="0" bIns="0">
            <a:spAutoFit/>
          </a:bodyPr>
          <a:lstStyle/>
          <a:p>
            <a:pPr algn="l">
              <a:spcBef>
                <a:spcPts val="0"/>
              </a:spcBef>
              <a:spcAft>
                <a:spcPts val="0"/>
              </a:spcAft>
            </a:pPr>
            <a:r>
              <a:rPr sz="1300" b="0">
                <a:solidFill>
                  <a:srgbClr val="5E5E5E"/>
                </a:solidFill>
                <a:latin typeface="Viedoc Monument Grotesk"/>
              </a:rPr>
              <a:t>Surya Paul </a:t>
            </a:r>
            <a:endParaRPr lang="en-US"/>
          </a:p>
        </p:txBody>
      </p:sp>
      <p:sp>
        <p:nvSpPr>
          <p:cNvPr id="4" name="TextBox 3"/>
          <p:cNvSpPr txBox="1"/>
          <p:nvPr/>
        </p:nvSpPr>
        <p:spPr>
          <a:xfrm>
            <a:off x="303837" y="2208998"/>
            <a:ext cx="11430000" cy="3575338"/>
          </a:xfrm>
          <a:prstGeom prst="rect">
            <a:avLst/>
          </a:prstGeom>
          <a:noFill/>
        </p:spPr>
        <p:txBody>
          <a:bodyPr wrap="square" lIns="0" tIns="0" rIns="0" bIns="0" anchor="t">
            <a:spAutoFit/>
          </a:bodyPr>
          <a:lstStyle/>
          <a:p>
            <a:pPr algn="ctr">
              <a:spcAft>
                <a:spcPts val="1000"/>
              </a:spcAft>
            </a:pPr>
            <a:r>
              <a:rPr lang="en-US" sz="2600">
                <a:solidFill>
                  <a:srgbClr val="A0A0A0"/>
                </a:solidFill>
                <a:ea typeface="+mn-lt"/>
                <a:cs typeface="+mn-lt"/>
              </a:rPr>
              <a:t>Provide oversight of the overall release activities to ensure they are performed in accordance with established procedures and that Viedoc meets applicable regulatory requirements and expectations.</a:t>
            </a:r>
          </a:p>
          <a:p>
            <a:r>
              <a:rPr lang="en-US" sz="1200" b="1">
                <a:solidFill>
                  <a:srgbClr val="A0A0A0"/>
                </a:solidFill>
                <a:highlight>
                  <a:srgbClr val="FFFFFF"/>
                </a:highlight>
                <a:latin typeface="Aptos"/>
              </a:rPr>
              <a:t>In practice this includes:</a:t>
            </a:r>
            <a:endParaRPr lang="en-US" sz="1200">
              <a:solidFill>
                <a:srgbClr val="A0A0A0"/>
              </a:solidFill>
              <a:highlight>
                <a:srgbClr val="C6C6C6"/>
              </a:highlight>
              <a:latin typeface="Aptos"/>
            </a:endParaRPr>
          </a:p>
          <a:p>
            <a:pPr marL="285750" indent="-285750">
              <a:buFont typeface="Symbol"/>
              <a:buChar char="•"/>
            </a:pPr>
            <a:r>
              <a:rPr lang="en-US" sz="1200">
                <a:solidFill>
                  <a:srgbClr val="A0A0A0"/>
                </a:solidFill>
                <a:highlight>
                  <a:srgbClr val="FFFFFF"/>
                </a:highlight>
                <a:latin typeface="Aptos"/>
              </a:rPr>
              <a:t>Performing the regulatory part of PQ testing, ensuring compliance with applicable regulatory req and expectations</a:t>
            </a:r>
            <a:endParaRPr lang="en-US" sz="1200">
              <a:solidFill>
                <a:srgbClr val="A0A0A0"/>
              </a:solidFill>
              <a:highlight>
                <a:srgbClr val="C6C6C6"/>
              </a:highlight>
              <a:latin typeface="Aptos"/>
            </a:endParaRPr>
          </a:p>
          <a:p>
            <a:pPr marL="285750" indent="-285750">
              <a:buFont typeface="Symbol"/>
              <a:buChar char="•"/>
            </a:pPr>
            <a:r>
              <a:rPr lang="en-US" sz="1200">
                <a:solidFill>
                  <a:srgbClr val="A0A0A0"/>
                </a:solidFill>
                <a:highlight>
                  <a:srgbClr val="FFFFFF"/>
                </a:highlight>
                <a:latin typeface="Aptos"/>
              </a:rPr>
              <a:t>Preparing, reviewing and signing the Validation Summary Report</a:t>
            </a:r>
            <a:endParaRPr lang="en-US" sz="1200">
              <a:solidFill>
                <a:srgbClr val="A0A0A0"/>
              </a:solidFill>
              <a:highlight>
                <a:srgbClr val="C6C6C6"/>
              </a:highlight>
              <a:latin typeface="Aptos"/>
            </a:endParaRPr>
          </a:p>
          <a:p>
            <a:pPr marL="285750" indent="-285750">
              <a:buFont typeface="Symbol"/>
              <a:buChar char="•"/>
            </a:pPr>
            <a:r>
              <a:rPr lang="en-US" sz="1200">
                <a:solidFill>
                  <a:srgbClr val="A0A0A0"/>
                </a:solidFill>
                <a:highlight>
                  <a:srgbClr val="FFFFFF"/>
                </a:highlight>
                <a:latin typeface="Aptos"/>
              </a:rPr>
              <a:t>Maintaining and updating relevant regulatory and quality documentation, including</a:t>
            </a:r>
            <a:endParaRPr lang="en-US" sz="1200">
              <a:solidFill>
                <a:srgbClr val="A0A0A0"/>
              </a:solidFill>
              <a:highlight>
                <a:srgbClr val="C6C6C6"/>
              </a:highlight>
              <a:latin typeface="Aptos"/>
            </a:endParaRPr>
          </a:p>
          <a:p>
            <a:pPr marL="742950" lvl="1" indent="-285750">
              <a:buFont typeface="Courier New"/>
              <a:buChar char="○"/>
            </a:pPr>
            <a:r>
              <a:rPr lang="en-US" sz="1200">
                <a:solidFill>
                  <a:srgbClr val="A0A0A0"/>
                </a:solidFill>
                <a:highlight>
                  <a:srgbClr val="FFFFFF"/>
                </a:highlight>
                <a:latin typeface="Aptos"/>
              </a:rPr>
              <a:t>QMS Table of Contents</a:t>
            </a:r>
            <a:endParaRPr lang="en-US" sz="1200">
              <a:solidFill>
                <a:srgbClr val="A0A0A0"/>
              </a:solidFill>
              <a:highlight>
                <a:srgbClr val="C6C6C6"/>
              </a:highlight>
              <a:latin typeface="Aptos"/>
            </a:endParaRPr>
          </a:p>
          <a:p>
            <a:pPr marL="742950" lvl="1" indent="-285750">
              <a:buFont typeface="Courier New"/>
              <a:buChar char="○"/>
            </a:pPr>
            <a:r>
              <a:rPr lang="en-US" sz="1200">
                <a:solidFill>
                  <a:srgbClr val="A0A0A0"/>
                </a:solidFill>
                <a:highlight>
                  <a:srgbClr val="FFFFFF"/>
                </a:highlight>
                <a:latin typeface="Aptos"/>
              </a:rPr>
              <a:t>EDC Management Sheet as requested by JP to support PMDA submissions</a:t>
            </a:r>
            <a:endParaRPr lang="en-US" sz="1200">
              <a:solidFill>
                <a:srgbClr val="A0A0A0"/>
              </a:solidFill>
              <a:highlight>
                <a:srgbClr val="C6C6C6"/>
              </a:highlight>
              <a:latin typeface="Aptos"/>
            </a:endParaRPr>
          </a:p>
          <a:p>
            <a:pPr marL="742950" lvl="1" indent="-285750">
              <a:buFont typeface="Courier New"/>
              <a:buChar char="○"/>
            </a:pPr>
            <a:r>
              <a:rPr lang="en-US" sz="1200">
                <a:solidFill>
                  <a:srgbClr val="A0A0A0"/>
                </a:solidFill>
                <a:highlight>
                  <a:srgbClr val="FFFFFF"/>
                </a:highlight>
                <a:latin typeface="Aptos"/>
              </a:rPr>
              <a:t>Clinical Trial Cloud System Checklist, ensuring it remains up to date with the checklist issued by PMDA </a:t>
            </a:r>
            <a:endParaRPr lang="en-US" sz="1200">
              <a:solidFill>
                <a:srgbClr val="A0A0A0"/>
              </a:solidFill>
              <a:highlight>
                <a:srgbClr val="C6C6C6"/>
              </a:highlight>
              <a:latin typeface="Aptos"/>
            </a:endParaRPr>
          </a:p>
          <a:p>
            <a:pPr lvl="1"/>
            <a:endParaRPr lang="en-US" sz="1200">
              <a:solidFill>
                <a:srgbClr val="A0A0A0"/>
              </a:solidFill>
              <a:highlight>
                <a:srgbClr val="C6C6C6"/>
              </a:highlight>
              <a:latin typeface="Aptos"/>
            </a:endParaRPr>
          </a:p>
          <a:p>
            <a:pPr marL="285750" indent="-285750">
              <a:buFont typeface="Symbol"/>
              <a:buChar char="•"/>
            </a:pPr>
            <a:r>
              <a:rPr lang="en-US" sz="1200">
                <a:solidFill>
                  <a:srgbClr val="A0A0A0"/>
                </a:solidFill>
                <a:highlight>
                  <a:srgbClr val="FFFFFF"/>
                </a:highlight>
                <a:latin typeface="Aptos"/>
              </a:rPr>
              <a:t>Reviewing and signing off the URS, PQ specification and validation report</a:t>
            </a:r>
            <a:endParaRPr lang="en-US" sz="1200">
              <a:solidFill>
                <a:srgbClr val="A0A0A0"/>
              </a:solidFill>
              <a:highlight>
                <a:srgbClr val="C6C6C6"/>
              </a:highlight>
              <a:latin typeface="Aptos"/>
            </a:endParaRPr>
          </a:p>
          <a:p>
            <a:pPr marL="285750" indent="-285750">
              <a:buFont typeface="Symbol"/>
              <a:buChar char="•"/>
            </a:pPr>
            <a:r>
              <a:rPr lang="en-US" sz="1200">
                <a:solidFill>
                  <a:srgbClr val="A0A0A0"/>
                </a:solidFill>
                <a:highlight>
                  <a:srgbClr val="FFFFFF"/>
                </a:highlight>
                <a:latin typeface="Aptos"/>
              </a:rPr>
              <a:t>As the final step, signing the Release Certificate which provides the formal 'go' for release to production</a:t>
            </a:r>
          </a:p>
          <a:p>
            <a:pPr algn="ctr">
              <a:spcAft>
                <a:spcPts val="1000"/>
              </a:spcAft>
            </a:pPr>
            <a:endParaRPr lang="en-US" sz="2600">
              <a:solidFill>
                <a:srgbClr val="A0A0A0"/>
              </a:solidFill>
              <a:latin typeface="Viedoc Monument Grotesk"/>
            </a:endParaRPr>
          </a:p>
        </p:txBody>
      </p:sp>
      <p:sp>
        <p:nvSpPr>
          <p:cNvPr id="5" name="TextBox 4"/>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What's actually required of us</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08</a:t>
            </a:r>
          </a:p>
        </p:txBody>
      </p:sp>
      <p:sp>
        <p:nvSpPr>
          <p:cNvPr id="4" name="TextBox 3"/>
          <p:cNvSpPr txBox="1"/>
          <p:nvPr/>
        </p:nvSpPr>
        <p:spPr>
          <a:xfrm>
            <a:off x="384048" y="4480560"/>
            <a:ext cx="7772400" cy="230832"/>
          </a:xfrm>
          <a:prstGeom prst="rect">
            <a:avLst/>
          </a:prstGeom>
          <a:noFill/>
        </p:spPr>
        <p:txBody>
          <a:bodyPr wrap="square" lIns="0" tIns="0" rIns="0" bIns="0" anchor="t">
            <a:spAutoFit/>
          </a:bodyPr>
          <a:lstStyle/>
          <a:p>
            <a:r>
              <a:rPr sz="1500" b="1">
                <a:solidFill>
                  <a:srgbClr val="000000"/>
                </a:solidFill>
                <a:latin typeface="Viedoc Monument Grotesk"/>
              </a:rPr>
              <a:t>Marialuisa Baldi   ·   </a:t>
            </a:r>
            <a:r>
              <a:rPr lang="sv-SE" sz="1500" b="1">
                <a:solidFill>
                  <a:srgbClr val="000000"/>
                </a:solidFill>
                <a:latin typeface="Viedoc Monument Grotesk"/>
              </a:rPr>
              <a:t>1</a:t>
            </a:r>
            <a:r>
              <a:rPr sz="1500" b="1">
                <a:solidFill>
                  <a:srgbClr val="000000"/>
                </a:solidFill>
                <a:latin typeface="Viedoc Monument Grotesk"/>
              </a:rPr>
              <a:t>0 min</a:t>
            </a:r>
          </a:p>
        </p:txBody>
      </p:sp>
      <p:sp>
        <p:nvSpPr>
          <p:cNvPr id="5" name="TextBox 4"/>
          <p:cNvSpPr txBox="1"/>
          <p:nvPr/>
        </p:nvSpPr>
        <p:spPr>
          <a:xfrm>
            <a:off x="384048" y="4937760"/>
            <a:ext cx="6949440" cy="212366"/>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Open discussion. What the regulations require</a:t>
            </a:r>
            <a:r>
              <a:rPr lang="sv-SE" sz="1200" b="0">
                <a:solidFill>
                  <a:srgbClr val="5E5E5E"/>
                </a:solidFill>
                <a:latin typeface="Viedoc Monument Grotesk"/>
              </a:rPr>
              <a:t> </a:t>
            </a:r>
            <a:r>
              <a:rPr lang="sv-SE" sz="1200">
                <a:solidFill>
                  <a:srgbClr val="5E5E5E"/>
                </a:solidFill>
                <a:latin typeface="Viedoc Monument Grotesk"/>
              </a:rPr>
              <a:t>from Viedoc.</a:t>
            </a:r>
            <a:endParaRPr sz="1200" b="0">
              <a:solidFill>
                <a:srgbClr val="5E5E5E"/>
              </a:solidFill>
              <a:latin typeface="Viedoc Monument Grotesk"/>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1673352"/>
            <a:ext cx="11430000" cy="822960"/>
          </a:xfrm>
        </p:spPr>
        <p:txBody>
          <a:bodyPr wrap="square">
            <a:normAutofit/>
          </a:bodyPr>
          <a:lstStyle/>
          <a:p>
            <a:r>
              <a:rPr lang="en-SE" sz="2000" b="1"/>
              <a:t>Why we do what we do to Validate Viedoc</a:t>
            </a:r>
            <a:r>
              <a:rPr lang="en-SE" sz="2000"/>
              <a:t> </a:t>
            </a:r>
            <a:endParaRPr lang="en-SE" sz="2000">
              <a:solidFill>
                <a:srgbClr val="000000"/>
              </a:solidFill>
              <a:latin typeface="Viedoc Monument Grotesk"/>
            </a:endParaRPr>
          </a:p>
        </p:txBody>
      </p:sp>
      <p:sp>
        <p:nvSpPr>
          <p:cNvPr id="4" name="TextBox 3"/>
          <p:cNvSpPr txBox="1"/>
          <p:nvPr/>
        </p:nvSpPr>
        <p:spPr>
          <a:xfrm>
            <a:off x="384048" y="2657206"/>
            <a:ext cx="11430000" cy="1938992"/>
          </a:xfrm>
          <a:prstGeom prst="rect">
            <a:avLst/>
          </a:prstGeom>
          <a:noFill/>
        </p:spPr>
        <p:txBody>
          <a:bodyPr wrap="square" lIns="0" tIns="0" rIns="0" bIns="0">
            <a:spAutoFit/>
          </a:bodyPr>
          <a:lstStyle/>
          <a:p>
            <a:r>
              <a:rPr lang="en-GB">
                <a:solidFill>
                  <a:srgbClr val="5E5E5E"/>
                </a:solidFill>
              </a:rPr>
              <a:t>Validation activities are the core-essence requested by Regulatory authorities; without validation of our system there is no business.</a:t>
            </a:r>
          </a:p>
          <a:p>
            <a:r>
              <a:rPr lang="en-GB">
                <a:solidFill>
                  <a:srgbClr val="5E5E5E"/>
                </a:solidFill>
              </a:rPr>
              <a:t> </a:t>
            </a:r>
          </a:p>
          <a:p>
            <a:r>
              <a:rPr lang="en-GB" b="1">
                <a:solidFill>
                  <a:srgbClr val="5E5E5E"/>
                </a:solidFill>
              </a:rPr>
              <a:t>What Validation means from regulatory perspective?</a:t>
            </a:r>
          </a:p>
          <a:p>
            <a:r>
              <a:rPr lang="en-GB">
                <a:solidFill>
                  <a:srgbClr val="5E5E5E"/>
                </a:solidFill>
              </a:rPr>
              <a:t>It means that we have to be able to demonstrate that our systems fulfils the regulatory expectation and that our system is compliant with the established requirements for </a:t>
            </a:r>
            <a:r>
              <a:rPr lang="en-GB" b="1">
                <a:solidFill>
                  <a:srgbClr val="5E5E5E"/>
                </a:solidFill>
              </a:rPr>
              <a:t>completeness, accuracy, reliability </a:t>
            </a:r>
            <a:r>
              <a:rPr lang="en-GB">
                <a:solidFill>
                  <a:srgbClr val="5E5E5E"/>
                </a:solidFill>
              </a:rPr>
              <a:t>ensuring </a:t>
            </a:r>
            <a:r>
              <a:rPr lang="en-GB" b="1">
                <a:solidFill>
                  <a:srgbClr val="5E5E5E"/>
                </a:solidFill>
              </a:rPr>
              <a:t>data privacy, integrity and full traceability of validation activities.</a:t>
            </a:r>
            <a:endParaRPr lang="en-US" b="0">
              <a:solidFill>
                <a:srgbClr val="A0A0A0"/>
              </a:solidFill>
              <a:latin typeface="Viedoc Monument Grotesk"/>
            </a:endParaRPr>
          </a:p>
        </p:txBody>
      </p:sp>
      <p:sp>
        <p:nvSpPr>
          <p:cNvPr id="5" name="TextBox 4"/>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912FF4-8A03-A834-C634-F3ECE594F803}"/>
              </a:ext>
            </a:extLst>
          </p:cNvPr>
          <p:cNvSpPr txBox="1"/>
          <p:nvPr/>
        </p:nvSpPr>
        <p:spPr>
          <a:xfrm>
            <a:off x="384048" y="1608328"/>
            <a:ext cx="11365992" cy="4154984"/>
          </a:xfrm>
          <a:prstGeom prst="rect">
            <a:avLst/>
          </a:prstGeom>
          <a:noFill/>
        </p:spPr>
        <p:txBody>
          <a:bodyPr wrap="square" lIns="0" tIns="0" rIns="0" bIns="0">
            <a:spAutoFit/>
          </a:bodyPr>
          <a:lstStyle>
            <a:defPPr>
              <a:defRPr lang="sv-SE"/>
            </a:defPPr>
            <a:lvl1pPr>
              <a:defRPr>
                <a:solidFill>
                  <a:srgbClr val="5E5E5E"/>
                </a:solidFill>
              </a:defRPr>
            </a:lvl1pPr>
          </a:lstStyle>
          <a:p>
            <a:r>
              <a:rPr lang="en-US" b="1"/>
              <a:t>GCP ICH E6:​</a:t>
            </a:r>
            <a:endParaRPr lang="en-SE" b="1"/>
          </a:p>
          <a:p>
            <a:r>
              <a:rPr lang="en-US"/>
              <a:t> </a:t>
            </a:r>
            <a:endParaRPr lang="en-SE"/>
          </a:p>
          <a:p>
            <a:r>
              <a:rPr lang="en-US" i="1"/>
              <a:t>Validation should demonstrate that the system conforms to the established requirements for completeness, accuracy and reliability and that its performance </a:t>
            </a:r>
            <a:r>
              <a:rPr lang="en-US" b="1" i="1"/>
              <a:t>is consistent </a:t>
            </a:r>
            <a:r>
              <a:rPr lang="en-US" i="1"/>
              <a:t>with its intended purpose.​</a:t>
            </a:r>
            <a:endParaRPr lang="en-SE" i="1"/>
          </a:p>
          <a:p>
            <a:r>
              <a:rPr lang="en-US"/>
              <a:t> </a:t>
            </a:r>
            <a:endParaRPr lang="en-SE"/>
          </a:p>
          <a:p>
            <a:r>
              <a:rPr lang="en-US" b="1"/>
              <a:t>EMA Guideline on </a:t>
            </a:r>
            <a:r>
              <a:rPr lang="en-US" b="1" err="1"/>
              <a:t>Computerised</a:t>
            </a:r>
            <a:r>
              <a:rPr lang="en-US" b="1"/>
              <a:t> Systems:​</a:t>
            </a:r>
            <a:endParaRPr lang="en-SE" b="1"/>
          </a:p>
          <a:p>
            <a:r>
              <a:rPr lang="en-US"/>
              <a:t> </a:t>
            </a:r>
            <a:endParaRPr lang="en-SE"/>
          </a:p>
          <a:p>
            <a:r>
              <a:rPr lang="en-US" i="1"/>
              <a:t>Validation should ensure accuracy, reliability, and consistent </a:t>
            </a:r>
            <a:r>
              <a:rPr lang="en-US" b="1" i="1"/>
              <a:t>intended performance</a:t>
            </a:r>
            <a:r>
              <a:rPr lang="en-US" i="1"/>
              <a:t>, </a:t>
            </a:r>
            <a:r>
              <a:rPr lang="en-US" b="1" i="1"/>
              <a:t>from the design until the decommissioning </a:t>
            </a:r>
            <a:r>
              <a:rPr lang="en-US" i="1"/>
              <a:t>of the system or transition to a new system.​</a:t>
            </a:r>
            <a:endParaRPr lang="en-SE" i="1"/>
          </a:p>
          <a:p>
            <a:r>
              <a:rPr lang="en-US" i="1"/>
              <a:t> </a:t>
            </a:r>
            <a:endParaRPr lang="en-SE" i="1"/>
          </a:p>
          <a:p>
            <a:r>
              <a:rPr lang="en-US" b="1" i="1"/>
              <a:t>Documentation</a:t>
            </a:r>
            <a:r>
              <a:rPr lang="en-US" i="1"/>
              <a:t> (including information within </a:t>
            </a:r>
            <a:r>
              <a:rPr lang="en-US" i="1" err="1"/>
              <a:t>computerised</a:t>
            </a:r>
            <a:r>
              <a:rPr lang="en-US" i="1"/>
              <a:t> systems used as process tools for validation activities) </a:t>
            </a:r>
            <a:r>
              <a:rPr lang="en-US" b="1" i="1"/>
              <a:t>should be maintained to demonstrate that the system is maintained in the validated state</a:t>
            </a:r>
            <a:r>
              <a:rPr lang="en-US" i="1"/>
              <a:t>. Such documentation should be available for both the validation of the </a:t>
            </a:r>
            <a:r>
              <a:rPr lang="en-US" i="1" err="1"/>
              <a:t>computerised</a:t>
            </a:r>
            <a:r>
              <a:rPr lang="en-US" i="1"/>
              <a:t> system and for the validation of the trial specific configuration or customization​.</a:t>
            </a:r>
            <a:endParaRPr lang="en-SE" i="1"/>
          </a:p>
          <a:p>
            <a:endParaRPr lang="en-SE"/>
          </a:p>
        </p:txBody>
      </p:sp>
      <p:sp>
        <p:nvSpPr>
          <p:cNvPr id="4" name="Title 1">
            <a:extLst>
              <a:ext uri="{FF2B5EF4-FFF2-40B4-BE49-F238E27FC236}">
                <a16:creationId xmlns:a16="http://schemas.microsoft.com/office/drawing/2014/main" id="{03D7BDDD-EFDB-7E79-91A7-CBC6B6290C5B}"/>
              </a:ext>
            </a:extLst>
          </p:cNvPr>
          <p:cNvSpPr>
            <a:spLocks noGrp="1"/>
          </p:cNvSpPr>
          <p:nvPr>
            <p:ph type="title"/>
          </p:nvPr>
        </p:nvSpPr>
        <p:spPr>
          <a:xfrm>
            <a:off x="320040" y="960120"/>
            <a:ext cx="11430000" cy="566928"/>
          </a:xfrm>
        </p:spPr>
        <p:txBody>
          <a:bodyPr wrap="square">
            <a:normAutofit/>
          </a:bodyPr>
          <a:lstStyle/>
          <a:p>
            <a:r>
              <a:rPr lang="en-SE" sz="2000" b="1"/>
              <a:t>Important Regulatory references: </a:t>
            </a:r>
          </a:p>
        </p:txBody>
      </p:sp>
    </p:spTree>
    <p:extLst>
      <p:ext uri="{BB962C8B-B14F-4D97-AF65-F5344CB8AC3E}">
        <p14:creationId xmlns:p14="http://schemas.microsoft.com/office/powerpoint/2010/main" val="2965508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0F094C-CB35-7EA9-BB2B-BB76EF27DB06}"/>
              </a:ext>
            </a:extLst>
          </p:cNvPr>
          <p:cNvSpPr txBox="1"/>
          <p:nvPr/>
        </p:nvSpPr>
        <p:spPr>
          <a:xfrm>
            <a:off x="286003" y="1142242"/>
            <a:ext cx="11365992" cy="4985980"/>
          </a:xfrm>
          <a:prstGeom prst="rect">
            <a:avLst/>
          </a:prstGeom>
          <a:noFill/>
        </p:spPr>
        <p:txBody>
          <a:bodyPr wrap="square" lIns="0" tIns="0" rIns="0" bIns="0">
            <a:spAutoFit/>
          </a:bodyPr>
          <a:lstStyle>
            <a:defPPr>
              <a:defRPr lang="sv-SE"/>
            </a:defPPr>
            <a:lvl1pPr>
              <a:defRPr>
                <a:solidFill>
                  <a:srgbClr val="5E5E5E"/>
                </a:solidFill>
              </a:defRPr>
            </a:lvl1pPr>
          </a:lstStyle>
          <a:p>
            <a:r>
              <a:rPr lang="en-US" b="1"/>
              <a:t>FDA </a:t>
            </a:r>
            <a:r>
              <a:rPr lang="en-GB" b="1"/>
              <a:t>21 CFR Part 11</a:t>
            </a:r>
            <a:r>
              <a:rPr lang="en-US" b="1"/>
              <a:t>​</a:t>
            </a:r>
            <a:endParaRPr lang="en-SE"/>
          </a:p>
          <a:p>
            <a:r>
              <a:rPr lang="en-US" b="1"/>
              <a:t> </a:t>
            </a:r>
            <a:endParaRPr lang="en-SE"/>
          </a:p>
          <a:p>
            <a:r>
              <a:rPr lang="en-GB" i="1"/>
              <a:t>Validation of systems to </a:t>
            </a:r>
            <a:r>
              <a:rPr lang="en-GB" b="1" i="1"/>
              <a:t>ensure accuracy, reliability, consistent</a:t>
            </a:r>
            <a:r>
              <a:rPr lang="en-GB" i="1"/>
              <a:t> intended performance, and the ability to discern invalid or altered records.</a:t>
            </a:r>
            <a:r>
              <a:rPr lang="en-US" i="1"/>
              <a:t>​</a:t>
            </a:r>
          </a:p>
          <a:p>
            <a:endParaRPr lang="en-US" i="1"/>
          </a:p>
          <a:p>
            <a:r>
              <a:rPr lang="en-US" i="1"/>
              <a:t>…</a:t>
            </a:r>
            <a:r>
              <a:rPr lang="en-SE"/>
              <a:t>requires a secure, computer-generated, time-stamped </a:t>
            </a:r>
            <a:r>
              <a:rPr lang="en-SE" b="1"/>
              <a:t>audit trail </a:t>
            </a:r>
            <a:r>
              <a:rPr lang="en-SE"/>
              <a:t>that independently records the date and time of operator entries and actions that create, modify, or delete electronic records. </a:t>
            </a:r>
            <a:r>
              <a:rPr lang="en-GB" b="1"/>
              <a:t> </a:t>
            </a:r>
            <a:endParaRPr lang="en-SE"/>
          </a:p>
          <a:p>
            <a:endParaRPr lang="en-SE"/>
          </a:p>
          <a:p>
            <a:r>
              <a:rPr lang="en-SE"/>
              <a:t>EMA and PMDA impose parallel expectations.</a:t>
            </a:r>
          </a:p>
          <a:p>
            <a:r>
              <a:rPr lang="en-US" i="1"/>
              <a:t> </a:t>
            </a:r>
            <a:endParaRPr lang="en-SE"/>
          </a:p>
          <a:p>
            <a:r>
              <a:rPr lang="en-US" b="1"/>
              <a:t>In addition….</a:t>
            </a:r>
            <a:endParaRPr lang="en-SE" b="1"/>
          </a:p>
          <a:p>
            <a:r>
              <a:rPr lang="en-US" i="1"/>
              <a:t> </a:t>
            </a:r>
            <a:endParaRPr lang="en-SE"/>
          </a:p>
          <a:p>
            <a:r>
              <a:rPr lang="en-US"/>
              <a:t>As per EMA guideline on </a:t>
            </a:r>
            <a:r>
              <a:rPr lang="en-US" err="1"/>
              <a:t>Computerised</a:t>
            </a:r>
            <a:r>
              <a:rPr lang="en-US"/>
              <a:t> Systems</a:t>
            </a:r>
            <a:r>
              <a:rPr lang="en-US" i="1"/>
              <a:t>, the responsible party may </a:t>
            </a:r>
            <a:r>
              <a:rPr lang="en-US" b="1" i="1"/>
              <a:t>rely on validation documentation provided by the vendor of a system</a:t>
            </a:r>
            <a:r>
              <a:rPr lang="en-US" i="1"/>
              <a:t> if they have assessed the validation activities performed by the vendor and the associated documentation as adequate.</a:t>
            </a:r>
          </a:p>
          <a:p>
            <a:endParaRPr lang="en-SE"/>
          </a:p>
          <a:p>
            <a:r>
              <a:rPr lang="en-SE"/>
              <a:t>That is one of the reasons we provide the </a:t>
            </a:r>
            <a:r>
              <a:rPr lang="en-SE" b="1"/>
              <a:t>VIRP</a:t>
            </a:r>
            <a:r>
              <a:rPr lang="en-SE"/>
              <a:t>, enabling customers to leverage robust vendor validation evidence and adopt a risk-based, efficient approach to compliance.</a:t>
            </a:r>
          </a:p>
        </p:txBody>
      </p:sp>
    </p:spTree>
    <p:extLst>
      <p:ext uri="{BB962C8B-B14F-4D97-AF65-F5344CB8AC3E}">
        <p14:creationId xmlns:p14="http://schemas.microsoft.com/office/powerpoint/2010/main" val="2689974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C3B280-8FFB-5A1E-E68A-1DAF73153837}"/>
              </a:ext>
            </a:extLst>
          </p:cNvPr>
          <p:cNvSpPr txBox="1"/>
          <p:nvPr/>
        </p:nvSpPr>
        <p:spPr>
          <a:xfrm>
            <a:off x="348996" y="1348137"/>
            <a:ext cx="11365992" cy="5447645"/>
          </a:xfrm>
          <a:prstGeom prst="rect">
            <a:avLst/>
          </a:prstGeom>
          <a:noFill/>
        </p:spPr>
        <p:txBody>
          <a:bodyPr wrap="square" lIns="0" tIns="0" rIns="0" bIns="0">
            <a:spAutoFit/>
          </a:bodyPr>
          <a:lstStyle>
            <a:defPPr>
              <a:defRPr lang="sv-SE"/>
            </a:defPPr>
            <a:lvl1pPr>
              <a:defRPr>
                <a:solidFill>
                  <a:srgbClr val="5E5E5E"/>
                </a:solidFill>
              </a:defRPr>
            </a:lvl1pPr>
          </a:lstStyle>
          <a:p>
            <a:endParaRPr lang="en-SE" b="1"/>
          </a:p>
          <a:p>
            <a:pPr fontAlgn="t">
              <a:lnSpc>
                <a:spcPct val="100000"/>
              </a:lnSpc>
              <a:buNone/>
            </a:pPr>
            <a:r>
              <a:rPr lang="en-SE" b="1"/>
              <a:t>Among this vast landscape of regulatory requirements... who tells you </a:t>
            </a:r>
            <a:r>
              <a:rPr lang="en-SE" b="1" i="1"/>
              <a:t>how</a:t>
            </a:r>
            <a:r>
              <a:rPr lang="en-SE" b="1"/>
              <a:t> to validate a computerized system and what a validation process should include? </a:t>
            </a:r>
            <a:r>
              <a:rPr lang="en-SE" b="1">
                <a:sym typeface="Wingdings" pitchFamily="2" charset="2"/>
              </a:rPr>
              <a:t></a:t>
            </a:r>
            <a:endParaRPr lang="en-SE" b="1"/>
          </a:p>
          <a:p>
            <a:endParaRPr lang="en-SE">
              <a:sym typeface="Wingdings" pitchFamily="2" charset="2"/>
            </a:endParaRPr>
          </a:p>
          <a:p>
            <a:pPr marL="285750" indent="-285750">
              <a:buFont typeface="Arial" panose="020B0604020202020204" pitchFamily="34" charset="0"/>
              <a:buChar char="•"/>
            </a:pPr>
            <a:r>
              <a:rPr lang="en-SE" b="1"/>
              <a:t>GAMP 5</a:t>
            </a:r>
            <a:r>
              <a:rPr lang="en-SE"/>
              <a:t> (ISPE's "Good Automated Manufacturing Practice") </a:t>
            </a:r>
          </a:p>
          <a:p>
            <a:endParaRPr lang="en-SE"/>
          </a:p>
          <a:p>
            <a:r>
              <a:rPr lang="en-SE"/>
              <a:t>It's is not a regulation itself, but it has become the industry standard for computerized system validation in the pharmaceutical sector. It provides a practical, risk-based framework for validation, helping organizations ensure </a:t>
            </a:r>
            <a:r>
              <a:rPr lang="en-SE" b="1"/>
              <a:t>patient safety, product quality, and data integrity</a:t>
            </a:r>
            <a:r>
              <a:rPr lang="en-SE"/>
              <a:t> while maintaining a cost-effective approach.</a:t>
            </a:r>
          </a:p>
          <a:p>
            <a:endParaRPr lang="en-SE" b="1"/>
          </a:p>
          <a:p>
            <a:r>
              <a:rPr lang="en-SE" b="1"/>
              <a:t>Reference: </a:t>
            </a:r>
            <a:r>
              <a:rPr lang="en-SE" i="1"/>
              <a:t>QAOff25 Viedoc Compliance according to GAMP 5 - Viedoc Technologies</a:t>
            </a:r>
          </a:p>
          <a:p>
            <a:endParaRPr lang="en-SE" i="1"/>
          </a:p>
          <a:p>
            <a:pPr marL="285750" indent="-285750">
              <a:buFont typeface="Arial" panose="020B0604020202020204" pitchFamily="34" charset="0"/>
              <a:buChar char="•"/>
            </a:pPr>
            <a:r>
              <a:rPr lang="en-SE" b="1"/>
              <a:t>EMA Guideline on Computerised systems</a:t>
            </a:r>
          </a:p>
          <a:p>
            <a:endParaRPr lang="en-SE"/>
          </a:p>
          <a:p>
            <a:pPr fontAlgn="t">
              <a:lnSpc>
                <a:spcPct val="100000"/>
              </a:lnSpc>
              <a:buNone/>
            </a:pPr>
            <a:r>
              <a:rPr lang="en-SE"/>
              <a:t>This guideline outlines regulatory expectations for the validation, operation, and secure use of computerized systems in clinical trials. It also provides further clarification on the requirements established by ICH GCP, helping sponsors and investigators </a:t>
            </a:r>
            <a:r>
              <a:rPr lang="en-SE" b="1"/>
              <a:t>translate regulatory principles into practical implementation</a:t>
            </a:r>
            <a:r>
              <a:rPr lang="en-SE"/>
              <a:t>.</a:t>
            </a:r>
          </a:p>
          <a:p>
            <a:endParaRPr lang="en-SE" b="1"/>
          </a:p>
          <a:p>
            <a:r>
              <a:rPr lang="en-GB" sz="1200" b="1"/>
              <a:t>F</a:t>
            </a:r>
            <a:r>
              <a:rPr lang="en-SE" sz="1200" b="1"/>
              <a:t>un fact: </a:t>
            </a:r>
            <a:r>
              <a:rPr lang="en-SE" sz="1200"/>
              <a:t>The new ICH GCP is considered an overview of the EMA guideline. Want to dive deeper into the details mentioned in the ICH GCP? Read the EMA guideline </a:t>
            </a:r>
            <a:r>
              <a:rPr lang="en-SE" sz="1200">
                <a:sym typeface="Wingdings" pitchFamily="2" charset="2"/>
              </a:rPr>
              <a:t></a:t>
            </a:r>
            <a:endParaRPr lang="en-SE" sz="1200"/>
          </a:p>
          <a:p>
            <a:endParaRPr lang="en-SE" b="1"/>
          </a:p>
        </p:txBody>
      </p:sp>
      <p:sp>
        <p:nvSpPr>
          <p:cNvPr id="6" name="TextBox 5">
            <a:extLst>
              <a:ext uri="{FF2B5EF4-FFF2-40B4-BE49-F238E27FC236}">
                <a16:creationId xmlns:a16="http://schemas.microsoft.com/office/drawing/2014/main" id="{CBA9CBCF-49D6-5F6D-8A64-4F4E69F5D02F}"/>
              </a:ext>
            </a:extLst>
          </p:cNvPr>
          <p:cNvSpPr txBox="1"/>
          <p:nvPr/>
        </p:nvSpPr>
        <p:spPr>
          <a:xfrm>
            <a:off x="4359571" y="1148082"/>
            <a:ext cx="3472857" cy="400110"/>
          </a:xfrm>
          <a:prstGeom prst="rect">
            <a:avLst/>
          </a:prstGeom>
          <a:noFill/>
        </p:spPr>
        <p:txBody>
          <a:bodyPr wrap="square">
            <a:spAutoFit/>
          </a:bodyPr>
          <a:lstStyle/>
          <a:p>
            <a:r>
              <a:rPr lang="en-SE" sz="2000" b="1"/>
              <a:t>EMA &amp; GAMP 5 as the "how”</a:t>
            </a:r>
          </a:p>
        </p:txBody>
      </p:sp>
      <p:sp>
        <p:nvSpPr>
          <p:cNvPr id="7" name="TextBox 6">
            <a:extLst>
              <a:ext uri="{FF2B5EF4-FFF2-40B4-BE49-F238E27FC236}">
                <a16:creationId xmlns:a16="http://schemas.microsoft.com/office/drawing/2014/main" id="{9DA56D7D-8C9A-9952-A0BB-8D899BEEBB52}"/>
              </a:ext>
            </a:extLst>
          </p:cNvPr>
          <p:cNvSpPr txBox="1"/>
          <p:nvPr/>
        </p:nvSpPr>
        <p:spPr>
          <a:xfrm>
            <a:off x="348996" y="747972"/>
            <a:ext cx="6094476" cy="400110"/>
          </a:xfrm>
          <a:prstGeom prst="rect">
            <a:avLst/>
          </a:prstGeom>
          <a:noFill/>
        </p:spPr>
        <p:txBody>
          <a:bodyPr wrap="square">
            <a:spAutoFit/>
          </a:bodyPr>
          <a:lstStyle/>
          <a:p>
            <a:r>
              <a:rPr lang="en-SE" sz="2000" b="1"/>
              <a:t>Last but not least……………………..</a:t>
            </a:r>
          </a:p>
        </p:txBody>
      </p:sp>
    </p:spTree>
    <p:extLst>
      <p:ext uri="{BB962C8B-B14F-4D97-AF65-F5344CB8AC3E}">
        <p14:creationId xmlns:p14="http://schemas.microsoft.com/office/powerpoint/2010/main" val="36754193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Running the PQ scripts</a:t>
            </a: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09</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Ganesh Karthick Sekar   ·   10 min</a:t>
            </a:r>
          </a:p>
        </p:txBody>
      </p:sp>
      <p:sp>
        <p:nvSpPr>
          <p:cNvPr id="5" name="TextBox 4"/>
          <p:cNvSpPr txBox="1"/>
          <p:nvPr/>
        </p:nvSpPr>
        <p:spPr>
          <a:xfrm>
            <a:off x="384048" y="4937760"/>
            <a:ext cx="6949440" cy="1097280"/>
          </a:xfrm>
          <a:prstGeom prst="rect">
            <a:avLst/>
          </a:prstGeom>
          <a:noFill/>
        </p:spPr>
        <p:txBody>
          <a:bodyPr wrap="square" lIns="0" tIns="0" rIns="0" bIns="0">
            <a:spAutoFit/>
          </a:bodyPr>
          <a:lstStyle/>
          <a:p>
            <a:pPr algn="l">
              <a:lnSpc>
                <a:spcPct val="120000"/>
              </a:lnSpc>
              <a:spcBef>
                <a:spcPts val="0"/>
              </a:spcBef>
              <a:spcAft>
                <a:spcPts val="0"/>
              </a:spcAft>
            </a:pPr>
            <a:r>
              <a:rPr sz="1200" b="0">
                <a:solidFill>
                  <a:srgbClr val="5E5E5E"/>
                </a:solidFill>
                <a:latin typeface="Viedoc Monument Grotesk"/>
              </a:rPr>
              <a:t>What running the PQ scripts involves today, start to finish.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8328" y="804672"/>
            <a:ext cx="11155680" cy="530352"/>
          </a:xfrm>
          <a:prstGeom prst="rect">
            <a:avLst/>
          </a:prstGeom>
          <a:noFill/>
          <a:ln/>
        </p:spPr>
        <p:txBody>
          <a:bodyPr wrap="square" lIns="0" tIns="0" rIns="0" bIns="0" rtlCol="0" anchor="t"/>
          <a:lstStyle/>
          <a:p>
            <a:pPr marL="0" indent="0">
              <a:buNone/>
            </a:pPr>
            <a:r>
              <a:rPr lang="en-US" sz="2500">
                <a:solidFill>
                  <a:srgbClr val="000000"/>
                </a:solidFill>
                <a:latin typeface="Viedoc Monument Grotesk" pitchFamily="34" charset="0"/>
                <a:ea typeface="Viedoc Monument Grotesk" pitchFamily="34" charset="-122"/>
                <a:cs typeface="Viedoc Monument Grotesk" pitchFamily="34" charset="-120"/>
              </a:rPr>
              <a:t>Every release earns its way to green before anyone signs</a:t>
            </a:r>
            <a:endParaRPr lang="en-US" sz="2500"/>
          </a:p>
        </p:txBody>
      </p:sp>
      <p:sp>
        <p:nvSpPr>
          <p:cNvPr id="3" name="Text 1"/>
          <p:cNvSpPr/>
          <p:nvPr/>
        </p:nvSpPr>
        <p:spPr>
          <a:xfrm>
            <a:off x="338328" y="1408176"/>
            <a:ext cx="9509760" cy="420624"/>
          </a:xfrm>
          <a:prstGeom prst="rect">
            <a:avLst/>
          </a:prstGeom>
          <a:noFill/>
          <a:ln/>
        </p:spPr>
        <p:txBody>
          <a:bodyPr wrap="square" lIns="0" tIns="0" rIns="0" bIns="0" rtlCol="0" anchor="t"/>
          <a:lstStyle/>
          <a:p>
            <a:pPr marL="0" indent="0">
              <a:lnSpc>
                <a:spcPct val="122000"/>
              </a:lnSpc>
              <a:buNone/>
            </a:pPr>
            <a:r>
              <a:rPr lang="en-US" sz="1000">
                <a:solidFill>
                  <a:srgbClr val="6B6B6B"/>
                </a:solidFill>
                <a:latin typeface="Viedoc Monument Grotesk" pitchFamily="34" charset="0"/>
                <a:ea typeface="Viedoc Monument Grotesk" pitchFamily="34" charset="-122"/>
                <a:cs typeface="Viedoc Monument Grotesk" pitchFamily="34" charset="-120"/>
              </a:rPr>
              <a:t>A release lands on Stage. From there the work runs in three phases — prepare the environment, execute the automated suites across four browsers plus the manual eTMF and Reports validation, then qualify and hand over the evidence.</a:t>
            </a:r>
            <a:endParaRPr lang="en-US" sz="1000"/>
          </a:p>
        </p:txBody>
      </p:sp>
      <p:sp>
        <p:nvSpPr>
          <p:cNvPr id="4" name="Shape 2"/>
          <p:cNvSpPr/>
          <p:nvPr/>
        </p:nvSpPr>
        <p:spPr>
          <a:xfrm>
            <a:off x="338328" y="1920240"/>
            <a:ext cx="3666744" cy="3401568"/>
          </a:xfrm>
          <a:prstGeom prst="rect">
            <a:avLst/>
          </a:prstGeom>
          <a:solidFill>
            <a:srgbClr val="FFFFFF"/>
          </a:solidFill>
          <a:ln w="9525">
            <a:solidFill>
              <a:srgbClr val="E6E6E6"/>
            </a:solidFill>
            <a:prstDash val="solid"/>
          </a:ln>
        </p:spPr>
        <p:txBody>
          <a:bodyPr/>
          <a:lstStyle/>
          <a:p>
            <a:endParaRPr lang="en-US"/>
          </a:p>
        </p:txBody>
      </p:sp>
      <p:sp>
        <p:nvSpPr>
          <p:cNvPr id="5" name="Shape 3"/>
          <p:cNvSpPr/>
          <p:nvPr/>
        </p:nvSpPr>
        <p:spPr>
          <a:xfrm>
            <a:off x="338328" y="1920240"/>
            <a:ext cx="3666744" cy="29261"/>
          </a:xfrm>
          <a:prstGeom prst="rect">
            <a:avLst/>
          </a:prstGeom>
          <a:solidFill>
            <a:srgbClr val="8E7DD2"/>
          </a:solidFill>
          <a:ln/>
        </p:spPr>
        <p:txBody>
          <a:bodyPr/>
          <a:lstStyle/>
          <a:p>
            <a:endParaRPr lang="en-US"/>
          </a:p>
        </p:txBody>
      </p:sp>
      <p:sp>
        <p:nvSpPr>
          <p:cNvPr id="6" name="Text 4"/>
          <p:cNvSpPr/>
          <p:nvPr/>
        </p:nvSpPr>
        <p:spPr>
          <a:xfrm>
            <a:off x="576072" y="2075688"/>
            <a:ext cx="3209544" cy="201168"/>
          </a:xfrm>
          <a:prstGeom prst="rect">
            <a:avLst/>
          </a:prstGeom>
          <a:noFill/>
          <a:ln/>
        </p:spPr>
        <p:txBody>
          <a:bodyPr wrap="square" lIns="0" tIns="0" rIns="0" bIns="0" rtlCol="0" anchor="ctr"/>
          <a:lstStyle/>
          <a:p>
            <a:pPr marL="0" indent="0">
              <a:buNone/>
            </a:pPr>
            <a:r>
              <a:rPr lang="en-US" sz="800" b="1" kern="0" spc="160">
                <a:solidFill>
                  <a:srgbClr val="8E7DD2"/>
                </a:solidFill>
                <a:latin typeface="Viedoc Monument Grotesk" pitchFamily="34" charset="0"/>
                <a:ea typeface="Viedoc Monument Grotesk" pitchFamily="34" charset="-122"/>
                <a:cs typeface="Viedoc Monument Grotesk" pitchFamily="34" charset="-120"/>
              </a:rPr>
              <a:t>PHASE 1  ·  PREPARE</a:t>
            </a:r>
            <a:endParaRPr lang="en-US" sz="800"/>
          </a:p>
        </p:txBody>
      </p:sp>
      <p:sp>
        <p:nvSpPr>
          <p:cNvPr id="7" name="Text 5"/>
          <p:cNvSpPr/>
          <p:nvPr/>
        </p:nvSpPr>
        <p:spPr>
          <a:xfrm>
            <a:off x="576072" y="2304288"/>
            <a:ext cx="3191256" cy="420624"/>
          </a:xfrm>
          <a:prstGeom prst="rect">
            <a:avLst/>
          </a:prstGeom>
          <a:noFill/>
          <a:ln/>
        </p:spPr>
        <p:txBody>
          <a:bodyPr wrap="square" lIns="0" tIns="0" rIns="0" bIns="0" rtlCol="0" anchor="t"/>
          <a:lstStyle/>
          <a:p>
            <a:pPr marL="0" indent="0">
              <a:buNone/>
            </a:pPr>
            <a:r>
              <a:rPr lang="en-US" sz="1250" b="1">
                <a:solidFill>
                  <a:srgbClr val="000000"/>
                </a:solidFill>
                <a:latin typeface="Viedoc Monument Grotesk" pitchFamily="34" charset="0"/>
                <a:ea typeface="Viedoc Monument Grotesk" pitchFamily="34" charset="-122"/>
                <a:cs typeface="Viedoc Monument Grotesk" pitchFamily="34" charset="-120"/>
              </a:rPr>
              <a:t>Set up Stage before the pipeline can run</a:t>
            </a:r>
            <a:endParaRPr lang="en-US" sz="1250"/>
          </a:p>
        </p:txBody>
      </p:sp>
      <p:sp>
        <p:nvSpPr>
          <p:cNvPr id="8" name="Shape 6"/>
          <p:cNvSpPr/>
          <p:nvPr/>
        </p:nvSpPr>
        <p:spPr>
          <a:xfrm>
            <a:off x="576072" y="2807208"/>
            <a:ext cx="292608" cy="192024"/>
          </a:xfrm>
          <a:prstGeom prst="rect">
            <a:avLst/>
          </a:prstGeom>
          <a:solidFill>
            <a:srgbClr val="EFEDFB"/>
          </a:solidFill>
          <a:ln/>
        </p:spPr>
        <p:txBody>
          <a:bodyPr/>
          <a:lstStyle/>
          <a:p>
            <a:endParaRPr lang="en-US"/>
          </a:p>
        </p:txBody>
      </p:sp>
      <p:sp>
        <p:nvSpPr>
          <p:cNvPr id="9" name="Text 7"/>
          <p:cNvSpPr/>
          <p:nvPr/>
        </p:nvSpPr>
        <p:spPr>
          <a:xfrm>
            <a:off x="576072" y="2807208"/>
            <a:ext cx="292608" cy="192024"/>
          </a:xfrm>
          <a:prstGeom prst="rect">
            <a:avLst/>
          </a:prstGeom>
          <a:noFill/>
          <a:ln/>
        </p:spPr>
        <p:txBody>
          <a:bodyPr wrap="square" lIns="0" tIns="0" rIns="0" bIns="0" rtlCol="0" anchor="ctr"/>
          <a:lstStyle/>
          <a:p>
            <a:pPr marL="0" indent="0" algn="ctr">
              <a:buNone/>
            </a:pPr>
            <a:r>
              <a:rPr lang="en-US" sz="800" b="1">
                <a:solidFill>
                  <a:srgbClr val="8E7DD2"/>
                </a:solidFill>
                <a:latin typeface="Viedoc Monument Grotesk" pitchFamily="34" charset="0"/>
                <a:ea typeface="Viedoc Monument Grotesk" pitchFamily="34" charset="-122"/>
                <a:cs typeface="Viedoc Monument Grotesk" pitchFamily="34" charset="-120"/>
              </a:rPr>
              <a:t>01</a:t>
            </a:r>
            <a:endParaRPr lang="en-US" sz="800"/>
          </a:p>
        </p:txBody>
      </p:sp>
      <p:sp>
        <p:nvSpPr>
          <p:cNvPr id="10" name="Text 8"/>
          <p:cNvSpPr/>
          <p:nvPr/>
        </p:nvSpPr>
        <p:spPr>
          <a:xfrm>
            <a:off x="978408" y="2788920"/>
            <a:ext cx="27889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Roll the version date</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Updated in the run settings and config files — every study is named for the release version.</a:t>
            </a:r>
            <a:endParaRPr lang="en-US" sz="1050"/>
          </a:p>
        </p:txBody>
      </p:sp>
      <p:sp>
        <p:nvSpPr>
          <p:cNvPr id="11" name="Shape 9"/>
          <p:cNvSpPr/>
          <p:nvPr/>
        </p:nvSpPr>
        <p:spPr>
          <a:xfrm>
            <a:off x="576072" y="3410712"/>
            <a:ext cx="292608" cy="192024"/>
          </a:xfrm>
          <a:prstGeom prst="rect">
            <a:avLst/>
          </a:prstGeom>
          <a:solidFill>
            <a:srgbClr val="EFEDFB"/>
          </a:solidFill>
          <a:ln/>
        </p:spPr>
        <p:txBody>
          <a:bodyPr/>
          <a:lstStyle/>
          <a:p>
            <a:endParaRPr lang="en-US"/>
          </a:p>
        </p:txBody>
      </p:sp>
      <p:sp>
        <p:nvSpPr>
          <p:cNvPr id="12" name="Text 10"/>
          <p:cNvSpPr/>
          <p:nvPr/>
        </p:nvSpPr>
        <p:spPr>
          <a:xfrm>
            <a:off x="576072" y="3410712"/>
            <a:ext cx="292608" cy="192024"/>
          </a:xfrm>
          <a:prstGeom prst="rect">
            <a:avLst/>
          </a:prstGeom>
          <a:noFill/>
          <a:ln/>
        </p:spPr>
        <p:txBody>
          <a:bodyPr wrap="square" lIns="0" tIns="0" rIns="0" bIns="0" rtlCol="0" anchor="ctr"/>
          <a:lstStyle/>
          <a:p>
            <a:pPr marL="0" indent="0" algn="ctr">
              <a:buNone/>
            </a:pPr>
            <a:r>
              <a:rPr lang="en-US" sz="800" b="1">
                <a:solidFill>
                  <a:srgbClr val="8E7DD2"/>
                </a:solidFill>
                <a:latin typeface="Viedoc Monument Grotesk" pitchFamily="34" charset="0"/>
                <a:ea typeface="Viedoc Monument Grotesk" pitchFamily="34" charset="-122"/>
                <a:cs typeface="Viedoc Monument Grotesk" pitchFamily="34" charset="-120"/>
              </a:rPr>
              <a:t>02</a:t>
            </a:r>
            <a:endParaRPr lang="en-US" sz="800"/>
          </a:p>
        </p:txBody>
      </p:sp>
      <p:sp>
        <p:nvSpPr>
          <p:cNvPr id="13" name="Text 11"/>
          <p:cNvSpPr/>
          <p:nvPr/>
        </p:nvSpPr>
        <p:spPr>
          <a:xfrm>
            <a:off x="978408" y="3392424"/>
            <a:ext cx="27889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Create ~11 studies</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Run create suites to serve all 14 suites. The pipeline cannot start until they exist.</a:t>
            </a:r>
            <a:endParaRPr lang="en-US" sz="1050"/>
          </a:p>
        </p:txBody>
      </p:sp>
      <p:sp>
        <p:nvSpPr>
          <p:cNvPr id="14" name="Shape 12"/>
          <p:cNvSpPr/>
          <p:nvPr/>
        </p:nvSpPr>
        <p:spPr>
          <a:xfrm>
            <a:off x="576072" y="4014216"/>
            <a:ext cx="292608" cy="192024"/>
          </a:xfrm>
          <a:prstGeom prst="rect">
            <a:avLst/>
          </a:prstGeom>
          <a:solidFill>
            <a:srgbClr val="EFEDFB"/>
          </a:solidFill>
          <a:ln/>
        </p:spPr>
        <p:txBody>
          <a:bodyPr/>
          <a:lstStyle/>
          <a:p>
            <a:endParaRPr lang="en-US"/>
          </a:p>
        </p:txBody>
      </p:sp>
      <p:sp>
        <p:nvSpPr>
          <p:cNvPr id="15" name="Text 13"/>
          <p:cNvSpPr/>
          <p:nvPr/>
        </p:nvSpPr>
        <p:spPr>
          <a:xfrm>
            <a:off x="576072" y="4014216"/>
            <a:ext cx="292608" cy="192024"/>
          </a:xfrm>
          <a:prstGeom prst="rect">
            <a:avLst/>
          </a:prstGeom>
          <a:noFill/>
          <a:ln/>
        </p:spPr>
        <p:txBody>
          <a:bodyPr wrap="square" lIns="0" tIns="0" rIns="0" bIns="0" rtlCol="0" anchor="ctr"/>
          <a:lstStyle/>
          <a:p>
            <a:pPr marL="0" indent="0" algn="ctr">
              <a:buNone/>
            </a:pPr>
            <a:r>
              <a:rPr lang="en-US" sz="800" b="1">
                <a:solidFill>
                  <a:srgbClr val="8E7DD2"/>
                </a:solidFill>
                <a:latin typeface="Viedoc Monument Grotesk" pitchFamily="34" charset="0"/>
                <a:ea typeface="Viedoc Monument Grotesk" pitchFamily="34" charset="-122"/>
                <a:cs typeface="Viedoc Monument Grotesk" pitchFamily="34" charset="-120"/>
              </a:rPr>
              <a:t>03</a:t>
            </a:r>
            <a:endParaRPr lang="en-US" sz="800"/>
          </a:p>
        </p:txBody>
      </p:sp>
      <p:sp>
        <p:nvSpPr>
          <p:cNvPr id="16" name="Text 14"/>
          <p:cNvSpPr/>
          <p:nvPr/>
        </p:nvSpPr>
        <p:spPr>
          <a:xfrm>
            <a:off x="978408" y="3995928"/>
            <a:ext cx="27889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Manual pre-requisites</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Stage-specific setup the pipeline can’t do for itself.</a:t>
            </a:r>
            <a:endParaRPr lang="en-US" sz="1050"/>
          </a:p>
        </p:txBody>
      </p:sp>
      <p:sp>
        <p:nvSpPr>
          <p:cNvPr id="17" name="Shape 15"/>
          <p:cNvSpPr/>
          <p:nvPr/>
        </p:nvSpPr>
        <p:spPr>
          <a:xfrm>
            <a:off x="576072" y="4617720"/>
            <a:ext cx="292608" cy="192024"/>
          </a:xfrm>
          <a:prstGeom prst="rect">
            <a:avLst/>
          </a:prstGeom>
          <a:solidFill>
            <a:srgbClr val="EFEDFB"/>
          </a:solidFill>
          <a:ln/>
        </p:spPr>
        <p:txBody>
          <a:bodyPr/>
          <a:lstStyle/>
          <a:p>
            <a:endParaRPr lang="en-US"/>
          </a:p>
        </p:txBody>
      </p:sp>
      <p:sp>
        <p:nvSpPr>
          <p:cNvPr id="18" name="Text 16"/>
          <p:cNvSpPr/>
          <p:nvPr/>
        </p:nvSpPr>
        <p:spPr>
          <a:xfrm>
            <a:off x="576072" y="4617720"/>
            <a:ext cx="292608" cy="192024"/>
          </a:xfrm>
          <a:prstGeom prst="rect">
            <a:avLst/>
          </a:prstGeom>
          <a:noFill/>
          <a:ln/>
        </p:spPr>
        <p:txBody>
          <a:bodyPr wrap="square" lIns="0" tIns="0" rIns="0" bIns="0" rtlCol="0" anchor="ctr"/>
          <a:lstStyle/>
          <a:p>
            <a:pPr marL="0" indent="0" algn="ctr">
              <a:buNone/>
            </a:pPr>
            <a:r>
              <a:rPr lang="en-US" sz="800" b="1">
                <a:solidFill>
                  <a:srgbClr val="8E7DD2"/>
                </a:solidFill>
                <a:latin typeface="Viedoc Monument Grotesk" pitchFamily="34" charset="0"/>
                <a:ea typeface="Viedoc Monument Grotesk" pitchFamily="34" charset="-122"/>
                <a:cs typeface="Viedoc Monument Grotesk" pitchFamily="34" charset="-120"/>
              </a:rPr>
              <a:t>04</a:t>
            </a:r>
            <a:endParaRPr lang="en-US" sz="800"/>
          </a:p>
        </p:txBody>
      </p:sp>
      <p:sp>
        <p:nvSpPr>
          <p:cNvPr id="19" name="Text 17"/>
          <p:cNvSpPr/>
          <p:nvPr/>
        </p:nvSpPr>
        <p:spPr>
          <a:xfrm>
            <a:off x="978408" y="4599432"/>
            <a:ext cx="27889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Commit the changes</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Version updates pushed so the run picks them up.</a:t>
            </a:r>
            <a:endParaRPr lang="en-US" sz="1050"/>
          </a:p>
        </p:txBody>
      </p:sp>
      <p:sp>
        <p:nvSpPr>
          <p:cNvPr id="20" name="Shape 18"/>
          <p:cNvSpPr/>
          <p:nvPr/>
        </p:nvSpPr>
        <p:spPr>
          <a:xfrm>
            <a:off x="4261104" y="1920240"/>
            <a:ext cx="3666744" cy="3401568"/>
          </a:xfrm>
          <a:prstGeom prst="rect">
            <a:avLst/>
          </a:prstGeom>
          <a:solidFill>
            <a:srgbClr val="FFFFFF"/>
          </a:solidFill>
          <a:ln w="9525">
            <a:solidFill>
              <a:srgbClr val="E6E6E6"/>
            </a:solidFill>
            <a:prstDash val="solid"/>
          </a:ln>
        </p:spPr>
        <p:txBody>
          <a:bodyPr/>
          <a:lstStyle/>
          <a:p>
            <a:endParaRPr lang="en-US"/>
          </a:p>
        </p:txBody>
      </p:sp>
      <p:sp>
        <p:nvSpPr>
          <p:cNvPr id="21" name="Shape 19"/>
          <p:cNvSpPr/>
          <p:nvPr/>
        </p:nvSpPr>
        <p:spPr>
          <a:xfrm>
            <a:off x="4261104" y="1920240"/>
            <a:ext cx="3666744" cy="29261"/>
          </a:xfrm>
          <a:prstGeom prst="rect">
            <a:avLst/>
          </a:prstGeom>
          <a:solidFill>
            <a:srgbClr val="8E7DD2"/>
          </a:solidFill>
          <a:ln/>
        </p:spPr>
        <p:txBody>
          <a:bodyPr/>
          <a:lstStyle/>
          <a:p>
            <a:endParaRPr lang="en-US"/>
          </a:p>
        </p:txBody>
      </p:sp>
      <p:sp>
        <p:nvSpPr>
          <p:cNvPr id="22" name="Text 20"/>
          <p:cNvSpPr/>
          <p:nvPr/>
        </p:nvSpPr>
        <p:spPr>
          <a:xfrm>
            <a:off x="4498848" y="2075688"/>
            <a:ext cx="3209544" cy="201168"/>
          </a:xfrm>
          <a:prstGeom prst="rect">
            <a:avLst/>
          </a:prstGeom>
          <a:noFill/>
          <a:ln/>
        </p:spPr>
        <p:txBody>
          <a:bodyPr wrap="square" lIns="0" tIns="0" rIns="0" bIns="0" rtlCol="0" anchor="ctr"/>
          <a:lstStyle/>
          <a:p>
            <a:pPr marL="0" indent="0">
              <a:buNone/>
            </a:pPr>
            <a:r>
              <a:rPr lang="en-US" sz="800" b="1" kern="0" spc="160">
                <a:solidFill>
                  <a:srgbClr val="8E7DD2"/>
                </a:solidFill>
                <a:latin typeface="Viedoc Monument Grotesk" pitchFamily="34" charset="0"/>
                <a:ea typeface="Viedoc Monument Grotesk" pitchFamily="34" charset="-122"/>
                <a:cs typeface="Viedoc Monument Grotesk" pitchFamily="34" charset="-120"/>
              </a:rPr>
              <a:t>PHASE 2  ·  EXECUTE</a:t>
            </a:r>
            <a:endParaRPr lang="en-US" sz="800"/>
          </a:p>
        </p:txBody>
      </p:sp>
      <p:sp>
        <p:nvSpPr>
          <p:cNvPr id="23" name="Text 21"/>
          <p:cNvSpPr/>
          <p:nvPr/>
        </p:nvSpPr>
        <p:spPr>
          <a:xfrm>
            <a:off x="4498848" y="2304288"/>
            <a:ext cx="3191256" cy="420624"/>
          </a:xfrm>
          <a:prstGeom prst="rect">
            <a:avLst/>
          </a:prstGeom>
          <a:noFill/>
          <a:ln/>
        </p:spPr>
        <p:txBody>
          <a:bodyPr wrap="square" lIns="0" tIns="0" rIns="0" bIns="0" rtlCol="0" anchor="t"/>
          <a:lstStyle/>
          <a:p>
            <a:pPr marL="0" indent="0">
              <a:buNone/>
            </a:pPr>
            <a:r>
              <a:rPr lang="en-US" sz="1250" b="1">
                <a:solidFill>
                  <a:srgbClr val="000000"/>
                </a:solidFill>
                <a:latin typeface="Viedoc Monument Grotesk" pitchFamily="34" charset="0"/>
                <a:ea typeface="Viedoc Monument Grotesk" pitchFamily="34" charset="-122"/>
                <a:cs typeface="Viedoc Monument Grotesk" pitchFamily="34" charset="-120"/>
              </a:rPr>
              <a:t>Four browsers, plus the manual set</a:t>
            </a:r>
            <a:endParaRPr lang="en-US" sz="1250"/>
          </a:p>
        </p:txBody>
      </p:sp>
      <p:sp>
        <p:nvSpPr>
          <p:cNvPr id="24" name="Shape 22"/>
          <p:cNvSpPr/>
          <p:nvPr/>
        </p:nvSpPr>
        <p:spPr>
          <a:xfrm>
            <a:off x="4498848" y="2788920"/>
            <a:ext cx="3191256" cy="283464"/>
          </a:xfrm>
          <a:prstGeom prst="rect">
            <a:avLst/>
          </a:prstGeom>
          <a:solidFill>
            <a:srgbClr val="FAF7F0"/>
          </a:solidFill>
          <a:ln w="9525">
            <a:solidFill>
              <a:srgbClr val="F2F0EC"/>
            </a:solidFill>
            <a:prstDash val="solid"/>
          </a:ln>
        </p:spPr>
        <p:txBody>
          <a:bodyPr/>
          <a:lstStyle/>
          <a:p>
            <a:endParaRPr lang="en-US"/>
          </a:p>
        </p:txBody>
      </p:sp>
      <p:sp>
        <p:nvSpPr>
          <p:cNvPr id="25" name="Shape 23"/>
          <p:cNvSpPr/>
          <p:nvPr/>
        </p:nvSpPr>
        <p:spPr>
          <a:xfrm>
            <a:off x="4498848" y="2788920"/>
            <a:ext cx="29261" cy="283464"/>
          </a:xfrm>
          <a:prstGeom prst="rect">
            <a:avLst/>
          </a:prstGeom>
          <a:solidFill>
            <a:srgbClr val="8E7DD2"/>
          </a:solidFill>
          <a:ln/>
        </p:spPr>
        <p:txBody>
          <a:bodyPr/>
          <a:lstStyle/>
          <a:p>
            <a:endParaRPr lang="en-US"/>
          </a:p>
        </p:txBody>
      </p:sp>
      <p:sp>
        <p:nvSpPr>
          <p:cNvPr id="26" name="Text 24"/>
          <p:cNvSpPr/>
          <p:nvPr/>
        </p:nvSpPr>
        <p:spPr>
          <a:xfrm>
            <a:off x="4626864" y="2788920"/>
            <a:ext cx="1371600" cy="283464"/>
          </a:xfrm>
          <a:prstGeom prst="rect">
            <a:avLst/>
          </a:prstGeom>
          <a:noFill/>
          <a:ln/>
        </p:spPr>
        <p:txBody>
          <a:bodyPr wrap="square" lIns="0" tIns="0" rIns="0" bIns="0" rtlCol="0" anchor="ctr"/>
          <a:lstStyle/>
          <a:p>
            <a:pPr marL="0" indent="0">
              <a:buNone/>
            </a:pPr>
            <a:r>
              <a:rPr lang="en-US" sz="950" b="1">
                <a:solidFill>
                  <a:srgbClr val="000000"/>
                </a:solidFill>
                <a:latin typeface="Viedoc Monument Grotesk" pitchFamily="34" charset="0"/>
                <a:ea typeface="Viedoc Monument Grotesk" pitchFamily="34" charset="-122"/>
                <a:cs typeface="Viedoc Monument Grotesk" pitchFamily="34" charset="-120"/>
              </a:rPr>
              <a:t>05   Chrome</a:t>
            </a:r>
            <a:endParaRPr lang="en-US" sz="950"/>
          </a:p>
        </p:txBody>
      </p:sp>
      <p:sp>
        <p:nvSpPr>
          <p:cNvPr id="27" name="Text 25"/>
          <p:cNvSpPr/>
          <p:nvPr/>
        </p:nvSpPr>
        <p:spPr>
          <a:xfrm>
            <a:off x="6007608" y="2788920"/>
            <a:ext cx="1664208" cy="283464"/>
          </a:xfrm>
          <a:prstGeom prst="rect">
            <a:avLst/>
          </a:prstGeom>
          <a:noFill/>
          <a:ln/>
        </p:spPr>
        <p:txBody>
          <a:bodyPr wrap="square" lIns="0" tIns="0" rIns="0" bIns="0" rtlCol="0" anchor="ctr"/>
          <a:lstStyle/>
          <a:p>
            <a:pPr marL="0" indent="0" algn="r">
              <a:buNone/>
            </a:pPr>
            <a:r>
              <a:rPr lang="en-US" sz="850">
                <a:solidFill>
                  <a:srgbClr val="6B6B6B"/>
                </a:solidFill>
                <a:latin typeface="Viedoc Monument Grotesk" pitchFamily="34" charset="0"/>
                <a:ea typeface="Viedoc Monument Grotesk" pitchFamily="34" charset="-122"/>
                <a:cs typeface="Viedoc Monument Grotesk" pitchFamily="34" charset="-120"/>
              </a:rPr>
              <a:t>14 suites  ·  ≈6 h</a:t>
            </a:r>
            <a:endParaRPr lang="en-US" sz="850"/>
          </a:p>
        </p:txBody>
      </p:sp>
      <p:sp>
        <p:nvSpPr>
          <p:cNvPr id="28" name="Shape 26"/>
          <p:cNvSpPr/>
          <p:nvPr/>
        </p:nvSpPr>
        <p:spPr>
          <a:xfrm>
            <a:off x="4498848" y="3127248"/>
            <a:ext cx="3191256" cy="283464"/>
          </a:xfrm>
          <a:prstGeom prst="rect">
            <a:avLst/>
          </a:prstGeom>
          <a:solidFill>
            <a:srgbClr val="FAF7F0"/>
          </a:solidFill>
          <a:ln w="9525">
            <a:solidFill>
              <a:srgbClr val="F2F0EC"/>
            </a:solidFill>
            <a:prstDash val="solid"/>
          </a:ln>
        </p:spPr>
        <p:txBody>
          <a:bodyPr/>
          <a:lstStyle/>
          <a:p>
            <a:endParaRPr lang="en-US"/>
          </a:p>
        </p:txBody>
      </p:sp>
      <p:sp>
        <p:nvSpPr>
          <p:cNvPr id="29" name="Shape 27"/>
          <p:cNvSpPr/>
          <p:nvPr/>
        </p:nvSpPr>
        <p:spPr>
          <a:xfrm>
            <a:off x="4498848" y="3127248"/>
            <a:ext cx="29261" cy="283464"/>
          </a:xfrm>
          <a:prstGeom prst="rect">
            <a:avLst/>
          </a:prstGeom>
          <a:solidFill>
            <a:srgbClr val="8E7DD2"/>
          </a:solidFill>
          <a:ln/>
        </p:spPr>
        <p:txBody>
          <a:bodyPr/>
          <a:lstStyle/>
          <a:p>
            <a:endParaRPr lang="en-US"/>
          </a:p>
        </p:txBody>
      </p:sp>
      <p:sp>
        <p:nvSpPr>
          <p:cNvPr id="30" name="Text 28"/>
          <p:cNvSpPr/>
          <p:nvPr/>
        </p:nvSpPr>
        <p:spPr>
          <a:xfrm>
            <a:off x="4626864" y="3127248"/>
            <a:ext cx="1371600" cy="283464"/>
          </a:xfrm>
          <a:prstGeom prst="rect">
            <a:avLst/>
          </a:prstGeom>
          <a:noFill/>
          <a:ln/>
        </p:spPr>
        <p:txBody>
          <a:bodyPr wrap="square" lIns="0" tIns="0" rIns="0" bIns="0" rtlCol="0" anchor="ctr"/>
          <a:lstStyle/>
          <a:p>
            <a:pPr marL="0" indent="0">
              <a:buNone/>
            </a:pPr>
            <a:r>
              <a:rPr lang="en-US" sz="950" b="1">
                <a:solidFill>
                  <a:srgbClr val="000000"/>
                </a:solidFill>
                <a:latin typeface="Viedoc Monument Grotesk" pitchFamily="34" charset="0"/>
                <a:ea typeface="Viedoc Monument Grotesk" pitchFamily="34" charset="-122"/>
                <a:cs typeface="Viedoc Monument Grotesk" pitchFamily="34" charset="-120"/>
              </a:rPr>
              <a:t>06   Firefox</a:t>
            </a:r>
            <a:endParaRPr lang="en-US" sz="950"/>
          </a:p>
        </p:txBody>
      </p:sp>
      <p:sp>
        <p:nvSpPr>
          <p:cNvPr id="31" name="Text 29"/>
          <p:cNvSpPr/>
          <p:nvPr/>
        </p:nvSpPr>
        <p:spPr>
          <a:xfrm>
            <a:off x="6007608" y="3127248"/>
            <a:ext cx="1664208" cy="283464"/>
          </a:xfrm>
          <a:prstGeom prst="rect">
            <a:avLst/>
          </a:prstGeom>
          <a:noFill/>
          <a:ln/>
        </p:spPr>
        <p:txBody>
          <a:bodyPr wrap="square" lIns="0" tIns="0" rIns="0" bIns="0" rtlCol="0" anchor="ctr"/>
          <a:lstStyle/>
          <a:p>
            <a:pPr marL="0" indent="0" algn="r">
              <a:buNone/>
            </a:pPr>
            <a:r>
              <a:rPr lang="en-US" sz="850">
                <a:solidFill>
                  <a:srgbClr val="6B6B6B"/>
                </a:solidFill>
                <a:latin typeface="Viedoc Monument Grotesk" pitchFamily="34" charset="0"/>
                <a:ea typeface="Viedoc Monument Grotesk" pitchFamily="34" charset="-122"/>
                <a:cs typeface="Viedoc Monument Grotesk" pitchFamily="34" charset="-120"/>
              </a:rPr>
              <a:t>8 suites  ·  ≈2.5 h</a:t>
            </a:r>
            <a:endParaRPr lang="en-US" sz="850"/>
          </a:p>
        </p:txBody>
      </p:sp>
      <p:sp>
        <p:nvSpPr>
          <p:cNvPr id="32" name="Shape 30"/>
          <p:cNvSpPr/>
          <p:nvPr/>
        </p:nvSpPr>
        <p:spPr>
          <a:xfrm>
            <a:off x="4498848" y="3465576"/>
            <a:ext cx="3191256" cy="283464"/>
          </a:xfrm>
          <a:prstGeom prst="rect">
            <a:avLst/>
          </a:prstGeom>
          <a:solidFill>
            <a:srgbClr val="FAF7F0"/>
          </a:solidFill>
          <a:ln w="9525">
            <a:solidFill>
              <a:srgbClr val="F2F0EC"/>
            </a:solidFill>
            <a:prstDash val="solid"/>
          </a:ln>
        </p:spPr>
        <p:txBody>
          <a:bodyPr/>
          <a:lstStyle/>
          <a:p>
            <a:endParaRPr lang="en-US"/>
          </a:p>
        </p:txBody>
      </p:sp>
      <p:sp>
        <p:nvSpPr>
          <p:cNvPr id="33" name="Shape 31"/>
          <p:cNvSpPr/>
          <p:nvPr/>
        </p:nvSpPr>
        <p:spPr>
          <a:xfrm>
            <a:off x="4498848" y="3465576"/>
            <a:ext cx="29261" cy="283464"/>
          </a:xfrm>
          <a:prstGeom prst="rect">
            <a:avLst/>
          </a:prstGeom>
          <a:solidFill>
            <a:srgbClr val="8E7DD2"/>
          </a:solidFill>
          <a:ln/>
        </p:spPr>
        <p:txBody>
          <a:bodyPr/>
          <a:lstStyle/>
          <a:p>
            <a:endParaRPr lang="en-US"/>
          </a:p>
        </p:txBody>
      </p:sp>
      <p:sp>
        <p:nvSpPr>
          <p:cNvPr id="34" name="Text 32"/>
          <p:cNvSpPr/>
          <p:nvPr/>
        </p:nvSpPr>
        <p:spPr>
          <a:xfrm>
            <a:off x="4626864" y="3465576"/>
            <a:ext cx="1371600" cy="283464"/>
          </a:xfrm>
          <a:prstGeom prst="rect">
            <a:avLst/>
          </a:prstGeom>
          <a:noFill/>
          <a:ln/>
        </p:spPr>
        <p:txBody>
          <a:bodyPr wrap="square" lIns="0" tIns="0" rIns="0" bIns="0" rtlCol="0" anchor="ctr"/>
          <a:lstStyle/>
          <a:p>
            <a:pPr marL="0" indent="0">
              <a:buNone/>
            </a:pPr>
            <a:r>
              <a:rPr lang="en-US" sz="950" b="1">
                <a:solidFill>
                  <a:srgbClr val="000000"/>
                </a:solidFill>
                <a:latin typeface="Viedoc Monument Grotesk" pitchFamily="34" charset="0"/>
                <a:ea typeface="Viedoc Monument Grotesk" pitchFamily="34" charset="-122"/>
                <a:cs typeface="Viedoc Monument Grotesk" pitchFamily="34" charset="-120"/>
              </a:rPr>
              <a:t>07   Edge</a:t>
            </a:r>
            <a:endParaRPr lang="en-US" sz="950"/>
          </a:p>
        </p:txBody>
      </p:sp>
      <p:sp>
        <p:nvSpPr>
          <p:cNvPr id="35" name="Text 33"/>
          <p:cNvSpPr/>
          <p:nvPr/>
        </p:nvSpPr>
        <p:spPr>
          <a:xfrm>
            <a:off x="6007608" y="3465576"/>
            <a:ext cx="1664208" cy="283464"/>
          </a:xfrm>
          <a:prstGeom prst="rect">
            <a:avLst/>
          </a:prstGeom>
          <a:noFill/>
          <a:ln/>
        </p:spPr>
        <p:txBody>
          <a:bodyPr wrap="square" lIns="0" tIns="0" rIns="0" bIns="0" rtlCol="0" anchor="ctr"/>
          <a:lstStyle/>
          <a:p>
            <a:pPr marL="0" indent="0" algn="r">
              <a:buNone/>
            </a:pPr>
            <a:r>
              <a:rPr lang="en-US" sz="850">
                <a:solidFill>
                  <a:srgbClr val="6B6B6B"/>
                </a:solidFill>
                <a:latin typeface="Viedoc Monument Grotesk" pitchFamily="34" charset="0"/>
                <a:ea typeface="Viedoc Monument Grotesk" pitchFamily="34" charset="-122"/>
                <a:cs typeface="Viedoc Monument Grotesk" pitchFamily="34" charset="-120"/>
              </a:rPr>
              <a:t>8 suites  ·  ≈2.5 h</a:t>
            </a:r>
            <a:endParaRPr lang="en-US" sz="850"/>
          </a:p>
        </p:txBody>
      </p:sp>
      <p:sp>
        <p:nvSpPr>
          <p:cNvPr id="36" name="Shape 34"/>
          <p:cNvSpPr/>
          <p:nvPr/>
        </p:nvSpPr>
        <p:spPr>
          <a:xfrm>
            <a:off x="4498848" y="3803904"/>
            <a:ext cx="3191256" cy="283464"/>
          </a:xfrm>
          <a:prstGeom prst="rect">
            <a:avLst/>
          </a:prstGeom>
          <a:solidFill>
            <a:srgbClr val="FAF7F0"/>
          </a:solidFill>
          <a:ln w="9525">
            <a:solidFill>
              <a:srgbClr val="F2F0EC"/>
            </a:solidFill>
            <a:prstDash val="solid"/>
          </a:ln>
        </p:spPr>
        <p:txBody>
          <a:bodyPr/>
          <a:lstStyle/>
          <a:p>
            <a:endParaRPr lang="en-US"/>
          </a:p>
        </p:txBody>
      </p:sp>
      <p:sp>
        <p:nvSpPr>
          <p:cNvPr id="37" name="Shape 35"/>
          <p:cNvSpPr/>
          <p:nvPr/>
        </p:nvSpPr>
        <p:spPr>
          <a:xfrm>
            <a:off x="4498848" y="3803904"/>
            <a:ext cx="29261" cy="283464"/>
          </a:xfrm>
          <a:prstGeom prst="rect">
            <a:avLst/>
          </a:prstGeom>
          <a:solidFill>
            <a:srgbClr val="8E7DD2"/>
          </a:solidFill>
          <a:ln/>
        </p:spPr>
        <p:txBody>
          <a:bodyPr/>
          <a:lstStyle/>
          <a:p>
            <a:endParaRPr lang="en-US"/>
          </a:p>
        </p:txBody>
      </p:sp>
      <p:sp>
        <p:nvSpPr>
          <p:cNvPr id="38" name="Text 36"/>
          <p:cNvSpPr/>
          <p:nvPr/>
        </p:nvSpPr>
        <p:spPr>
          <a:xfrm>
            <a:off x="4626864" y="3803904"/>
            <a:ext cx="1371600" cy="283464"/>
          </a:xfrm>
          <a:prstGeom prst="rect">
            <a:avLst/>
          </a:prstGeom>
          <a:noFill/>
          <a:ln/>
        </p:spPr>
        <p:txBody>
          <a:bodyPr wrap="square" lIns="0" tIns="0" rIns="0" bIns="0" rtlCol="0" anchor="ctr"/>
          <a:lstStyle/>
          <a:p>
            <a:pPr marL="0" indent="0">
              <a:buNone/>
            </a:pPr>
            <a:r>
              <a:rPr lang="en-US" sz="950" b="1">
                <a:solidFill>
                  <a:srgbClr val="000000"/>
                </a:solidFill>
                <a:latin typeface="Viedoc Monument Grotesk" pitchFamily="34" charset="0"/>
                <a:ea typeface="Viedoc Monument Grotesk" pitchFamily="34" charset="-122"/>
                <a:cs typeface="Viedoc Monument Grotesk" pitchFamily="34" charset="-120"/>
              </a:rPr>
              <a:t>08   Safari</a:t>
            </a:r>
            <a:endParaRPr lang="en-US" sz="950"/>
          </a:p>
        </p:txBody>
      </p:sp>
      <p:sp>
        <p:nvSpPr>
          <p:cNvPr id="39" name="Text 37"/>
          <p:cNvSpPr/>
          <p:nvPr/>
        </p:nvSpPr>
        <p:spPr>
          <a:xfrm>
            <a:off x="6007608" y="3803904"/>
            <a:ext cx="1664208" cy="283464"/>
          </a:xfrm>
          <a:prstGeom prst="rect">
            <a:avLst/>
          </a:prstGeom>
          <a:noFill/>
          <a:ln/>
        </p:spPr>
        <p:txBody>
          <a:bodyPr wrap="square" lIns="0" tIns="0" rIns="0" bIns="0" rtlCol="0" anchor="ctr"/>
          <a:lstStyle/>
          <a:p>
            <a:pPr marL="0" indent="0" algn="r">
              <a:buNone/>
            </a:pPr>
            <a:r>
              <a:rPr lang="en-US" sz="850">
                <a:solidFill>
                  <a:srgbClr val="6B6B6B"/>
                </a:solidFill>
                <a:latin typeface="Viedoc Monument Grotesk" pitchFamily="34" charset="0"/>
                <a:ea typeface="Viedoc Monument Grotesk" pitchFamily="34" charset="-122"/>
                <a:cs typeface="Viedoc Monument Grotesk" pitchFamily="34" charset="-120"/>
              </a:rPr>
              <a:t>8 suites  ·  ≈2.5 h</a:t>
            </a:r>
            <a:endParaRPr lang="en-US" sz="850"/>
          </a:p>
        </p:txBody>
      </p:sp>
      <p:sp>
        <p:nvSpPr>
          <p:cNvPr id="40" name="Shape 38"/>
          <p:cNvSpPr/>
          <p:nvPr/>
        </p:nvSpPr>
        <p:spPr>
          <a:xfrm>
            <a:off x="4498848" y="4187952"/>
            <a:ext cx="3191256" cy="365760"/>
          </a:xfrm>
          <a:prstGeom prst="rect">
            <a:avLst/>
          </a:prstGeom>
          <a:solidFill>
            <a:srgbClr val="EFEDFB"/>
          </a:solidFill>
          <a:ln/>
        </p:spPr>
        <p:txBody>
          <a:bodyPr/>
          <a:lstStyle/>
          <a:p>
            <a:endParaRPr lang="en-US"/>
          </a:p>
        </p:txBody>
      </p:sp>
      <p:sp>
        <p:nvSpPr>
          <p:cNvPr id="41" name="Text 39"/>
          <p:cNvSpPr/>
          <p:nvPr/>
        </p:nvSpPr>
        <p:spPr>
          <a:xfrm>
            <a:off x="4626864" y="4187952"/>
            <a:ext cx="1737360" cy="365760"/>
          </a:xfrm>
          <a:prstGeom prst="rect">
            <a:avLst/>
          </a:prstGeom>
          <a:noFill/>
          <a:ln/>
        </p:spPr>
        <p:txBody>
          <a:bodyPr wrap="square" lIns="0" tIns="0" rIns="0" bIns="0" rtlCol="0" anchor="ctr"/>
          <a:lstStyle/>
          <a:p>
            <a:pPr marL="0" indent="0">
              <a:lnSpc>
                <a:spcPct val="102000"/>
              </a:lnSpc>
              <a:buNone/>
            </a:pPr>
            <a:r>
              <a:rPr lang="en-US" sz="750">
                <a:solidFill>
                  <a:srgbClr val="6B6B6B"/>
                </a:solidFill>
                <a:latin typeface="Viedoc Monument Grotesk" pitchFamily="34" charset="0"/>
                <a:ea typeface="Viedoc Monument Grotesk" pitchFamily="34" charset="-122"/>
                <a:cs typeface="Viedoc Monument Grotesk" pitchFamily="34" charset="-120"/>
              </a:rPr>
              <a:t>Run sequentially, one</a:t>
            </a:r>
            <a:endParaRPr lang="en-US" sz="750"/>
          </a:p>
          <a:p>
            <a:pPr marL="0" indent="0">
              <a:lnSpc>
                <a:spcPct val="102000"/>
              </a:lnSpc>
              <a:buNone/>
            </a:pPr>
            <a:r>
              <a:rPr lang="en-US" sz="750">
                <a:solidFill>
                  <a:srgbClr val="6B6B6B"/>
                </a:solidFill>
                <a:latin typeface="Viedoc Monument Grotesk" pitchFamily="34" charset="0"/>
                <a:ea typeface="Viedoc Monument Grotesk" pitchFamily="34" charset="-122"/>
                <a:cs typeface="Viedoc Monument Grotesk" pitchFamily="34" charset="-120"/>
              </a:rPr>
              <a:t>browser after the next</a:t>
            </a:r>
            <a:endParaRPr lang="en-US" sz="750"/>
          </a:p>
        </p:txBody>
      </p:sp>
      <p:sp>
        <p:nvSpPr>
          <p:cNvPr id="42" name="Text 40"/>
          <p:cNvSpPr/>
          <p:nvPr/>
        </p:nvSpPr>
        <p:spPr>
          <a:xfrm>
            <a:off x="6327648" y="4187952"/>
            <a:ext cx="1362456" cy="365760"/>
          </a:xfrm>
          <a:prstGeom prst="rect">
            <a:avLst/>
          </a:prstGeom>
          <a:noFill/>
          <a:ln/>
        </p:spPr>
        <p:txBody>
          <a:bodyPr wrap="square" lIns="0" tIns="0" rIns="0" bIns="0" rtlCol="0" anchor="ctr"/>
          <a:lstStyle/>
          <a:p>
            <a:pPr marL="0" indent="0" algn="r">
              <a:buNone/>
            </a:pPr>
            <a:r>
              <a:rPr lang="en-US" sz="1200" b="1">
                <a:solidFill>
                  <a:srgbClr val="8E7DD2"/>
                </a:solidFill>
                <a:latin typeface="Viedoc Monument Grotesk" pitchFamily="34" charset="0"/>
                <a:ea typeface="Viedoc Monument Grotesk" pitchFamily="34" charset="-122"/>
                <a:cs typeface="Viedoc Monument Grotesk" pitchFamily="34" charset="-120"/>
              </a:rPr>
              <a:t>≈ 13.5–15 h</a:t>
            </a:r>
            <a:endParaRPr lang="en-US" sz="1200"/>
          </a:p>
        </p:txBody>
      </p:sp>
      <p:sp>
        <p:nvSpPr>
          <p:cNvPr id="43" name="Shape 41"/>
          <p:cNvSpPr/>
          <p:nvPr/>
        </p:nvSpPr>
        <p:spPr>
          <a:xfrm>
            <a:off x="4498848" y="4626864"/>
            <a:ext cx="749808" cy="182880"/>
          </a:xfrm>
          <a:prstGeom prst="rect">
            <a:avLst/>
          </a:prstGeom>
          <a:solidFill>
            <a:srgbClr val="EFEDFB"/>
          </a:solidFill>
          <a:ln/>
        </p:spPr>
        <p:txBody>
          <a:bodyPr/>
          <a:lstStyle/>
          <a:p>
            <a:endParaRPr lang="en-US"/>
          </a:p>
        </p:txBody>
      </p:sp>
      <p:sp>
        <p:nvSpPr>
          <p:cNvPr id="44" name="Text 42"/>
          <p:cNvSpPr/>
          <p:nvPr/>
        </p:nvSpPr>
        <p:spPr>
          <a:xfrm>
            <a:off x="4498848" y="4626864"/>
            <a:ext cx="749808" cy="182880"/>
          </a:xfrm>
          <a:prstGeom prst="rect">
            <a:avLst/>
          </a:prstGeom>
          <a:noFill/>
          <a:ln/>
        </p:spPr>
        <p:txBody>
          <a:bodyPr wrap="square" lIns="0" tIns="0" rIns="0" bIns="0" rtlCol="0" anchor="ctr"/>
          <a:lstStyle/>
          <a:p>
            <a:pPr marL="0" indent="0" algn="ctr">
              <a:buNone/>
            </a:pPr>
            <a:r>
              <a:rPr lang="en-US" sz="650" b="1" kern="0" spc="60">
                <a:solidFill>
                  <a:srgbClr val="8E7DD2"/>
                </a:solidFill>
                <a:latin typeface="Viedoc Monument Grotesk" pitchFamily="34" charset="0"/>
                <a:ea typeface="Viedoc Monument Grotesk" pitchFamily="34" charset="-122"/>
                <a:cs typeface="Viedoc Monument Grotesk" pitchFamily="34" charset="-120"/>
              </a:rPr>
              <a:t>IN PARALLEL</a:t>
            </a:r>
            <a:endParaRPr lang="en-US" sz="650"/>
          </a:p>
        </p:txBody>
      </p:sp>
      <p:sp>
        <p:nvSpPr>
          <p:cNvPr id="45" name="Text 43"/>
          <p:cNvSpPr/>
          <p:nvPr/>
        </p:nvSpPr>
        <p:spPr>
          <a:xfrm>
            <a:off x="4498848" y="4846320"/>
            <a:ext cx="3191256" cy="475488"/>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Manual validation — SDV Manager,eTMF &amp; Reports</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Runs alongside the pipeline, by hand outside it.</a:t>
            </a:r>
            <a:endParaRPr lang="en-US" sz="1050"/>
          </a:p>
        </p:txBody>
      </p:sp>
      <p:sp>
        <p:nvSpPr>
          <p:cNvPr id="46" name="Shape 44"/>
          <p:cNvSpPr/>
          <p:nvPr/>
        </p:nvSpPr>
        <p:spPr>
          <a:xfrm>
            <a:off x="8183880" y="1920240"/>
            <a:ext cx="3666744" cy="3401568"/>
          </a:xfrm>
          <a:prstGeom prst="rect">
            <a:avLst/>
          </a:prstGeom>
          <a:solidFill>
            <a:srgbClr val="FFFFFF"/>
          </a:solidFill>
          <a:ln w="9525">
            <a:solidFill>
              <a:srgbClr val="E6E6E6"/>
            </a:solidFill>
            <a:prstDash val="solid"/>
          </a:ln>
        </p:spPr>
        <p:txBody>
          <a:bodyPr/>
          <a:lstStyle/>
          <a:p>
            <a:endParaRPr lang="en-US"/>
          </a:p>
        </p:txBody>
      </p:sp>
      <p:sp>
        <p:nvSpPr>
          <p:cNvPr id="47" name="Shape 45"/>
          <p:cNvSpPr/>
          <p:nvPr/>
        </p:nvSpPr>
        <p:spPr>
          <a:xfrm>
            <a:off x="8183880" y="1920240"/>
            <a:ext cx="3666744" cy="29261"/>
          </a:xfrm>
          <a:prstGeom prst="rect">
            <a:avLst/>
          </a:prstGeom>
          <a:solidFill>
            <a:srgbClr val="8E7DD2"/>
          </a:solidFill>
          <a:ln/>
        </p:spPr>
        <p:txBody>
          <a:bodyPr/>
          <a:lstStyle/>
          <a:p>
            <a:endParaRPr lang="en-US"/>
          </a:p>
        </p:txBody>
      </p:sp>
      <p:sp>
        <p:nvSpPr>
          <p:cNvPr id="48" name="Text 46"/>
          <p:cNvSpPr/>
          <p:nvPr/>
        </p:nvSpPr>
        <p:spPr>
          <a:xfrm>
            <a:off x="8421624" y="2075688"/>
            <a:ext cx="3209544" cy="201168"/>
          </a:xfrm>
          <a:prstGeom prst="rect">
            <a:avLst/>
          </a:prstGeom>
          <a:noFill/>
          <a:ln/>
        </p:spPr>
        <p:txBody>
          <a:bodyPr wrap="square" lIns="0" tIns="0" rIns="0" bIns="0" rtlCol="0" anchor="ctr"/>
          <a:lstStyle/>
          <a:p>
            <a:pPr marL="0" indent="0">
              <a:buNone/>
            </a:pPr>
            <a:r>
              <a:rPr lang="en-US" sz="800" b="1" kern="0" spc="160">
                <a:solidFill>
                  <a:srgbClr val="8E7DD2"/>
                </a:solidFill>
                <a:latin typeface="Viedoc Monument Grotesk" pitchFamily="34" charset="0"/>
                <a:ea typeface="Viedoc Monument Grotesk" pitchFamily="34" charset="-122"/>
                <a:cs typeface="Viedoc Monument Grotesk" pitchFamily="34" charset="-120"/>
              </a:rPr>
              <a:t>PHASE 3  ·  QUALIFY</a:t>
            </a:r>
            <a:endParaRPr lang="en-US" sz="800"/>
          </a:p>
        </p:txBody>
      </p:sp>
      <p:sp>
        <p:nvSpPr>
          <p:cNvPr id="49" name="Text 47"/>
          <p:cNvSpPr/>
          <p:nvPr/>
        </p:nvSpPr>
        <p:spPr>
          <a:xfrm>
            <a:off x="8421624" y="2304288"/>
            <a:ext cx="3191256" cy="420624"/>
          </a:xfrm>
          <a:prstGeom prst="rect">
            <a:avLst/>
          </a:prstGeom>
          <a:noFill/>
          <a:ln/>
        </p:spPr>
        <p:txBody>
          <a:bodyPr wrap="square" lIns="0" tIns="0" rIns="0" bIns="0" rtlCol="0" anchor="t"/>
          <a:lstStyle/>
          <a:p>
            <a:pPr marL="0" indent="0">
              <a:buNone/>
            </a:pPr>
            <a:r>
              <a:rPr lang="en-US" sz="1250" b="1">
                <a:solidFill>
                  <a:srgbClr val="000000"/>
                </a:solidFill>
                <a:latin typeface="Viedoc Monument Grotesk" pitchFamily="34" charset="0"/>
                <a:ea typeface="Viedoc Monument Grotesk" pitchFamily="34" charset="-122"/>
                <a:cs typeface="Viedoc Monument Grotesk" pitchFamily="34" charset="-120"/>
              </a:rPr>
              <a:t>Turn a green run into signed evidence</a:t>
            </a:r>
            <a:endParaRPr lang="en-US" sz="1250"/>
          </a:p>
        </p:txBody>
      </p:sp>
      <p:sp>
        <p:nvSpPr>
          <p:cNvPr id="50" name="Shape 48"/>
          <p:cNvSpPr/>
          <p:nvPr/>
        </p:nvSpPr>
        <p:spPr>
          <a:xfrm>
            <a:off x="8421624" y="2807208"/>
            <a:ext cx="292608" cy="192024"/>
          </a:xfrm>
          <a:prstGeom prst="rect">
            <a:avLst/>
          </a:prstGeom>
          <a:solidFill>
            <a:srgbClr val="EFEDFB"/>
          </a:solidFill>
          <a:ln/>
        </p:spPr>
        <p:txBody>
          <a:bodyPr/>
          <a:lstStyle/>
          <a:p>
            <a:endParaRPr lang="en-US"/>
          </a:p>
        </p:txBody>
      </p:sp>
      <p:sp>
        <p:nvSpPr>
          <p:cNvPr id="51" name="Text 49"/>
          <p:cNvSpPr/>
          <p:nvPr/>
        </p:nvSpPr>
        <p:spPr>
          <a:xfrm>
            <a:off x="8421624" y="2807208"/>
            <a:ext cx="292608" cy="192024"/>
          </a:xfrm>
          <a:prstGeom prst="rect">
            <a:avLst/>
          </a:prstGeom>
          <a:noFill/>
          <a:ln/>
        </p:spPr>
        <p:txBody>
          <a:bodyPr wrap="square" lIns="0" tIns="0" rIns="0" bIns="0" rtlCol="0" anchor="ctr"/>
          <a:lstStyle/>
          <a:p>
            <a:pPr marL="0" indent="0" algn="ctr">
              <a:buNone/>
            </a:pPr>
            <a:r>
              <a:rPr lang="en-US" sz="800" b="1">
                <a:solidFill>
                  <a:srgbClr val="8E7DD2"/>
                </a:solidFill>
                <a:latin typeface="Viedoc Monument Grotesk" pitchFamily="34" charset="0"/>
                <a:ea typeface="Viedoc Monument Grotesk" pitchFamily="34" charset="-122"/>
                <a:cs typeface="Viedoc Monument Grotesk" pitchFamily="34" charset="-120"/>
              </a:rPr>
              <a:t>09</a:t>
            </a:r>
            <a:endParaRPr lang="en-US" sz="800"/>
          </a:p>
        </p:txBody>
      </p:sp>
      <p:sp>
        <p:nvSpPr>
          <p:cNvPr id="52" name="Text 50"/>
          <p:cNvSpPr/>
          <p:nvPr/>
        </p:nvSpPr>
        <p:spPr>
          <a:xfrm>
            <a:off x="8823960" y="2788920"/>
            <a:ext cx="27889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Results document</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Screenshots of every passed run mapped to its test name, plus the eTMF and Reports manual results.</a:t>
            </a:r>
            <a:endParaRPr lang="en-US" sz="1050"/>
          </a:p>
        </p:txBody>
      </p:sp>
      <p:sp>
        <p:nvSpPr>
          <p:cNvPr id="53" name="Shape 51"/>
          <p:cNvSpPr/>
          <p:nvPr/>
        </p:nvSpPr>
        <p:spPr>
          <a:xfrm>
            <a:off x="8421624" y="3538728"/>
            <a:ext cx="292608" cy="192024"/>
          </a:xfrm>
          <a:prstGeom prst="rect">
            <a:avLst/>
          </a:prstGeom>
          <a:solidFill>
            <a:srgbClr val="EFEDFB"/>
          </a:solidFill>
          <a:ln/>
        </p:spPr>
        <p:txBody>
          <a:bodyPr/>
          <a:lstStyle/>
          <a:p>
            <a:endParaRPr lang="en-US"/>
          </a:p>
        </p:txBody>
      </p:sp>
      <p:sp>
        <p:nvSpPr>
          <p:cNvPr id="54" name="Text 52"/>
          <p:cNvSpPr/>
          <p:nvPr/>
        </p:nvSpPr>
        <p:spPr>
          <a:xfrm>
            <a:off x="8421624" y="3538728"/>
            <a:ext cx="292608" cy="192024"/>
          </a:xfrm>
          <a:prstGeom prst="rect">
            <a:avLst/>
          </a:prstGeom>
          <a:noFill/>
          <a:ln/>
        </p:spPr>
        <p:txBody>
          <a:bodyPr wrap="square" lIns="0" tIns="0" rIns="0" bIns="0" rtlCol="0" anchor="ctr"/>
          <a:lstStyle/>
          <a:p>
            <a:pPr marL="0" indent="0" algn="ctr">
              <a:buNone/>
            </a:pPr>
            <a:r>
              <a:rPr lang="en-US" sz="800" b="1">
                <a:solidFill>
                  <a:srgbClr val="8E7DD2"/>
                </a:solidFill>
                <a:latin typeface="Viedoc Monument Grotesk" pitchFamily="34" charset="0"/>
                <a:ea typeface="Viedoc Monument Grotesk" pitchFamily="34" charset="-122"/>
                <a:cs typeface="Viedoc Monument Grotesk" pitchFamily="34" charset="-120"/>
              </a:rPr>
              <a:t>10</a:t>
            </a:r>
            <a:endParaRPr lang="en-US" sz="800"/>
          </a:p>
        </p:txBody>
      </p:sp>
      <p:sp>
        <p:nvSpPr>
          <p:cNvPr id="55" name="Text 53"/>
          <p:cNvSpPr/>
          <p:nvPr/>
        </p:nvSpPr>
        <p:spPr>
          <a:xfrm>
            <a:off x="8823960" y="3520440"/>
            <a:ext cx="27889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Yupei validates</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She checks the evidence package is complete, then sends it for signing.</a:t>
            </a:r>
            <a:endParaRPr lang="en-US" sz="1050"/>
          </a:p>
        </p:txBody>
      </p:sp>
      <p:sp>
        <p:nvSpPr>
          <p:cNvPr id="56" name="Shape 54"/>
          <p:cNvSpPr/>
          <p:nvPr/>
        </p:nvSpPr>
        <p:spPr>
          <a:xfrm>
            <a:off x="8421624" y="4270248"/>
            <a:ext cx="292608" cy="192024"/>
          </a:xfrm>
          <a:prstGeom prst="rect">
            <a:avLst/>
          </a:prstGeom>
          <a:solidFill>
            <a:srgbClr val="EFEDFB"/>
          </a:solidFill>
          <a:ln/>
        </p:spPr>
        <p:txBody>
          <a:bodyPr/>
          <a:lstStyle/>
          <a:p>
            <a:endParaRPr lang="en-US"/>
          </a:p>
        </p:txBody>
      </p:sp>
      <p:sp>
        <p:nvSpPr>
          <p:cNvPr id="57" name="Text 55"/>
          <p:cNvSpPr/>
          <p:nvPr/>
        </p:nvSpPr>
        <p:spPr>
          <a:xfrm>
            <a:off x="8421624" y="4270248"/>
            <a:ext cx="292608" cy="192024"/>
          </a:xfrm>
          <a:prstGeom prst="rect">
            <a:avLst/>
          </a:prstGeom>
          <a:noFill/>
          <a:ln/>
        </p:spPr>
        <p:txBody>
          <a:bodyPr wrap="square" lIns="0" tIns="0" rIns="0" bIns="0" rtlCol="0" anchor="ctr"/>
          <a:lstStyle/>
          <a:p>
            <a:pPr marL="0" indent="0" algn="ctr">
              <a:buNone/>
            </a:pPr>
            <a:r>
              <a:rPr lang="en-US" sz="800" b="1">
                <a:solidFill>
                  <a:srgbClr val="8E7DD2"/>
                </a:solidFill>
                <a:latin typeface="Viedoc Monument Grotesk" pitchFamily="34" charset="0"/>
                <a:ea typeface="Viedoc Monument Grotesk" pitchFamily="34" charset="-122"/>
                <a:cs typeface="Viedoc Monument Grotesk" pitchFamily="34" charset="-120"/>
              </a:rPr>
              <a:t>11</a:t>
            </a:r>
            <a:endParaRPr lang="en-US" sz="800"/>
          </a:p>
        </p:txBody>
      </p:sp>
      <p:sp>
        <p:nvSpPr>
          <p:cNvPr id="58" name="Text 56"/>
          <p:cNvSpPr/>
          <p:nvPr/>
        </p:nvSpPr>
        <p:spPr>
          <a:xfrm>
            <a:off x="8823960" y="4251960"/>
            <a:ext cx="27889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Sent for signing</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The signature closes the qualification for the release.</a:t>
            </a:r>
            <a:endParaRPr lang="en-US" sz="1050"/>
          </a:p>
        </p:txBody>
      </p:sp>
      <p:sp>
        <p:nvSpPr>
          <p:cNvPr id="59" name="Text 57"/>
          <p:cNvSpPr/>
          <p:nvPr/>
        </p:nvSpPr>
        <p:spPr>
          <a:xfrm>
            <a:off x="4032504" y="3438144"/>
            <a:ext cx="201168" cy="365760"/>
          </a:xfrm>
          <a:prstGeom prst="rect">
            <a:avLst/>
          </a:prstGeom>
          <a:noFill/>
          <a:ln/>
        </p:spPr>
        <p:txBody>
          <a:bodyPr wrap="square" lIns="0" tIns="0" rIns="0" bIns="0" rtlCol="0" anchor="ctr"/>
          <a:lstStyle/>
          <a:p>
            <a:pPr marL="0" indent="0" algn="ctr">
              <a:buNone/>
            </a:pPr>
            <a:r>
              <a:rPr lang="en-US" sz="1800">
                <a:solidFill>
                  <a:srgbClr val="E6E6E6"/>
                </a:solidFill>
                <a:latin typeface="Viedoc Monument Grotesk" pitchFamily="34" charset="0"/>
                <a:ea typeface="Viedoc Monument Grotesk" pitchFamily="34" charset="-122"/>
                <a:cs typeface="Viedoc Monument Grotesk" pitchFamily="34" charset="-120"/>
              </a:rPr>
              <a:t>›</a:t>
            </a:r>
            <a:endParaRPr lang="en-US" sz="1800"/>
          </a:p>
        </p:txBody>
      </p:sp>
      <p:sp>
        <p:nvSpPr>
          <p:cNvPr id="60" name="Text 58"/>
          <p:cNvSpPr/>
          <p:nvPr/>
        </p:nvSpPr>
        <p:spPr>
          <a:xfrm>
            <a:off x="7955280" y="3438144"/>
            <a:ext cx="201168" cy="365760"/>
          </a:xfrm>
          <a:prstGeom prst="rect">
            <a:avLst/>
          </a:prstGeom>
          <a:noFill/>
          <a:ln/>
        </p:spPr>
        <p:txBody>
          <a:bodyPr wrap="square" lIns="0" tIns="0" rIns="0" bIns="0" rtlCol="0" anchor="ctr"/>
          <a:lstStyle/>
          <a:p>
            <a:pPr marL="0" indent="0" algn="ctr">
              <a:buNone/>
            </a:pPr>
            <a:r>
              <a:rPr lang="en-US" sz="1800">
                <a:solidFill>
                  <a:srgbClr val="E6E6E6"/>
                </a:solidFill>
                <a:latin typeface="Viedoc Monument Grotesk" pitchFamily="34" charset="0"/>
                <a:ea typeface="Viedoc Monument Grotesk" pitchFamily="34" charset="-122"/>
                <a:cs typeface="Viedoc Monument Grotesk" pitchFamily="34" charset="-120"/>
              </a:rPr>
              <a:t>›</a:t>
            </a:r>
            <a:endParaRPr lang="en-US" sz="1800"/>
          </a:p>
        </p:txBody>
      </p:sp>
      <p:sp>
        <p:nvSpPr>
          <p:cNvPr id="61" name="Shape 59"/>
          <p:cNvSpPr/>
          <p:nvPr/>
        </p:nvSpPr>
        <p:spPr>
          <a:xfrm>
            <a:off x="338328" y="5468112"/>
            <a:ext cx="11515039" cy="749808"/>
          </a:xfrm>
          <a:prstGeom prst="rect">
            <a:avLst/>
          </a:prstGeom>
          <a:solidFill>
            <a:srgbClr val="E9F5EF"/>
          </a:solidFill>
          <a:ln w="9525">
            <a:solidFill>
              <a:srgbClr val="7DC6A0"/>
            </a:solidFill>
            <a:prstDash val="solid"/>
          </a:ln>
        </p:spPr>
        <p:txBody>
          <a:bodyPr/>
          <a:lstStyle/>
          <a:p>
            <a:endParaRPr lang="en-US"/>
          </a:p>
        </p:txBody>
      </p:sp>
      <p:sp>
        <p:nvSpPr>
          <p:cNvPr id="62" name="Text 60"/>
          <p:cNvSpPr/>
          <p:nvPr/>
        </p:nvSpPr>
        <p:spPr>
          <a:xfrm>
            <a:off x="594360" y="5742432"/>
            <a:ext cx="1097280" cy="201168"/>
          </a:xfrm>
          <a:prstGeom prst="rect">
            <a:avLst/>
          </a:prstGeom>
          <a:noFill/>
          <a:ln/>
        </p:spPr>
        <p:txBody>
          <a:bodyPr wrap="square" lIns="0" tIns="0" rIns="0" bIns="0" rtlCol="0" anchor="ctr"/>
          <a:lstStyle/>
          <a:p>
            <a:pPr marL="0" indent="0">
              <a:buNone/>
            </a:pPr>
            <a:r>
              <a:rPr lang="en-US" sz="800" b="1" kern="0" spc="160">
                <a:solidFill>
                  <a:srgbClr val="35805C"/>
                </a:solidFill>
                <a:latin typeface="Viedoc Monument Grotesk" pitchFamily="34" charset="0"/>
                <a:ea typeface="Viedoc Monument Grotesk" pitchFamily="34" charset="-122"/>
                <a:cs typeface="Viedoc Monument Grotesk" pitchFamily="34" charset="-120"/>
              </a:rPr>
              <a:t>THE GATE</a:t>
            </a:r>
            <a:endParaRPr lang="en-US" sz="800"/>
          </a:p>
        </p:txBody>
      </p:sp>
      <p:sp>
        <p:nvSpPr>
          <p:cNvPr id="63" name="Text 61"/>
          <p:cNvSpPr/>
          <p:nvPr/>
        </p:nvSpPr>
        <p:spPr>
          <a:xfrm>
            <a:off x="1819656" y="5559552"/>
            <a:ext cx="8451799" cy="566928"/>
          </a:xfrm>
          <a:prstGeom prst="rect">
            <a:avLst/>
          </a:prstGeom>
          <a:noFill/>
          <a:ln/>
        </p:spPr>
        <p:txBody>
          <a:bodyPr wrap="square" lIns="0" tIns="0" rIns="0" bIns="0" rtlCol="0" anchor="ctr"/>
          <a:lstStyle/>
          <a:p>
            <a:pPr marL="0" indent="0">
              <a:lnSpc>
                <a:spcPct val="118000"/>
              </a:lnSpc>
              <a:buNone/>
            </a:pPr>
            <a:r>
              <a:rPr lang="en-US" sz="1000" b="1">
                <a:solidFill>
                  <a:srgbClr val="000000"/>
                </a:solidFill>
                <a:latin typeface="Viedoc Monument Grotesk" pitchFamily="34" charset="0"/>
                <a:ea typeface="Viedoc Monument Grotesk" pitchFamily="34" charset="-122"/>
                <a:cs typeface="Viedoc Monument Grotesk" pitchFamily="34" charset="-120"/>
              </a:rPr>
              <a:t>All 38 automated suite runs green, and the eTMF and Reports manual validation complete. </a:t>
            </a:r>
            <a:r>
              <a:rPr lang="en-US" sz="1000">
                <a:solidFill>
                  <a:srgbClr val="6B6B6B"/>
                </a:solidFill>
                <a:latin typeface="Viedoc Monument Grotesk" pitchFamily="34" charset="0"/>
                <a:ea typeface="Viedoc Monument Grotesk" pitchFamily="34" charset="-122"/>
                <a:cs typeface="Viedoc Monument Grotesk" pitchFamily="34" charset="-120"/>
              </a:rPr>
              <a:t>A partial pass is not a pass — if anything fails for real, it is fixed and re-run until the whole matrix is clean. Nothing is documented or handed over before that point.</a:t>
            </a:r>
            <a:endParaRPr lang="en-US" sz="1000"/>
          </a:p>
        </p:txBody>
      </p:sp>
      <p:sp>
        <p:nvSpPr>
          <p:cNvPr id="64" name="Shape 62"/>
          <p:cNvSpPr/>
          <p:nvPr/>
        </p:nvSpPr>
        <p:spPr>
          <a:xfrm>
            <a:off x="10527487" y="5596128"/>
            <a:ext cx="1069848" cy="493776"/>
          </a:xfrm>
          <a:prstGeom prst="rect">
            <a:avLst/>
          </a:prstGeom>
          <a:solidFill>
            <a:srgbClr val="FDF4E3"/>
          </a:solidFill>
          <a:ln w="9525">
            <a:solidFill>
              <a:srgbClr val="F4B43D"/>
            </a:solidFill>
            <a:prstDash val="solid"/>
          </a:ln>
        </p:spPr>
        <p:txBody>
          <a:bodyPr/>
          <a:lstStyle/>
          <a:p>
            <a:endParaRPr lang="en-US"/>
          </a:p>
        </p:txBody>
      </p:sp>
      <p:sp>
        <p:nvSpPr>
          <p:cNvPr id="65" name="Text 63"/>
          <p:cNvSpPr/>
          <p:nvPr/>
        </p:nvSpPr>
        <p:spPr>
          <a:xfrm>
            <a:off x="10527487" y="5596128"/>
            <a:ext cx="1069848" cy="493776"/>
          </a:xfrm>
          <a:prstGeom prst="rect">
            <a:avLst/>
          </a:prstGeom>
          <a:noFill/>
          <a:ln/>
        </p:spPr>
        <p:txBody>
          <a:bodyPr wrap="square" lIns="0" tIns="0" rIns="0" bIns="0" rtlCol="0" anchor="ctr"/>
          <a:lstStyle/>
          <a:p>
            <a:pPr marL="0" indent="0" algn="ctr">
              <a:buNone/>
            </a:pPr>
            <a:r>
              <a:rPr lang="en-US" sz="900">
                <a:solidFill>
                  <a:srgbClr val="8A5F12"/>
                </a:solidFill>
                <a:latin typeface="Viedoc Monument Grotesk" pitchFamily="34" charset="0"/>
                <a:ea typeface="Viedoc Monument Grotesk" pitchFamily="34" charset="-122"/>
                <a:cs typeface="Viedoc Monument Grotesk" pitchFamily="34" charset="-120"/>
              </a:rPr>
              <a:t>retry ×3</a:t>
            </a:r>
            <a:endParaRPr lang="en-US" sz="900"/>
          </a:p>
          <a:p>
            <a:pPr marL="0" indent="0" algn="ctr">
              <a:buNone/>
            </a:pPr>
            <a:r>
              <a:rPr lang="en-US" sz="900">
                <a:solidFill>
                  <a:srgbClr val="8A5F12"/>
                </a:solidFill>
                <a:latin typeface="Viedoc Monument Grotesk" pitchFamily="34" charset="0"/>
                <a:ea typeface="Viedoc Monument Grotesk" pitchFamily="34" charset="-122"/>
                <a:cs typeface="Viedoc Monument Grotesk" pitchFamily="34" charset="-120"/>
              </a:rPr>
              <a:t>on flaky</a:t>
            </a:r>
            <a:endParaRPr lang="en-US" sz="900"/>
          </a:p>
        </p:txBody>
      </p:sp>
    </p:spTree>
    <p:extLst>
      <p:ext uri="{BB962C8B-B14F-4D97-AF65-F5344CB8AC3E}">
        <p14:creationId xmlns:p14="http://schemas.microsoft.com/office/powerpoint/2010/main" val="41640152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8328" y="804672"/>
            <a:ext cx="11155680" cy="530352"/>
          </a:xfrm>
          <a:prstGeom prst="rect">
            <a:avLst/>
          </a:prstGeom>
          <a:noFill/>
          <a:ln/>
        </p:spPr>
        <p:txBody>
          <a:bodyPr wrap="square" lIns="0" tIns="0" rIns="0" bIns="0" rtlCol="0" anchor="t"/>
          <a:lstStyle/>
          <a:p>
            <a:pPr marL="0" indent="0">
              <a:buNone/>
            </a:pPr>
            <a:r>
              <a:rPr lang="en-US" sz="2500">
                <a:solidFill>
                  <a:srgbClr val="000000"/>
                </a:solidFill>
                <a:latin typeface="Viedoc Monument Grotesk" pitchFamily="34" charset="0"/>
                <a:ea typeface="Viedoc Monument Grotesk" pitchFamily="34" charset="-122"/>
                <a:cs typeface="Viedoc Monument Grotesk" pitchFamily="34" charset="-120"/>
              </a:rPr>
              <a:t>What one qualification cycle costs, and what it leaves behind</a:t>
            </a:r>
            <a:endParaRPr lang="en-US" sz="2500"/>
          </a:p>
        </p:txBody>
      </p:sp>
      <p:sp>
        <p:nvSpPr>
          <p:cNvPr id="3" name="Shape 1"/>
          <p:cNvSpPr/>
          <p:nvPr/>
        </p:nvSpPr>
        <p:spPr>
          <a:xfrm>
            <a:off x="338328" y="1481328"/>
            <a:ext cx="1804873" cy="896112"/>
          </a:xfrm>
          <a:prstGeom prst="rect">
            <a:avLst/>
          </a:prstGeom>
          <a:solidFill>
            <a:srgbClr val="FFFFFF"/>
          </a:solidFill>
          <a:ln w="9525">
            <a:solidFill>
              <a:srgbClr val="E6E6E6"/>
            </a:solidFill>
            <a:prstDash val="solid"/>
          </a:ln>
        </p:spPr>
        <p:txBody>
          <a:bodyPr/>
          <a:lstStyle/>
          <a:p>
            <a:endParaRPr lang="en-US"/>
          </a:p>
        </p:txBody>
      </p:sp>
      <p:sp>
        <p:nvSpPr>
          <p:cNvPr id="4" name="Text 2"/>
          <p:cNvSpPr/>
          <p:nvPr/>
        </p:nvSpPr>
        <p:spPr>
          <a:xfrm>
            <a:off x="484632" y="1563624"/>
            <a:ext cx="1548841" cy="365760"/>
          </a:xfrm>
          <a:prstGeom prst="rect">
            <a:avLst/>
          </a:prstGeom>
          <a:noFill/>
          <a:ln/>
        </p:spPr>
        <p:txBody>
          <a:bodyPr wrap="square" lIns="0" tIns="0" rIns="0" bIns="0" rtlCol="0" anchor="ctr"/>
          <a:lstStyle/>
          <a:p>
            <a:pPr marL="0" indent="0">
              <a:buNone/>
            </a:pPr>
            <a:r>
              <a:rPr lang="en-US" sz="2400" b="1">
                <a:solidFill>
                  <a:srgbClr val="8E7DD2"/>
                </a:solidFill>
                <a:latin typeface="Viedoc Monument Grotesk" pitchFamily="34" charset="0"/>
                <a:ea typeface="Viedoc Monument Grotesk" pitchFamily="34" charset="-122"/>
                <a:cs typeface="Viedoc Monument Grotesk" pitchFamily="34" charset="-120"/>
              </a:rPr>
              <a:t>11</a:t>
            </a:r>
            <a:endParaRPr lang="en-US" sz="2400"/>
          </a:p>
        </p:txBody>
      </p:sp>
      <p:sp>
        <p:nvSpPr>
          <p:cNvPr id="5" name="Text 3"/>
          <p:cNvSpPr/>
          <p:nvPr/>
        </p:nvSpPr>
        <p:spPr>
          <a:xfrm>
            <a:off x="484632" y="1947672"/>
            <a:ext cx="1548841" cy="365760"/>
          </a:xfrm>
          <a:prstGeom prst="rect">
            <a:avLst/>
          </a:prstGeom>
          <a:noFill/>
          <a:ln/>
        </p:spPr>
        <p:txBody>
          <a:bodyPr wrap="square" lIns="0" tIns="0" rIns="0" bIns="0" rtlCol="0" anchor="t"/>
          <a:lstStyle/>
          <a:p>
            <a:pPr marL="0" indent="0">
              <a:lnSpc>
                <a:spcPct val="112000"/>
              </a:lnSpc>
              <a:buNone/>
            </a:pPr>
            <a:r>
              <a:rPr lang="en-US" sz="800">
                <a:solidFill>
                  <a:srgbClr val="6B6B6B"/>
                </a:solidFill>
                <a:latin typeface="Viedoc Monument Grotesk" pitchFamily="34" charset="0"/>
                <a:ea typeface="Viedoc Monument Grotesk" pitchFamily="34" charset="-122"/>
                <a:cs typeface="Viedoc Monument Grotesk" pitchFamily="34" charset="-120"/>
              </a:rPr>
              <a:t>studies created manually per release</a:t>
            </a:r>
            <a:endParaRPr lang="en-US" sz="800"/>
          </a:p>
        </p:txBody>
      </p:sp>
      <p:sp>
        <p:nvSpPr>
          <p:cNvPr id="6" name="Shape 4"/>
          <p:cNvSpPr/>
          <p:nvPr/>
        </p:nvSpPr>
        <p:spPr>
          <a:xfrm>
            <a:off x="2280361" y="1481328"/>
            <a:ext cx="1804873" cy="896112"/>
          </a:xfrm>
          <a:prstGeom prst="rect">
            <a:avLst/>
          </a:prstGeom>
          <a:solidFill>
            <a:srgbClr val="FFFFFF"/>
          </a:solidFill>
          <a:ln w="9525">
            <a:solidFill>
              <a:srgbClr val="E6E6E6"/>
            </a:solidFill>
            <a:prstDash val="solid"/>
          </a:ln>
        </p:spPr>
        <p:txBody>
          <a:bodyPr/>
          <a:lstStyle/>
          <a:p>
            <a:endParaRPr lang="en-US"/>
          </a:p>
        </p:txBody>
      </p:sp>
      <p:sp>
        <p:nvSpPr>
          <p:cNvPr id="7" name="Text 5"/>
          <p:cNvSpPr/>
          <p:nvPr/>
        </p:nvSpPr>
        <p:spPr>
          <a:xfrm>
            <a:off x="2426665" y="1563624"/>
            <a:ext cx="1548841" cy="365760"/>
          </a:xfrm>
          <a:prstGeom prst="rect">
            <a:avLst/>
          </a:prstGeom>
          <a:noFill/>
          <a:ln/>
        </p:spPr>
        <p:txBody>
          <a:bodyPr wrap="square" lIns="0" tIns="0" rIns="0" bIns="0" rtlCol="0" anchor="ctr"/>
          <a:lstStyle/>
          <a:p>
            <a:pPr marL="0" indent="0">
              <a:buNone/>
            </a:pPr>
            <a:r>
              <a:rPr lang="en-US" sz="2400" b="1">
                <a:solidFill>
                  <a:srgbClr val="8E7DD2"/>
                </a:solidFill>
                <a:latin typeface="Viedoc Monument Grotesk" pitchFamily="34" charset="0"/>
                <a:ea typeface="Viedoc Monument Grotesk" pitchFamily="34" charset="-122"/>
                <a:cs typeface="Viedoc Monument Grotesk" pitchFamily="34" charset="-120"/>
              </a:rPr>
              <a:t>14</a:t>
            </a:r>
            <a:endParaRPr lang="en-US" sz="2400"/>
          </a:p>
        </p:txBody>
      </p:sp>
      <p:sp>
        <p:nvSpPr>
          <p:cNvPr id="8" name="Text 6"/>
          <p:cNvSpPr/>
          <p:nvPr/>
        </p:nvSpPr>
        <p:spPr>
          <a:xfrm>
            <a:off x="2426665" y="1947672"/>
            <a:ext cx="1548841" cy="365760"/>
          </a:xfrm>
          <a:prstGeom prst="rect">
            <a:avLst/>
          </a:prstGeom>
          <a:noFill/>
          <a:ln/>
        </p:spPr>
        <p:txBody>
          <a:bodyPr wrap="square" lIns="0" tIns="0" rIns="0" bIns="0" rtlCol="0" anchor="t"/>
          <a:lstStyle/>
          <a:p>
            <a:pPr marL="0" indent="0">
              <a:lnSpc>
                <a:spcPct val="112000"/>
              </a:lnSpc>
              <a:buNone/>
            </a:pPr>
            <a:r>
              <a:rPr lang="en-US" sz="800">
                <a:solidFill>
                  <a:srgbClr val="6B6B6B"/>
                </a:solidFill>
                <a:latin typeface="Viedoc Monument Grotesk" pitchFamily="34" charset="0"/>
                <a:ea typeface="Viedoc Monument Grotesk" pitchFamily="34" charset="-122"/>
                <a:cs typeface="Viedoc Monument Grotesk" pitchFamily="34" charset="-120"/>
              </a:rPr>
              <a:t>automated PQ suites in the full set</a:t>
            </a:r>
            <a:endParaRPr lang="en-US" sz="800"/>
          </a:p>
        </p:txBody>
      </p:sp>
      <p:sp>
        <p:nvSpPr>
          <p:cNvPr id="9" name="Shape 7"/>
          <p:cNvSpPr/>
          <p:nvPr/>
        </p:nvSpPr>
        <p:spPr>
          <a:xfrm>
            <a:off x="4222394" y="1481328"/>
            <a:ext cx="1804873" cy="896112"/>
          </a:xfrm>
          <a:prstGeom prst="rect">
            <a:avLst/>
          </a:prstGeom>
          <a:solidFill>
            <a:srgbClr val="FFFFFF"/>
          </a:solidFill>
          <a:ln w="9525">
            <a:solidFill>
              <a:srgbClr val="E6E6E6"/>
            </a:solidFill>
            <a:prstDash val="solid"/>
          </a:ln>
        </p:spPr>
        <p:txBody>
          <a:bodyPr/>
          <a:lstStyle/>
          <a:p>
            <a:endParaRPr lang="en-US"/>
          </a:p>
        </p:txBody>
      </p:sp>
      <p:sp>
        <p:nvSpPr>
          <p:cNvPr id="10" name="Text 8"/>
          <p:cNvSpPr/>
          <p:nvPr/>
        </p:nvSpPr>
        <p:spPr>
          <a:xfrm>
            <a:off x="4368698" y="1563624"/>
            <a:ext cx="1548841" cy="365760"/>
          </a:xfrm>
          <a:prstGeom prst="rect">
            <a:avLst/>
          </a:prstGeom>
          <a:noFill/>
          <a:ln/>
        </p:spPr>
        <p:txBody>
          <a:bodyPr wrap="square" lIns="0" tIns="0" rIns="0" bIns="0" rtlCol="0" anchor="ctr"/>
          <a:lstStyle/>
          <a:p>
            <a:pPr marL="0" indent="0">
              <a:buNone/>
            </a:pPr>
            <a:r>
              <a:rPr lang="en-US" sz="2400" b="1">
                <a:solidFill>
                  <a:srgbClr val="8E7DD2"/>
                </a:solidFill>
                <a:latin typeface="Viedoc Monument Grotesk" pitchFamily="34" charset="0"/>
                <a:ea typeface="Viedoc Monument Grotesk" pitchFamily="34" charset="-122"/>
                <a:cs typeface="Viedoc Monument Grotesk" pitchFamily="34" charset="-120"/>
              </a:rPr>
              <a:t>2</a:t>
            </a:r>
            <a:endParaRPr lang="en-US" sz="2400"/>
          </a:p>
        </p:txBody>
      </p:sp>
      <p:sp>
        <p:nvSpPr>
          <p:cNvPr id="11" name="Text 9"/>
          <p:cNvSpPr/>
          <p:nvPr/>
        </p:nvSpPr>
        <p:spPr>
          <a:xfrm>
            <a:off x="4368698" y="1947672"/>
            <a:ext cx="1548841" cy="365760"/>
          </a:xfrm>
          <a:prstGeom prst="rect">
            <a:avLst/>
          </a:prstGeom>
          <a:noFill/>
          <a:ln/>
        </p:spPr>
        <p:txBody>
          <a:bodyPr wrap="square" lIns="0" tIns="0" rIns="0" bIns="0" rtlCol="0" anchor="t"/>
          <a:lstStyle/>
          <a:p>
            <a:pPr marL="0" indent="0">
              <a:lnSpc>
                <a:spcPct val="112000"/>
              </a:lnSpc>
              <a:buNone/>
            </a:pPr>
            <a:r>
              <a:rPr lang="en-US" sz="800">
                <a:solidFill>
                  <a:srgbClr val="6B6B6B"/>
                </a:solidFill>
                <a:latin typeface="Viedoc Monument Grotesk" pitchFamily="34" charset="0"/>
                <a:ea typeface="Viedoc Monument Grotesk" pitchFamily="34" charset="-122"/>
                <a:cs typeface="Viedoc Monument Grotesk" pitchFamily="34" charset="-120"/>
              </a:rPr>
              <a:t>manual areas — eTMF and Reports</a:t>
            </a:r>
            <a:endParaRPr lang="en-US" sz="800"/>
          </a:p>
        </p:txBody>
      </p:sp>
      <p:sp>
        <p:nvSpPr>
          <p:cNvPr id="12" name="Shape 10"/>
          <p:cNvSpPr/>
          <p:nvPr/>
        </p:nvSpPr>
        <p:spPr>
          <a:xfrm>
            <a:off x="6164428" y="1481328"/>
            <a:ext cx="1804873" cy="896112"/>
          </a:xfrm>
          <a:prstGeom prst="rect">
            <a:avLst/>
          </a:prstGeom>
          <a:solidFill>
            <a:srgbClr val="FFFFFF"/>
          </a:solidFill>
          <a:ln w="9525">
            <a:solidFill>
              <a:srgbClr val="E6E6E6"/>
            </a:solidFill>
            <a:prstDash val="solid"/>
          </a:ln>
        </p:spPr>
        <p:txBody>
          <a:bodyPr/>
          <a:lstStyle/>
          <a:p>
            <a:endParaRPr lang="en-US"/>
          </a:p>
        </p:txBody>
      </p:sp>
      <p:sp>
        <p:nvSpPr>
          <p:cNvPr id="13" name="Text 11"/>
          <p:cNvSpPr/>
          <p:nvPr/>
        </p:nvSpPr>
        <p:spPr>
          <a:xfrm>
            <a:off x="6310732" y="1563624"/>
            <a:ext cx="1548841" cy="365760"/>
          </a:xfrm>
          <a:prstGeom prst="rect">
            <a:avLst/>
          </a:prstGeom>
          <a:noFill/>
          <a:ln/>
        </p:spPr>
        <p:txBody>
          <a:bodyPr wrap="square" lIns="0" tIns="0" rIns="0" bIns="0" rtlCol="0" anchor="ctr"/>
          <a:lstStyle/>
          <a:p>
            <a:pPr marL="0" indent="0">
              <a:buNone/>
            </a:pPr>
            <a:r>
              <a:rPr lang="en-US" sz="2400" b="1">
                <a:solidFill>
                  <a:srgbClr val="8E7DD2"/>
                </a:solidFill>
                <a:latin typeface="Viedoc Monument Grotesk" pitchFamily="34" charset="0"/>
                <a:ea typeface="Viedoc Monument Grotesk" pitchFamily="34" charset="-122"/>
                <a:cs typeface="Viedoc Monument Grotesk" pitchFamily="34" charset="-120"/>
              </a:rPr>
              <a:t>38</a:t>
            </a:r>
            <a:endParaRPr lang="en-US" sz="2400"/>
          </a:p>
        </p:txBody>
      </p:sp>
      <p:sp>
        <p:nvSpPr>
          <p:cNvPr id="14" name="Text 12"/>
          <p:cNvSpPr/>
          <p:nvPr/>
        </p:nvSpPr>
        <p:spPr>
          <a:xfrm>
            <a:off x="6310732" y="1947672"/>
            <a:ext cx="1548841" cy="365760"/>
          </a:xfrm>
          <a:prstGeom prst="rect">
            <a:avLst/>
          </a:prstGeom>
          <a:noFill/>
          <a:ln/>
        </p:spPr>
        <p:txBody>
          <a:bodyPr wrap="square" lIns="0" tIns="0" rIns="0" bIns="0" rtlCol="0" anchor="t"/>
          <a:lstStyle/>
          <a:p>
            <a:pPr marL="0" indent="0">
              <a:lnSpc>
                <a:spcPct val="112000"/>
              </a:lnSpc>
              <a:buNone/>
            </a:pPr>
            <a:r>
              <a:rPr lang="en-US" sz="800">
                <a:solidFill>
                  <a:srgbClr val="6B6B6B"/>
                </a:solidFill>
                <a:latin typeface="Viedoc Monument Grotesk" pitchFamily="34" charset="0"/>
                <a:ea typeface="Viedoc Monument Grotesk" pitchFamily="34" charset="-122"/>
                <a:cs typeface="Viedoc Monument Grotesk" pitchFamily="34" charset="-120"/>
              </a:rPr>
              <a:t>automated suite runs (14 + 8 + 8 + 8)</a:t>
            </a:r>
            <a:endParaRPr lang="en-US" sz="800"/>
          </a:p>
        </p:txBody>
      </p:sp>
      <p:sp>
        <p:nvSpPr>
          <p:cNvPr id="15" name="Shape 13"/>
          <p:cNvSpPr/>
          <p:nvPr/>
        </p:nvSpPr>
        <p:spPr>
          <a:xfrm>
            <a:off x="8106461" y="1481328"/>
            <a:ext cx="1804873" cy="896112"/>
          </a:xfrm>
          <a:prstGeom prst="rect">
            <a:avLst/>
          </a:prstGeom>
          <a:solidFill>
            <a:srgbClr val="FFFFFF"/>
          </a:solidFill>
          <a:ln w="9525">
            <a:solidFill>
              <a:srgbClr val="E6E6E6"/>
            </a:solidFill>
            <a:prstDash val="solid"/>
          </a:ln>
        </p:spPr>
        <p:txBody>
          <a:bodyPr/>
          <a:lstStyle/>
          <a:p>
            <a:endParaRPr lang="en-US"/>
          </a:p>
        </p:txBody>
      </p:sp>
      <p:sp>
        <p:nvSpPr>
          <p:cNvPr id="16" name="Text 14"/>
          <p:cNvSpPr/>
          <p:nvPr/>
        </p:nvSpPr>
        <p:spPr>
          <a:xfrm>
            <a:off x="8252765" y="1563624"/>
            <a:ext cx="1548841" cy="365760"/>
          </a:xfrm>
          <a:prstGeom prst="rect">
            <a:avLst/>
          </a:prstGeom>
          <a:noFill/>
          <a:ln/>
        </p:spPr>
        <p:txBody>
          <a:bodyPr wrap="square" lIns="0" tIns="0" rIns="0" bIns="0" rtlCol="0" anchor="ctr"/>
          <a:lstStyle/>
          <a:p>
            <a:pPr marL="0" indent="0">
              <a:buNone/>
            </a:pPr>
            <a:r>
              <a:rPr lang="en-US" sz="1600" b="1">
                <a:solidFill>
                  <a:srgbClr val="8E7DD2"/>
                </a:solidFill>
                <a:latin typeface="Viedoc Monument Grotesk" pitchFamily="34" charset="0"/>
                <a:ea typeface="Viedoc Monument Grotesk" pitchFamily="34" charset="-122"/>
                <a:cs typeface="Viedoc Monument Grotesk" pitchFamily="34" charset="-120"/>
              </a:rPr>
              <a:t>13.5–15 h</a:t>
            </a:r>
            <a:endParaRPr lang="en-US" sz="1600"/>
          </a:p>
        </p:txBody>
      </p:sp>
      <p:sp>
        <p:nvSpPr>
          <p:cNvPr id="17" name="Text 15"/>
          <p:cNvSpPr/>
          <p:nvPr/>
        </p:nvSpPr>
        <p:spPr>
          <a:xfrm>
            <a:off x="8252765" y="1947672"/>
            <a:ext cx="1548841" cy="365760"/>
          </a:xfrm>
          <a:prstGeom prst="rect">
            <a:avLst/>
          </a:prstGeom>
          <a:noFill/>
          <a:ln/>
        </p:spPr>
        <p:txBody>
          <a:bodyPr wrap="square" lIns="0" tIns="0" rIns="0" bIns="0" rtlCol="0" anchor="t"/>
          <a:lstStyle/>
          <a:p>
            <a:pPr marL="0" indent="0">
              <a:lnSpc>
                <a:spcPct val="112000"/>
              </a:lnSpc>
              <a:buNone/>
            </a:pPr>
            <a:r>
              <a:rPr lang="en-US" sz="800">
                <a:solidFill>
                  <a:srgbClr val="6B6B6B"/>
                </a:solidFill>
                <a:latin typeface="Viedoc Monument Grotesk" pitchFamily="34" charset="0"/>
                <a:ea typeface="Viedoc Monument Grotesk" pitchFamily="34" charset="-122"/>
                <a:cs typeface="Viedoc Monument Grotesk" pitchFamily="34" charset="-120"/>
              </a:rPr>
              <a:t>pipeline run time — 15 h when retries kick in</a:t>
            </a:r>
            <a:endParaRPr lang="en-US" sz="800"/>
          </a:p>
        </p:txBody>
      </p:sp>
      <p:sp>
        <p:nvSpPr>
          <p:cNvPr id="18" name="Shape 16"/>
          <p:cNvSpPr/>
          <p:nvPr/>
        </p:nvSpPr>
        <p:spPr>
          <a:xfrm>
            <a:off x="10048494" y="1481328"/>
            <a:ext cx="1804873" cy="896112"/>
          </a:xfrm>
          <a:prstGeom prst="rect">
            <a:avLst/>
          </a:prstGeom>
          <a:solidFill>
            <a:srgbClr val="FFFFFF"/>
          </a:solidFill>
          <a:ln w="9525">
            <a:solidFill>
              <a:srgbClr val="E6E6E6"/>
            </a:solidFill>
            <a:prstDash val="solid"/>
          </a:ln>
        </p:spPr>
        <p:txBody>
          <a:bodyPr/>
          <a:lstStyle/>
          <a:p>
            <a:endParaRPr lang="en-US"/>
          </a:p>
        </p:txBody>
      </p:sp>
      <p:sp>
        <p:nvSpPr>
          <p:cNvPr id="19" name="Text 17"/>
          <p:cNvSpPr/>
          <p:nvPr/>
        </p:nvSpPr>
        <p:spPr>
          <a:xfrm>
            <a:off x="10194798" y="1563624"/>
            <a:ext cx="1548841" cy="365760"/>
          </a:xfrm>
          <a:prstGeom prst="rect">
            <a:avLst/>
          </a:prstGeom>
          <a:noFill/>
          <a:ln/>
        </p:spPr>
        <p:txBody>
          <a:bodyPr wrap="square" lIns="0" tIns="0" rIns="0" bIns="0" rtlCol="0" anchor="ctr"/>
          <a:lstStyle/>
          <a:p>
            <a:pPr marL="0" indent="0">
              <a:buNone/>
            </a:pPr>
            <a:r>
              <a:rPr lang="en-US" sz="2400" b="1">
                <a:solidFill>
                  <a:srgbClr val="8E7DD2"/>
                </a:solidFill>
                <a:latin typeface="Viedoc Monument Grotesk" pitchFamily="34" charset="0"/>
                <a:ea typeface="Viedoc Monument Grotesk" pitchFamily="34" charset="-122"/>
                <a:cs typeface="Viedoc Monument Grotesk" pitchFamily="34" charset="-120"/>
              </a:rPr>
              <a:t>100%</a:t>
            </a:r>
            <a:endParaRPr lang="en-US" sz="2400"/>
          </a:p>
        </p:txBody>
      </p:sp>
      <p:sp>
        <p:nvSpPr>
          <p:cNvPr id="20" name="Text 18"/>
          <p:cNvSpPr/>
          <p:nvPr/>
        </p:nvSpPr>
        <p:spPr>
          <a:xfrm>
            <a:off x="10194798" y="1947672"/>
            <a:ext cx="1548841" cy="365760"/>
          </a:xfrm>
          <a:prstGeom prst="rect">
            <a:avLst/>
          </a:prstGeom>
          <a:noFill/>
          <a:ln/>
        </p:spPr>
        <p:txBody>
          <a:bodyPr wrap="square" lIns="0" tIns="0" rIns="0" bIns="0" rtlCol="0" anchor="t"/>
          <a:lstStyle/>
          <a:p>
            <a:pPr marL="0" indent="0">
              <a:lnSpc>
                <a:spcPct val="112000"/>
              </a:lnSpc>
              <a:buNone/>
            </a:pPr>
            <a:r>
              <a:rPr lang="en-US" sz="800">
                <a:solidFill>
                  <a:srgbClr val="6B6B6B"/>
                </a:solidFill>
                <a:latin typeface="Viedoc Monument Grotesk" pitchFamily="34" charset="0"/>
                <a:ea typeface="Viedoc Monument Grotesk" pitchFamily="34" charset="-122"/>
                <a:cs typeface="Viedoc Monument Grotesk" pitchFamily="34" charset="-120"/>
              </a:rPr>
              <a:t>green required to hand over</a:t>
            </a:r>
            <a:endParaRPr lang="en-US" sz="800"/>
          </a:p>
        </p:txBody>
      </p:sp>
      <p:sp>
        <p:nvSpPr>
          <p:cNvPr id="21" name="Shape 19"/>
          <p:cNvSpPr/>
          <p:nvPr/>
        </p:nvSpPr>
        <p:spPr>
          <a:xfrm>
            <a:off x="338328" y="2542032"/>
            <a:ext cx="6309360" cy="3675888"/>
          </a:xfrm>
          <a:prstGeom prst="rect">
            <a:avLst/>
          </a:prstGeom>
          <a:solidFill>
            <a:srgbClr val="FFFFFF"/>
          </a:solidFill>
          <a:ln w="9525">
            <a:solidFill>
              <a:srgbClr val="E6E6E6"/>
            </a:solidFill>
            <a:prstDash val="solid"/>
          </a:ln>
        </p:spPr>
        <p:txBody>
          <a:bodyPr/>
          <a:lstStyle/>
          <a:p>
            <a:endParaRPr lang="en-US"/>
          </a:p>
        </p:txBody>
      </p:sp>
      <p:sp>
        <p:nvSpPr>
          <p:cNvPr id="22" name="Shape 20"/>
          <p:cNvSpPr/>
          <p:nvPr/>
        </p:nvSpPr>
        <p:spPr>
          <a:xfrm>
            <a:off x="338328" y="2542032"/>
            <a:ext cx="6309360" cy="29261"/>
          </a:xfrm>
          <a:prstGeom prst="rect">
            <a:avLst/>
          </a:prstGeom>
          <a:solidFill>
            <a:srgbClr val="8E7DD2"/>
          </a:solidFill>
          <a:ln/>
        </p:spPr>
        <p:txBody>
          <a:bodyPr/>
          <a:lstStyle/>
          <a:p>
            <a:endParaRPr lang="en-US"/>
          </a:p>
        </p:txBody>
      </p:sp>
      <p:sp>
        <p:nvSpPr>
          <p:cNvPr id="23" name="Text 21"/>
          <p:cNvSpPr/>
          <p:nvPr/>
        </p:nvSpPr>
        <p:spPr>
          <a:xfrm>
            <a:off x="594360" y="2743200"/>
            <a:ext cx="3657600" cy="201168"/>
          </a:xfrm>
          <a:prstGeom prst="rect">
            <a:avLst/>
          </a:prstGeom>
          <a:noFill/>
          <a:ln/>
        </p:spPr>
        <p:txBody>
          <a:bodyPr wrap="square" lIns="0" tIns="0" rIns="0" bIns="0" rtlCol="0" anchor="ctr"/>
          <a:lstStyle/>
          <a:p>
            <a:pPr marL="0" indent="0">
              <a:buNone/>
            </a:pPr>
            <a:r>
              <a:rPr lang="en-US" sz="800" b="1" kern="0" spc="160">
                <a:solidFill>
                  <a:srgbClr val="8E7DD2"/>
                </a:solidFill>
                <a:latin typeface="Viedoc Monument Grotesk" pitchFamily="34" charset="0"/>
                <a:ea typeface="Viedoc Monument Grotesk" pitchFamily="34" charset="-122"/>
                <a:cs typeface="Viedoc Monument Grotesk" pitchFamily="34" charset="-120"/>
              </a:rPr>
              <a:t>DOCUMENTS PRODUCED</a:t>
            </a:r>
            <a:endParaRPr lang="en-US" sz="800"/>
          </a:p>
        </p:txBody>
      </p:sp>
      <p:sp>
        <p:nvSpPr>
          <p:cNvPr id="24" name="Text 22"/>
          <p:cNvSpPr/>
          <p:nvPr/>
        </p:nvSpPr>
        <p:spPr>
          <a:xfrm>
            <a:off x="594360" y="3072384"/>
            <a:ext cx="5797296"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Versioned run settings &amp; config</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Committed to the repository — the record of exactly what configuration was qualified.</a:t>
            </a:r>
            <a:endParaRPr lang="en-US" sz="1050"/>
          </a:p>
        </p:txBody>
      </p:sp>
      <p:sp>
        <p:nvSpPr>
          <p:cNvPr id="25" name="Shape 23"/>
          <p:cNvSpPr/>
          <p:nvPr/>
        </p:nvSpPr>
        <p:spPr>
          <a:xfrm>
            <a:off x="594360" y="3602736"/>
            <a:ext cx="5797296" cy="0"/>
          </a:xfrm>
          <a:prstGeom prst="line">
            <a:avLst/>
          </a:prstGeom>
          <a:noFill/>
          <a:ln w="9525">
            <a:solidFill>
              <a:srgbClr val="F2F0EC"/>
            </a:solidFill>
            <a:prstDash val="solid"/>
          </a:ln>
        </p:spPr>
        <p:txBody>
          <a:bodyPr/>
          <a:lstStyle/>
          <a:p>
            <a:endParaRPr lang="en-US"/>
          </a:p>
        </p:txBody>
      </p:sp>
      <p:sp>
        <p:nvSpPr>
          <p:cNvPr id="26" name="Text 24"/>
          <p:cNvSpPr/>
          <p:nvPr/>
        </p:nvSpPr>
        <p:spPr>
          <a:xfrm>
            <a:off x="594360" y="3694176"/>
            <a:ext cx="5797296"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Stage studies, named by version</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The ~11 study set the suites execute against, traceable to the release.</a:t>
            </a:r>
            <a:endParaRPr lang="en-US" sz="1050"/>
          </a:p>
        </p:txBody>
      </p:sp>
      <p:sp>
        <p:nvSpPr>
          <p:cNvPr id="27" name="Shape 25"/>
          <p:cNvSpPr/>
          <p:nvPr/>
        </p:nvSpPr>
        <p:spPr>
          <a:xfrm>
            <a:off x="594360" y="4224528"/>
            <a:ext cx="5797296" cy="0"/>
          </a:xfrm>
          <a:prstGeom prst="line">
            <a:avLst/>
          </a:prstGeom>
          <a:noFill/>
          <a:ln w="9525">
            <a:solidFill>
              <a:srgbClr val="F2F0EC"/>
            </a:solidFill>
            <a:prstDash val="solid"/>
          </a:ln>
        </p:spPr>
        <p:txBody>
          <a:bodyPr/>
          <a:lstStyle/>
          <a:p>
            <a:endParaRPr lang="en-US"/>
          </a:p>
        </p:txBody>
      </p:sp>
      <p:sp>
        <p:nvSpPr>
          <p:cNvPr id="28" name="Text 26"/>
          <p:cNvSpPr/>
          <p:nvPr/>
        </p:nvSpPr>
        <p:spPr>
          <a:xfrm>
            <a:off x="594360" y="4315968"/>
            <a:ext cx="5797296"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Pipeline run records</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Per browser and per suite: pass state, retries and failure detail.</a:t>
            </a:r>
            <a:endParaRPr lang="en-US" sz="1050"/>
          </a:p>
        </p:txBody>
      </p:sp>
      <p:sp>
        <p:nvSpPr>
          <p:cNvPr id="29" name="Shape 27"/>
          <p:cNvSpPr/>
          <p:nvPr/>
        </p:nvSpPr>
        <p:spPr>
          <a:xfrm>
            <a:off x="594360" y="4846320"/>
            <a:ext cx="5797296" cy="0"/>
          </a:xfrm>
          <a:prstGeom prst="line">
            <a:avLst/>
          </a:prstGeom>
          <a:noFill/>
          <a:ln w="9525">
            <a:solidFill>
              <a:srgbClr val="F2F0EC"/>
            </a:solidFill>
            <a:prstDash val="solid"/>
          </a:ln>
        </p:spPr>
        <p:txBody>
          <a:bodyPr/>
          <a:lstStyle/>
          <a:p>
            <a:endParaRPr lang="en-US"/>
          </a:p>
        </p:txBody>
      </p:sp>
      <p:sp>
        <p:nvSpPr>
          <p:cNvPr id="30" name="Text 28"/>
          <p:cNvSpPr/>
          <p:nvPr/>
        </p:nvSpPr>
        <p:spPr>
          <a:xfrm>
            <a:off x="594360" y="4937760"/>
            <a:ext cx="46177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eTMF &amp; Reports manual test results</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Executed and written up by hand, outside the pipeline.</a:t>
            </a:r>
            <a:endParaRPr lang="en-US" sz="1050"/>
          </a:p>
        </p:txBody>
      </p:sp>
      <p:sp>
        <p:nvSpPr>
          <p:cNvPr id="31" name="Shape 29"/>
          <p:cNvSpPr/>
          <p:nvPr/>
        </p:nvSpPr>
        <p:spPr>
          <a:xfrm>
            <a:off x="5349240" y="4928616"/>
            <a:ext cx="1042416" cy="201168"/>
          </a:xfrm>
          <a:prstGeom prst="rect">
            <a:avLst/>
          </a:prstGeom>
          <a:solidFill>
            <a:srgbClr val="FDF4E3"/>
          </a:solidFill>
          <a:ln/>
        </p:spPr>
        <p:txBody>
          <a:bodyPr/>
          <a:lstStyle/>
          <a:p>
            <a:endParaRPr lang="en-US"/>
          </a:p>
        </p:txBody>
      </p:sp>
      <p:sp>
        <p:nvSpPr>
          <p:cNvPr id="32" name="Text 30"/>
          <p:cNvSpPr/>
          <p:nvPr/>
        </p:nvSpPr>
        <p:spPr>
          <a:xfrm>
            <a:off x="5349240" y="4928616"/>
            <a:ext cx="1042416" cy="201168"/>
          </a:xfrm>
          <a:prstGeom prst="rect">
            <a:avLst/>
          </a:prstGeom>
          <a:noFill/>
          <a:ln/>
        </p:spPr>
        <p:txBody>
          <a:bodyPr wrap="square" lIns="0" tIns="0" rIns="0" bIns="0" rtlCol="0" anchor="ctr"/>
          <a:lstStyle/>
          <a:p>
            <a:pPr marL="0" indent="0" algn="ctr">
              <a:buNone/>
            </a:pPr>
            <a:r>
              <a:rPr lang="en-US" sz="650" b="1" kern="0" spc="60">
                <a:solidFill>
                  <a:srgbClr val="8A5F12"/>
                </a:solidFill>
                <a:latin typeface="Viedoc Monument Grotesk" pitchFamily="34" charset="0"/>
                <a:ea typeface="Viedoc Monument Grotesk" pitchFamily="34" charset="-122"/>
                <a:cs typeface="Viedoc Monument Grotesk" pitchFamily="34" charset="-120"/>
              </a:rPr>
              <a:t>MANUAL</a:t>
            </a:r>
            <a:endParaRPr lang="en-US" sz="650"/>
          </a:p>
        </p:txBody>
      </p:sp>
      <p:sp>
        <p:nvSpPr>
          <p:cNvPr id="33" name="Shape 31"/>
          <p:cNvSpPr/>
          <p:nvPr/>
        </p:nvSpPr>
        <p:spPr>
          <a:xfrm>
            <a:off x="594360" y="5468112"/>
            <a:ext cx="5797296" cy="0"/>
          </a:xfrm>
          <a:prstGeom prst="line">
            <a:avLst/>
          </a:prstGeom>
          <a:noFill/>
          <a:ln w="9525">
            <a:solidFill>
              <a:srgbClr val="F2F0EC"/>
            </a:solidFill>
            <a:prstDash val="solid"/>
          </a:ln>
        </p:spPr>
        <p:txBody>
          <a:bodyPr/>
          <a:lstStyle/>
          <a:p>
            <a:endParaRPr lang="en-US"/>
          </a:p>
        </p:txBody>
      </p:sp>
      <p:sp>
        <p:nvSpPr>
          <p:cNvPr id="34" name="Text 32"/>
          <p:cNvSpPr/>
          <p:nvPr/>
        </p:nvSpPr>
        <p:spPr>
          <a:xfrm>
            <a:off x="594360" y="5559552"/>
            <a:ext cx="4617720" cy="548640"/>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PQ Results document</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Screenshots of each passed run mapped to its test name, plus the manual results(pass/fail) — the package that goes for signature.</a:t>
            </a:r>
            <a:endParaRPr lang="en-US" sz="1050"/>
          </a:p>
        </p:txBody>
      </p:sp>
      <p:sp>
        <p:nvSpPr>
          <p:cNvPr id="35" name="Shape 33"/>
          <p:cNvSpPr/>
          <p:nvPr/>
        </p:nvSpPr>
        <p:spPr>
          <a:xfrm>
            <a:off x="5349240" y="5550408"/>
            <a:ext cx="1042416" cy="201168"/>
          </a:xfrm>
          <a:prstGeom prst="rect">
            <a:avLst/>
          </a:prstGeom>
          <a:solidFill>
            <a:srgbClr val="E9F5EF"/>
          </a:solidFill>
          <a:ln/>
        </p:spPr>
        <p:txBody>
          <a:bodyPr/>
          <a:lstStyle/>
          <a:p>
            <a:endParaRPr lang="en-US"/>
          </a:p>
        </p:txBody>
      </p:sp>
      <p:sp>
        <p:nvSpPr>
          <p:cNvPr id="36" name="Text 34"/>
          <p:cNvSpPr/>
          <p:nvPr/>
        </p:nvSpPr>
        <p:spPr>
          <a:xfrm>
            <a:off x="5349240" y="5550408"/>
            <a:ext cx="1042416" cy="201168"/>
          </a:xfrm>
          <a:prstGeom prst="rect">
            <a:avLst/>
          </a:prstGeom>
          <a:noFill/>
          <a:ln/>
        </p:spPr>
        <p:txBody>
          <a:bodyPr wrap="square" lIns="0" tIns="0" rIns="0" bIns="0" rtlCol="0" anchor="ctr"/>
          <a:lstStyle/>
          <a:p>
            <a:pPr marL="0" indent="0" algn="ctr">
              <a:buNone/>
            </a:pPr>
            <a:r>
              <a:rPr lang="en-US" sz="650" b="1" kern="0" spc="60">
                <a:solidFill>
                  <a:srgbClr val="35805C"/>
                </a:solidFill>
                <a:latin typeface="Viedoc Monument Grotesk" pitchFamily="34" charset="0"/>
                <a:ea typeface="Viedoc Monument Grotesk" pitchFamily="34" charset="-122"/>
                <a:cs typeface="Viedoc Monument Grotesk" pitchFamily="34" charset="-120"/>
              </a:rPr>
              <a:t>DELIVERABLE</a:t>
            </a:r>
            <a:endParaRPr lang="en-US" sz="650"/>
          </a:p>
        </p:txBody>
      </p:sp>
      <p:sp>
        <p:nvSpPr>
          <p:cNvPr id="37" name="Shape 35"/>
          <p:cNvSpPr/>
          <p:nvPr/>
        </p:nvSpPr>
        <p:spPr>
          <a:xfrm>
            <a:off x="6848856" y="2542032"/>
            <a:ext cx="5004511" cy="3675888"/>
          </a:xfrm>
          <a:prstGeom prst="rect">
            <a:avLst/>
          </a:prstGeom>
          <a:solidFill>
            <a:srgbClr val="FFFFFF"/>
          </a:solidFill>
          <a:ln w="9525">
            <a:solidFill>
              <a:srgbClr val="E6E6E6"/>
            </a:solidFill>
            <a:prstDash val="solid"/>
          </a:ln>
        </p:spPr>
        <p:txBody>
          <a:bodyPr/>
          <a:lstStyle/>
          <a:p>
            <a:endParaRPr lang="en-US"/>
          </a:p>
        </p:txBody>
      </p:sp>
      <p:sp>
        <p:nvSpPr>
          <p:cNvPr id="38" name="Shape 36"/>
          <p:cNvSpPr/>
          <p:nvPr/>
        </p:nvSpPr>
        <p:spPr>
          <a:xfrm>
            <a:off x="6848856" y="2542032"/>
            <a:ext cx="5004511" cy="29261"/>
          </a:xfrm>
          <a:prstGeom prst="rect">
            <a:avLst/>
          </a:prstGeom>
          <a:solidFill>
            <a:srgbClr val="8E7DD2"/>
          </a:solidFill>
          <a:ln/>
        </p:spPr>
        <p:txBody>
          <a:bodyPr/>
          <a:lstStyle/>
          <a:p>
            <a:endParaRPr lang="en-US"/>
          </a:p>
        </p:txBody>
      </p:sp>
      <p:sp>
        <p:nvSpPr>
          <p:cNvPr id="39" name="Text 37"/>
          <p:cNvSpPr/>
          <p:nvPr/>
        </p:nvSpPr>
        <p:spPr>
          <a:xfrm>
            <a:off x="7104888" y="2743200"/>
            <a:ext cx="3657600" cy="201168"/>
          </a:xfrm>
          <a:prstGeom prst="rect">
            <a:avLst/>
          </a:prstGeom>
          <a:noFill/>
          <a:ln/>
        </p:spPr>
        <p:txBody>
          <a:bodyPr wrap="square" lIns="0" tIns="0" rIns="0" bIns="0" rtlCol="0" anchor="ctr"/>
          <a:lstStyle/>
          <a:p>
            <a:pPr marL="0" indent="0">
              <a:buNone/>
            </a:pPr>
            <a:r>
              <a:rPr lang="en-US" sz="800" b="1" kern="0" spc="160">
                <a:solidFill>
                  <a:srgbClr val="8E7DD2"/>
                </a:solidFill>
                <a:latin typeface="Viedoc Monument Grotesk" pitchFamily="34" charset="0"/>
                <a:ea typeface="Viedoc Monument Grotesk" pitchFamily="34" charset="-122"/>
                <a:cs typeface="Viedoc Monument Grotesk" pitchFamily="34" charset="-120"/>
              </a:rPr>
              <a:t>HAND-OVER CHAIN</a:t>
            </a:r>
            <a:endParaRPr lang="en-US" sz="800"/>
          </a:p>
        </p:txBody>
      </p:sp>
      <p:sp>
        <p:nvSpPr>
          <p:cNvPr id="40" name="Shape 38"/>
          <p:cNvSpPr/>
          <p:nvPr/>
        </p:nvSpPr>
        <p:spPr>
          <a:xfrm>
            <a:off x="7255764" y="3383280"/>
            <a:ext cx="0" cy="384048"/>
          </a:xfrm>
          <a:prstGeom prst="line">
            <a:avLst/>
          </a:prstGeom>
          <a:noFill/>
          <a:ln w="15875">
            <a:solidFill>
              <a:srgbClr val="E6E6E6"/>
            </a:solidFill>
            <a:prstDash val="solid"/>
          </a:ln>
        </p:spPr>
        <p:txBody>
          <a:bodyPr/>
          <a:lstStyle/>
          <a:p>
            <a:endParaRPr lang="en-US"/>
          </a:p>
        </p:txBody>
      </p:sp>
      <p:sp>
        <p:nvSpPr>
          <p:cNvPr id="41" name="Shape 39"/>
          <p:cNvSpPr/>
          <p:nvPr/>
        </p:nvSpPr>
        <p:spPr>
          <a:xfrm>
            <a:off x="7104888" y="3090672"/>
            <a:ext cx="301752" cy="301752"/>
          </a:xfrm>
          <a:prstGeom prst="ellipse">
            <a:avLst/>
          </a:prstGeom>
          <a:solidFill>
            <a:srgbClr val="8E7DD2"/>
          </a:solidFill>
          <a:ln/>
        </p:spPr>
        <p:txBody>
          <a:bodyPr/>
          <a:lstStyle/>
          <a:p>
            <a:endParaRPr lang="en-US"/>
          </a:p>
        </p:txBody>
      </p:sp>
      <p:sp>
        <p:nvSpPr>
          <p:cNvPr id="42" name="Text 40"/>
          <p:cNvSpPr/>
          <p:nvPr/>
        </p:nvSpPr>
        <p:spPr>
          <a:xfrm>
            <a:off x="7104888" y="3090672"/>
            <a:ext cx="301752" cy="301752"/>
          </a:xfrm>
          <a:prstGeom prst="rect">
            <a:avLst/>
          </a:prstGeom>
          <a:noFill/>
          <a:ln/>
        </p:spPr>
        <p:txBody>
          <a:bodyPr wrap="square" lIns="0" tIns="0" rIns="0" bIns="0" rtlCol="0" anchor="ctr"/>
          <a:lstStyle/>
          <a:p>
            <a:pPr marL="0" indent="0" algn="ctr">
              <a:buNone/>
            </a:pPr>
            <a:r>
              <a:rPr lang="en-US" sz="900" b="1">
                <a:solidFill>
                  <a:srgbClr val="FFFFFF"/>
                </a:solidFill>
                <a:latin typeface="Viedoc Monument Grotesk" pitchFamily="34" charset="0"/>
                <a:ea typeface="Viedoc Monument Grotesk" pitchFamily="34" charset="-122"/>
                <a:cs typeface="Viedoc Monument Grotesk" pitchFamily="34" charset="-120"/>
              </a:rPr>
              <a:t>1</a:t>
            </a:r>
            <a:endParaRPr lang="en-US" sz="900"/>
          </a:p>
        </p:txBody>
      </p:sp>
      <p:sp>
        <p:nvSpPr>
          <p:cNvPr id="43" name="Text 41"/>
          <p:cNvSpPr/>
          <p:nvPr/>
        </p:nvSpPr>
        <p:spPr>
          <a:xfrm>
            <a:off x="7525512" y="3072384"/>
            <a:ext cx="4044391" cy="566928"/>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QA Automation — Ganesh</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Prepares Stage, runs the browser matrix, completes the manual validation, assembles the evidence.</a:t>
            </a:r>
            <a:endParaRPr lang="en-US" sz="1050"/>
          </a:p>
        </p:txBody>
      </p:sp>
      <p:sp>
        <p:nvSpPr>
          <p:cNvPr id="44" name="Shape 42"/>
          <p:cNvSpPr/>
          <p:nvPr/>
        </p:nvSpPr>
        <p:spPr>
          <a:xfrm>
            <a:off x="7255764" y="4096512"/>
            <a:ext cx="0" cy="384048"/>
          </a:xfrm>
          <a:prstGeom prst="line">
            <a:avLst/>
          </a:prstGeom>
          <a:noFill/>
          <a:ln w="15875">
            <a:solidFill>
              <a:srgbClr val="E6E6E6"/>
            </a:solidFill>
            <a:prstDash val="solid"/>
          </a:ln>
        </p:spPr>
        <p:txBody>
          <a:bodyPr/>
          <a:lstStyle/>
          <a:p>
            <a:endParaRPr lang="en-US"/>
          </a:p>
        </p:txBody>
      </p:sp>
      <p:sp>
        <p:nvSpPr>
          <p:cNvPr id="45" name="Shape 43"/>
          <p:cNvSpPr/>
          <p:nvPr/>
        </p:nvSpPr>
        <p:spPr>
          <a:xfrm>
            <a:off x="7104888" y="3803904"/>
            <a:ext cx="301752" cy="301752"/>
          </a:xfrm>
          <a:prstGeom prst="ellipse">
            <a:avLst/>
          </a:prstGeom>
          <a:solidFill>
            <a:srgbClr val="8E7DD2"/>
          </a:solidFill>
          <a:ln/>
        </p:spPr>
        <p:txBody>
          <a:bodyPr/>
          <a:lstStyle/>
          <a:p>
            <a:endParaRPr lang="en-US"/>
          </a:p>
        </p:txBody>
      </p:sp>
      <p:sp>
        <p:nvSpPr>
          <p:cNvPr id="46" name="Text 44"/>
          <p:cNvSpPr/>
          <p:nvPr/>
        </p:nvSpPr>
        <p:spPr>
          <a:xfrm>
            <a:off x="7104888" y="3803904"/>
            <a:ext cx="301752" cy="301752"/>
          </a:xfrm>
          <a:prstGeom prst="rect">
            <a:avLst/>
          </a:prstGeom>
          <a:noFill/>
          <a:ln/>
        </p:spPr>
        <p:txBody>
          <a:bodyPr wrap="square" lIns="0" tIns="0" rIns="0" bIns="0" rtlCol="0" anchor="ctr"/>
          <a:lstStyle/>
          <a:p>
            <a:pPr marL="0" indent="0" algn="ctr">
              <a:buNone/>
            </a:pPr>
            <a:r>
              <a:rPr lang="en-US" sz="900" b="1">
                <a:solidFill>
                  <a:srgbClr val="FFFFFF"/>
                </a:solidFill>
                <a:latin typeface="Viedoc Monument Grotesk" pitchFamily="34" charset="0"/>
                <a:ea typeface="Viedoc Monument Grotesk" pitchFamily="34" charset="-122"/>
                <a:cs typeface="Viedoc Monument Grotesk" pitchFamily="34" charset="-120"/>
              </a:rPr>
              <a:t>2</a:t>
            </a:r>
            <a:endParaRPr lang="en-US" sz="900"/>
          </a:p>
        </p:txBody>
      </p:sp>
      <p:sp>
        <p:nvSpPr>
          <p:cNvPr id="47" name="Text 45"/>
          <p:cNvSpPr/>
          <p:nvPr/>
        </p:nvSpPr>
        <p:spPr>
          <a:xfrm>
            <a:off x="7525512" y="3785616"/>
            <a:ext cx="4044391" cy="566928"/>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Yupei</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Validates the Results document and sends it for signing.</a:t>
            </a:r>
            <a:endParaRPr lang="en-US" sz="1050"/>
          </a:p>
        </p:txBody>
      </p:sp>
      <p:sp>
        <p:nvSpPr>
          <p:cNvPr id="48" name="Shape 46"/>
          <p:cNvSpPr/>
          <p:nvPr/>
        </p:nvSpPr>
        <p:spPr>
          <a:xfrm>
            <a:off x="7104888" y="4517136"/>
            <a:ext cx="301752" cy="301752"/>
          </a:xfrm>
          <a:prstGeom prst="ellipse">
            <a:avLst/>
          </a:prstGeom>
          <a:solidFill>
            <a:srgbClr val="7DC6A0"/>
          </a:solidFill>
          <a:ln/>
        </p:spPr>
        <p:txBody>
          <a:bodyPr/>
          <a:lstStyle/>
          <a:p>
            <a:endParaRPr lang="en-US"/>
          </a:p>
        </p:txBody>
      </p:sp>
      <p:sp>
        <p:nvSpPr>
          <p:cNvPr id="49" name="Text 47"/>
          <p:cNvSpPr/>
          <p:nvPr/>
        </p:nvSpPr>
        <p:spPr>
          <a:xfrm>
            <a:off x="7104888" y="4517136"/>
            <a:ext cx="301752" cy="301752"/>
          </a:xfrm>
          <a:prstGeom prst="rect">
            <a:avLst/>
          </a:prstGeom>
          <a:noFill/>
          <a:ln/>
        </p:spPr>
        <p:txBody>
          <a:bodyPr wrap="square" lIns="0" tIns="0" rIns="0" bIns="0" rtlCol="0" anchor="ctr"/>
          <a:lstStyle/>
          <a:p>
            <a:pPr marL="0" indent="0" algn="ctr">
              <a:buNone/>
            </a:pPr>
            <a:r>
              <a:rPr lang="en-US" sz="900" b="1">
                <a:solidFill>
                  <a:srgbClr val="FFFFFF"/>
                </a:solidFill>
                <a:latin typeface="Viedoc Monument Grotesk" pitchFamily="34" charset="0"/>
                <a:ea typeface="Viedoc Monument Grotesk" pitchFamily="34" charset="-122"/>
                <a:cs typeface="Viedoc Monument Grotesk" pitchFamily="34" charset="-120"/>
              </a:rPr>
              <a:t>3</a:t>
            </a:r>
            <a:endParaRPr lang="en-US" sz="900"/>
          </a:p>
        </p:txBody>
      </p:sp>
      <p:sp>
        <p:nvSpPr>
          <p:cNvPr id="50" name="Text 48"/>
          <p:cNvSpPr/>
          <p:nvPr/>
        </p:nvSpPr>
        <p:spPr>
          <a:xfrm>
            <a:off x="7525512" y="4498848"/>
            <a:ext cx="4044391" cy="566928"/>
          </a:xfrm>
          <a:prstGeom prst="rect">
            <a:avLst/>
          </a:prstGeom>
          <a:noFill/>
          <a:ln/>
        </p:spPr>
        <p:txBody>
          <a:bodyPr wrap="square" lIns="0" tIns="0" rIns="0" bIns="0" rtlCol="0" anchor="t"/>
          <a:lstStyle/>
          <a:p>
            <a:pPr marL="0" indent="0">
              <a:lnSpc>
                <a:spcPct val="110000"/>
              </a:lnSpc>
              <a:buNone/>
            </a:pPr>
            <a:r>
              <a:rPr lang="en-US" sz="1050" b="1">
                <a:solidFill>
                  <a:srgbClr val="000000"/>
                </a:solidFill>
                <a:latin typeface="Viedoc Monument Grotesk" pitchFamily="34" charset="0"/>
                <a:ea typeface="Viedoc Monument Grotesk" pitchFamily="34" charset="-122"/>
                <a:cs typeface="Viedoc Monument Grotesk" pitchFamily="34" charset="-120"/>
              </a:rPr>
              <a:t>Signed — release qualified</a:t>
            </a:r>
            <a:endParaRPr lang="en-US" sz="1050"/>
          </a:p>
          <a:p>
            <a:pPr marL="0" indent="0">
              <a:lnSpc>
                <a:spcPct val="110000"/>
              </a:lnSpc>
              <a:buNone/>
            </a:pPr>
            <a:r>
              <a:rPr lang="en-US" sz="850">
                <a:solidFill>
                  <a:srgbClr val="6B6B6B"/>
                </a:solidFill>
                <a:latin typeface="Viedoc Monument Grotesk" pitchFamily="34" charset="0"/>
                <a:ea typeface="Viedoc Monument Grotesk" pitchFamily="34" charset="-122"/>
                <a:cs typeface="Viedoc Monument Grotesk" pitchFamily="34" charset="-120"/>
              </a:rPr>
              <a:t>The signature closes the cycle for that version on Stage.</a:t>
            </a:r>
            <a:endParaRPr lang="en-US" sz="1050"/>
          </a:p>
        </p:txBody>
      </p:sp>
      <p:sp>
        <p:nvSpPr>
          <p:cNvPr id="51" name="Shape 49"/>
          <p:cNvSpPr/>
          <p:nvPr/>
        </p:nvSpPr>
        <p:spPr>
          <a:xfrm>
            <a:off x="7104888" y="5248656"/>
            <a:ext cx="4492447" cy="822960"/>
          </a:xfrm>
          <a:prstGeom prst="rect">
            <a:avLst/>
          </a:prstGeom>
          <a:solidFill>
            <a:srgbClr val="FAF7F0"/>
          </a:solidFill>
          <a:ln w="9525">
            <a:solidFill>
              <a:srgbClr val="F2F0EC"/>
            </a:solidFill>
            <a:prstDash val="solid"/>
          </a:ln>
        </p:spPr>
        <p:txBody>
          <a:bodyPr/>
          <a:lstStyle/>
          <a:p>
            <a:endParaRPr lang="en-US"/>
          </a:p>
        </p:txBody>
      </p:sp>
      <p:sp>
        <p:nvSpPr>
          <p:cNvPr id="52" name="Shape 50"/>
          <p:cNvSpPr/>
          <p:nvPr/>
        </p:nvSpPr>
        <p:spPr>
          <a:xfrm>
            <a:off x="7104888" y="5248656"/>
            <a:ext cx="29261" cy="822960"/>
          </a:xfrm>
          <a:prstGeom prst="rect">
            <a:avLst/>
          </a:prstGeom>
          <a:solidFill>
            <a:srgbClr val="F4B43D"/>
          </a:solidFill>
          <a:ln/>
        </p:spPr>
        <p:txBody>
          <a:bodyPr/>
          <a:lstStyle/>
          <a:p>
            <a:endParaRPr lang="en-US"/>
          </a:p>
        </p:txBody>
      </p:sp>
      <p:sp>
        <p:nvSpPr>
          <p:cNvPr id="53" name="Text 51"/>
          <p:cNvSpPr/>
          <p:nvPr/>
        </p:nvSpPr>
        <p:spPr>
          <a:xfrm>
            <a:off x="7251192" y="5294376"/>
            <a:ext cx="4236415" cy="731520"/>
          </a:xfrm>
          <a:prstGeom prst="rect">
            <a:avLst/>
          </a:prstGeom>
          <a:noFill/>
          <a:ln/>
        </p:spPr>
        <p:txBody>
          <a:bodyPr wrap="square" lIns="0" tIns="0" rIns="0" bIns="0" rtlCol="0" anchor="ctr"/>
          <a:lstStyle/>
          <a:p>
            <a:pPr marL="0" indent="0">
              <a:lnSpc>
                <a:spcPct val="112000"/>
              </a:lnSpc>
              <a:buNone/>
            </a:pPr>
            <a:r>
              <a:rPr lang="en-US" sz="850" b="1">
                <a:solidFill>
                  <a:srgbClr val="000000"/>
                </a:solidFill>
                <a:latin typeface="Viedoc Monument Grotesk" pitchFamily="34" charset="0"/>
                <a:ea typeface="Viedoc Monument Grotesk" pitchFamily="34" charset="-122"/>
                <a:cs typeface="Viedoc Monument Grotesk" pitchFamily="34" charset="-120"/>
              </a:rPr>
              <a:t>Where the time goes. </a:t>
            </a:r>
            <a:r>
              <a:rPr lang="en-US" sz="850">
                <a:solidFill>
                  <a:srgbClr val="6B6B6B"/>
                </a:solidFill>
                <a:latin typeface="Viedoc Monument Grotesk" pitchFamily="34" charset="0"/>
                <a:ea typeface="Viedoc Monument Grotesk" pitchFamily="34" charset="-122"/>
                <a:cs typeface="Viedoc Monument Grotesk" pitchFamily="34" charset="-120"/>
              </a:rPr>
              <a:t>13.5 to 15 hours of pipeline time, the browsers running one after the next. The eTMF and Reports validation runs alongside it, by hand. Study creation and the Stage pre-requisites come first and are manual too. Any real failure sends the cycle back to fix-and-re-run.</a:t>
            </a:r>
            <a:endParaRPr lang="en-US" sz="850"/>
          </a:p>
        </p:txBody>
      </p:sp>
    </p:spTree>
    <p:extLst>
      <p:ext uri="{BB962C8B-B14F-4D97-AF65-F5344CB8AC3E}">
        <p14:creationId xmlns:p14="http://schemas.microsoft.com/office/powerpoint/2010/main" val="42872256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971800"/>
            <a:ext cx="6766560" cy="1371600"/>
          </a:xfrm>
        </p:spPr>
        <p:txBody>
          <a:bodyPr/>
          <a:lstStyle/>
          <a:p>
            <a:r>
              <a:rPr sz="3400">
                <a:solidFill>
                  <a:srgbClr val="000000"/>
                </a:solidFill>
                <a:latin typeface="Viedoc Monument Grotesk"/>
              </a:rPr>
              <a:t>Release notes and </a:t>
            </a:r>
            <a:r>
              <a:rPr lang="en-US" sz="3400">
                <a:solidFill>
                  <a:srgbClr val="000000"/>
                </a:solidFill>
                <a:latin typeface="Viedoc Monument Grotesk"/>
              </a:rPr>
              <a:t> Viedoc Learning</a:t>
            </a:r>
            <a:endParaRPr sz="3400">
              <a:solidFill>
                <a:srgbClr val="000000"/>
              </a:solidFill>
              <a:latin typeface="Viedoc Monument Grotesk"/>
            </a:endParaRPr>
          </a:p>
        </p:txBody>
      </p:sp>
      <p:sp>
        <p:nvSpPr>
          <p:cNvPr id="3" name="TextBox 2"/>
          <p:cNvSpPr txBox="1"/>
          <p:nvPr/>
        </p:nvSpPr>
        <p:spPr>
          <a:xfrm>
            <a:off x="384048" y="2377440"/>
            <a:ext cx="2743200" cy="640080"/>
          </a:xfrm>
          <a:prstGeom prst="rect">
            <a:avLst/>
          </a:prstGeom>
          <a:noFill/>
        </p:spPr>
        <p:txBody>
          <a:bodyPr wrap="square" lIns="0" tIns="0" rIns="0" bIns="0">
            <a:spAutoFit/>
          </a:bodyPr>
          <a:lstStyle/>
          <a:p>
            <a:pPr algn="l">
              <a:spcBef>
                <a:spcPts val="0"/>
              </a:spcBef>
              <a:spcAft>
                <a:spcPts val="0"/>
              </a:spcAft>
            </a:pPr>
            <a:r>
              <a:rPr sz="2600" b="1">
                <a:solidFill>
                  <a:srgbClr val="000000"/>
                </a:solidFill>
                <a:latin typeface="Viedoc Monument Grotesk"/>
              </a:rPr>
              <a:t>10</a:t>
            </a:r>
          </a:p>
        </p:txBody>
      </p:sp>
      <p:sp>
        <p:nvSpPr>
          <p:cNvPr id="4" name="TextBox 3"/>
          <p:cNvSpPr txBox="1"/>
          <p:nvPr/>
        </p:nvSpPr>
        <p:spPr>
          <a:xfrm>
            <a:off x="384048" y="4480560"/>
            <a:ext cx="7772400" cy="365760"/>
          </a:xfrm>
          <a:prstGeom prst="rect">
            <a:avLst/>
          </a:prstGeom>
          <a:noFill/>
        </p:spPr>
        <p:txBody>
          <a:bodyPr wrap="square" lIns="0" tIns="0" rIns="0" bIns="0">
            <a:spAutoFit/>
          </a:bodyPr>
          <a:lstStyle/>
          <a:p>
            <a:pPr algn="l">
              <a:spcBef>
                <a:spcPts val="0"/>
              </a:spcBef>
              <a:spcAft>
                <a:spcPts val="0"/>
              </a:spcAft>
            </a:pPr>
            <a:r>
              <a:rPr sz="1500" b="1">
                <a:solidFill>
                  <a:srgbClr val="000000"/>
                </a:solidFill>
                <a:latin typeface="Viedoc Monument Grotesk"/>
              </a:rPr>
              <a:t>Rachel McKie   ·   10 min</a:t>
            </a:r>
          </a:p>
        </p:txBody>
      </p:sp>
      <p:sp>
        <p:nvSpPr>
          <p:cNvPr id="5" name="TextBox 4"/>
          <p:cNvSpPr txBox="1"/>
          <p:nvPr/>
        </p:nvSpPr>
        <p:spPr>
          <a:xfrm>
            <a:off x="384048" y="4937760"/>
            <a:ext cx="6949440" cy="206851"/>
          </a:xfrm>
          <a:prstGeom prst="rect">
            <a:avLst/>
          </a:prstGeom>
          <a:noFill/>
        </p:spPr>
        <p:txBody>
          <a:bodyPr wrap="square" lIns="0" tIns="0" rIns="0" bIns="0" anchor="t">
            <a:spAutoFit/>
          </a:bodyPr>
          <a:lstStyle/>
          <a:p>
            <a:pPr algn="l">
              <a:lnSpc>
                <a:spcPct val="120000"/>
              </a:lnSpc>
              <a:spcBef>
                <a:spcPts val="0"/>
              </a:spcBef>
              <a:spcAft>
                <a:spcPts val="0"/>
              </a:spcAft>
            </a:pPr>
            <a:r>
              <a:rPr sz="1200" b="0">
                <a:solidFill>
                  <a:srgbClr val="5E5E5E"/>
                </a:solidFill>
                <a:latin typeface="Viedoc Monument Grotesk"/>
              </a:rPr>
              <a:t>How release notes, </a:t>
            </a:r>
            <a:r>
              <a:rPr lang="en-US" sz="1200">
                <a:solidFill>
                  <a:srgbClr val="5E5E5E"/>
                </a:solidFill>
                <a:latin typeface="Viedoc Monument Grotesk"/>
              </a:rPr>
              <a:t>Learning</a:t>
            </a:r>
            <a:r>
              <a:rPr sz="1200" b="0">
                <a:solidFill>
                  <a:srgbClr val="5E5E5E"/>
                </a:solidFill>
                <a:latin typeface="Viedoc Monument Grotesk"/>
              </a:rPr>
              <a:t> and the surrounding release support work get done.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9BFA-44C3-1400-44DC-5328728EAFF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835849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DBCC1-CE40-FB76-56AE-AB788916796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6040324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979B-D7D1-00BB-9E73-4EEB602C43E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47352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758952"/>
            <a:ext cx="10835640" cy="475488"/>
          </a:xfrm>
          <a:prstGeom prst="rect">
            <a:avLst/>
          </a:prstGeom>
          <a:noFill/>
          <a:ln/>
        </p:spPr>
        <p:txBody>
          <a:bodyPr wrap="square" lIns="0" tIns="0" rIns="0" bIns="0" rtlCol="0" anchor="ctr">
            <a:normAutofit/>
          </a:bodyPr>
          <a:lstStyle/>
          <a:p>
            <a:pPr marL="0" indent="0">
              <a:buNone/>
            </a:pPr>
            <a:r>
              <a:rPr lang="en-US" sz="2700">
                <a:solidFill>
                  <a:srgbClr val="000000"/>
                </a:solidFill>
                <a:latin typeface="Viedoc Monument Grotesk" panose="020B0504040202060203" pitchFamily="34" charset="0"/>
                <a:ea typeface="Viedoc Monument Grotesk" pitchFamily="34" charset="-122"/>
                <a:cs typeface="Viedoc Monument Grotesk" pitchFamily="34" charset="-120"/>
              </a:rPr>
              <a:t>Two core workflows, one shared support layer</a:t>
            </a:r>
            <a:endParaRPr lang="en-US" sz="2700">
              <a:latin typeface="Viedoc Monument Grotesk" panose="020B0504040202060203" pitchFamily="34" charset="0"/>
            </a:endParaRPr>
          </a:p>
        </p:txBody>
      </p:sp>
      <p:sp>
        <p:nvSpPr>
          <p:cNvPr id="3" name="Text 1"/>
          <p:cNvSpPr/>
          <p:nvPr/>
        </p:nvSpPr>
        <p:spPr>
          <a:xfrm>
            <a:off x="457200" y="1298448"/>
            <a:ext cx="11155680" cy="219456"/>
          </a:xfrm>
          <a:prstGeom prst="rect">
            <a:avLst/>
          </a:prstGeom>
          <a:noFill/>
          <a:ln/>
        </p:spPr>
        <p:txBody>
          <a:bodyPr wrap="square" lIns="0" tIns="0" rIns="0" bIns="0" rtlCol="0" anchor="ctr"/>
          <a:lstStyle/>
          <a:p>
            <a:pPr marL="0" indent="0">
              <a:buNone/>
            </a:pPr>
            <a:r>
              <a:rPr lang="en-US" sz="1400">
                <a:latin typeface="Viedoc Monument Grotesk"/>
                <a:ea typeface="Viedoc Monument Grotesk" pitchFamily="34" charset="-122"/>
                <a:cs typeface="Viedoc Monument Grotesk" pitchFamily="34" charset="-120"/>
              </a:rPr>
              <a:t>Release Notes and Viedoc Learning are the visible outputs. The layer underneath is what keeps both moving through a release</a:t>
            </a:r>
            <a:r>
              <a:rPr lang="en-US" sz="1150">
                <a:latin typeface="Viedoc Monument Grotesk"/>
                <a:ea typeface="Viedoc Monument Grotesk" pitchFamily="34" charset="-122"/>
                <a:cs typeface="Viedoc Monument Grotesk" pitchFamily="34" charset="-120"/>
              </a:rPr>
              <a:t>.</a:t>
            </a:r>
            <a:endParaRPr lang="en-US" sz="1150">
              <a:latin typeface="Viedoc Monument Grotesk"/>
            </a:endParaRPr>
          </a:p>
        </p:txBody>
      </p:sp>
      <p:sp>
        <p:nvSpPr>
          <p:cNvPr id="4" name="Shape 2"/>
          <p:cNvSpPr/>
          <p:nvPr/>
        </p:nvSpPr>
        <p:spPr>
          <a:xfrm>
            <a:off x="438912" y="1755648"/>
            <a:ext cx="1261872" cy="1060704"/>
          </a:xfrm>
          <a:prstGeom prst="roundRect">
            <a:avLst>
              <a:gd name="adj" fmla="val 6897"/>
            </a:avLst>
          </a:prstGeom>
          <a:solidFill>
            <a:srgbClr val="82C7A4"/>
          </a:solidFill>
          <a:ln w="12700">
            <a:solidFill>
              <a:srgbClr val="82C7A4"/>
            </a:solidFill>
            <a:prstDash val="solid"/>
          </a:ln>
        </p:spPr>
        <p:txBody>
          <a:bodyPr/>
          <a:lstStyle/>
          <a:p>
            <a:endParaRPr lang="en-SE">
              <a:latin typeface="Viedoc Monument Grotesk" panose="020B0504040202060203" pitchFamily="34" charset="0"/>
            </a:endParaRPr>
          </a:p>
        </p:txBody>
      </p:sp>
      <p:sp>
        <p:nvSpPr>
          <p:cNvPr id="5" name="Text 3"/>
          <p:cNvSpPr/>
          <p:nvPr/>
        </p:nvSpPr>
        <p:spPr>
          <a:xfrm>
            <a:off x="585216" y="1901952"/>
            <a:ext cx="1280160" cy="502920"/>
          </a:xfrm>
          <a:prstGeom prst="rect">
            <a:avLst/>
          </a:prstGeom>
          <a:noFill/>
          <a:ln/>
        </p:spPr>
        <p:txBody>
          <a:bodyPr wrap="square" lIns="0" tIns="0" rIns="0" bIns="0" rtlCol="0" anchor="ctr"/>
          <a:lstStyle/>
          <a:p>
            <a:pPr marL="0" indent="0" algn="l">
              <a:buNone/>
            </a:pPr>
            <a:r>
              <a:rPr lang="en-US" sz="1600" b="1">
                <a:solidFill>
                  <a:srgbClr val="000000"/>
                </a:solidFill>
                <a:latin typeface="Viedoc Monument Grotesk" panose="020B0504040202060203" pitchFamily="34" charset="0"/>
                <a:ea typeface="Viedoc Monument Grotesk" pitchFamily="34" charset="-122"/>
                <a:cs typeface="Viedoc Monument Grotesk" pitchFamily="34" charset="-120"/>
              </a:rPr>
              <a:t>Release Notes</a:t>
            </a:r>
            <a:endParaRPr lang="en-US" sz="1600">
              <a:latin typeface="Viedoc Monument Grotesk" panose="020B0504040202060203" pitchFamily="34" charset="0"/>
            </a:endParaRPr>
          </a:p>
        </p:txBody>
      </p:sp>
      <p:sp>
        <p:nvSpPr>
          <p:cNvPr id="7" name="Shape 5"/>
          <p:cNvSpPr/>
          <p:nvPr/>
        </p:nvSpPr>
        <p:spPr>
          <a:xfrm>
            <a:off x="1874520" y="1755648"/>
            <a:ext cx="2148840" cy="1060704"/>
          </a:xfrm>
          <a:prstGeom prst="roundRect">
            <a:avLst>
              <a:gd name="adj" fmla="val 5172"/>
            </a:avLst>
          </a:prstGeom>
          <a:solidFill>
            <a:srgbClr val="E9F6F0"/>
          </a:solidFill>
          <a:ln w="12700">
            <a:solidFill>
              <a:srgbClr val="E9F6F0"/>
            </a:solidFill>
            <a:prstDash val="solid"/>
          </a:ln>
          <a:effectLst>
            <a:outerShdw blurRad="15240" dist="6350" dir="2700000" algn="bl" rotWithShape="0">
              <a:srgbClr val="000000">
                <a:alpha val="12000"/>
              </a:srgbClr>
            </a:outerShdw>
          </a:effectLst>
        </p:spPr>
        <p:txBody>
          <a:bodyPr/>
          <a:lstStyle/>
          <a:p>
            <a:endParaRPr lang="en-SE" sz="1400"/>
          </a:p>
        </p:txBody>
      </p:sp>
      <p:sp>
        <p:nvSpPr>
          <p:cNvPr id="8" name="Text 6"/>
          <p:cNvSpPr/>
          <p:nvPr/>
        </p:nvSpPr>
        <p:spPr>
          <a:xfrm>
            <a:off x="1984248" y="184708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01</a:t>
            </a:r>
            <a:endParaRPr lang="en-US" sz="850"/>
          </a:p>
        </p:txBody>
      </p:sp>
      <p:sp>
        <p:nvSpPr>
          <p:cNvPr id="9" name="Text 7"/>
          <p:cNvSpPr/>
          <p:nvPr/>
        </p:nvSpPr>
        <p:spPr>
          <a:xfrm>
            <a:off x="1984248" y="2039112"/>
            <a:ext cx="1929384" cy="201168"/>
          </a:xfrm>
          <a:prstGeom prst="rect">
            <a:avLst/>
          </a:prstGeom>
          <a:noFill/>
          <a:ln/>
        </p:spPr>
        <p:txBody>
          <a:bodyPr wrap="square" lIns="0" tIns="0" rIns="0" bIns="0" rtlCol="0" anchor="ctr"/>
          <a:lstStyle/>
          <a:p>
            <a:pPr marL="0" indent="0">
              <a:buNone/>
            </a:pPr>
            <a:r>
              <a:rPr lang="en-US" sz="1200" b="1">
                <a:solidFill>
                  <a:srgbClr val="171717"/>
                </a:solidFill>
                <a:ea typeface="Viedoc Monument Grotesk" pitchFamily="34" charset="-122"/>
                <a:cs typeface="Viedoc Monument Grotesk" pitchFamily="34" charset="-120"/>
              </a:rPr>
              <a:t>INPUT &amp; REVIEW</a:t>
            </a:r>
            <a:endParaRPr lang="en-US" sz="1200"/>
          </a:p>
        </p:txBody>
      </p:sp>
      <p:sp>
        <p:nvSpPr>
          <p:cNvPr id="10" name="Text 8"/>
          <p:cNvSpPr/>
          <p:nvPr/>
        </p:nvSpPr>
        <p:spPr>
          <a:xfrm>
            <a:off x="1984248" y="2295144"/>
            <a:ext cx="1929384" cy="420624"/>
          </a:xfrm>
          <a:prstGeom prst="rect">
            <a:avLst/>
          </a:prstGeom>
          <a:noFill/>
          <a:ln/>
        </p:spPr>
        <p:txBody>
          <a:bodyPr wrap="square" lIns="0" tIns="0" rIns="0" bIns="0" rtlCol="0" anchor="t">
            <a:noAutofit/>
          </a:bodyPr>
          <a:lstStyle/>
          <a:p>
            <a:pPr marL="0" indent="0">
              <a:buNone/>
            </a:pPr>
            <a:r>
              <a:rPr lang="en-US" sz="1050">
                <a:solidFill>
                  <a:srgbClr val="171717"/>
                </a:solidFill>
                <a:ea typeface="Viedoc Monument Grotesk" pitchFamily="34" charset="-122"/>
                <a:cs typeface="Viedoc Monument Grotesk" pitchFamily="34" charset="-120"/>
              </a:rPr>
              <a:t>Azure ( &amp; other sources) input  →  review / edit</a:t>
            </a:r>
            <a:endParaRPr lang="en-US" sz="1050"/>
          </a:p>
        </p:txBody>
      </p:sp>
      <p:sp>
        <p:nvSpPr>
          <p:cNvPr id="11" name="Shape 9"/>
          <p:cNvSpPr/>
          <p:nvPr/>
        </p:nvSpPr>
        <p:spPr>
          <a:xfrm>
            <a:off x="4343400" y="1755648"/>
            <a:ext cx="2148840" cy="1060704"/>
          </a:xfrm>
          <a:prstGeom prst="roundRect">
            <a:avLst>
              <a:gd name="adj" fmla="val 5172"/>
            </a:avLst>
          </a:prstGeom>
          <a:solidFill>
            <a:srgbClr val="E9F6F0"/>
          </a:solidFill>
          <a:ln w="12700">
            <a:solidFill>
              <a:srgbClr val="E9F6F0"/>
            </a:solidFill>
            <a:prstDash val="solid"/>
          </a:ln>
          <a:effectLst>
            <a:outerShdw blurRad="15240" dist="6350" dir="2700000" algn="bl" rotWithShape="0">
              <a:srgbClr val="000000">
                <a:alpha val="12000"/>
              </a:srgbClr>
            </a:outerShdw>
          </a:effectLst>
        </p:spPr>
        <p:txBody>
          <a:bodyPr/>
          <a:lstStyle/>
          <a:p>
            <a:endParaRPr lang="en-SE"/>
          </a:p>
        </p:txBody>
      </p:sp>
      <p:sp>
        <p:nvSpPr>
          <p:cNvPr id="12" name="Text 10"/>
          <p:cNvSpPr/>
          <p:nvPr/>
        </p:nvSpPr>
        <p:spPr>
          <a:xfrm>
            <a:off x="4453128" y="184708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02</a:t>
            </a:r>
            <a:endParaRPr lang="en-US" sz="850"/>
          </a:p>
        </p:txBody>
      </p:sp>
      <p:sp>
        <p:nvSpPr>
          <p:cNvPr id="13" name="Text 11"/>
          <p:cNvSpPr/>
          <p:nvPr/>
        </p:nvSpPr>
        <p:spPr>
          <a:xfrm>
            <a:off x="4453128" y="2039112"/>
            <a:ext cx="1929384" cy="201168"/>
          </a:xfrm>
          <a:prstGeom prst="rect">
            <a:avLst/>
          </a:prstGeom>
          <a:noFill/>
          <a:ln/>
        </p:spPr>
        <p:txBody>
          <a:bodyPr wrap="square" lIns="0" tIns="0" rIns="0" bIns="0" rtlCol="0" anchor="ctr"/>
          <a:lstStyle/>
          <a:p>
            <a:pPr marL="0" indent="0">
              <a:buNone/>
            </a:pPr>
            <a:r>
              <a:rPr lang="en-US" sz="1200" b="1">
                <a:solidFill>
                  <a:srgbClr val="171717"/>
                </a:solidFill>
                <a:ea typeface="Viedoc Monument Grotesk" pitchFamily="34" charset="-122"/>
                <a:cs typeface="Viedoc Monument Grotesk" pitchFamily="34" charset="-120"/>
              </a:rPr>
              <a:t>PRODUCE</a:t>
            </a:r>
            <a:endParaRPr lang="en-US" sz="1200"/>
          </a:p>
        </p:txBody>
      </p:sp>
      <p:sp>
        <p:nvSpPr>
          <p:cNvPr id="14" name="Text 12"/>
          <p:cNvSpPr/>
          <p:nvPr/>
        </p:nvSpPr>
        <p:spPr>
          <a:xfrm>
            <a:off x="4453128" y="2295144"/>
            <a:ext cx="1929384" cy="420624"/>
          </a:xfrm>
          <a:prstGeom prst="rect">
            <a:avLst/>
          </a:prstGeom>
          <a:noFill/>
          <a:ln/>
        </p:spPr>
        <p:txBody>
          <a:bodyPr wrap="square" lIns="0" tIns="0" rIns="0" bIns="0" rtlCol="0" anchor="t">
            <a:noAutofit/>
          </a:bodyPr>
          <a:lstStyle/>
          <a:p>
            <a:pPr marL="0" indent="0">
              <a:buNone/>
            </a:pPr>
            <a:r>
              <a:rPr lang="en-US" sz="1050">
                <a:solidFill>
                  <a:srgbClr val="171717"/>
                </a:solidFill>
                <a:ea typeface="Viedoc Monument Grotesk" pitchFamily="34" charset="-122"/>
                <a:cs typeface="Viedoc Monument Grotesk" pitchFamily="34" charset="-120"/>
              </a:rPr>
              <a:t>RN report  →  PDF formatting</a:t>
            </a:r>
            <a:endParaRPr lang="en-US" sz="1050"/>
          </a:p>
        </p:txBody>
      </p:sp>
      <p:sp>
        <p:nvSpPr>
          <p:cNvPr id="15" name="Shape 13"/>
          <p:cNvSpPr/>
          <p:nvPr/>
        </p:nvSpPr>
        <p:spPr>
          <a:xfrm>
            <a:off x="6812280" y="1755648"/>
            <a:ext cx="2148840" cy="1060704"/>
          </a:xfrm>
          <a:prstGeom prst="roundRect">
            <a:avLst>
              <a:gd name="adj" fmla="val 5172"/>
            </a:avLst>
          </a:prstGeom>
          <a:solidFill>
            <a:srgbClr val="E9F6F0"/>
          </a:solidFill>
          <a:ln w="12700">
            <a:solidFill>
              <a:srgbClr val="E9F6F0"/>
            </a:solidFill>
            <a:prstDash val="solid"/>
          </a:ln>
          <a:effectLst>
            <a:outerShdw blurRad="15240" dist="6350" dir="2700000" algn="bl" rotWithShape="0">
              <a:srgbClr val="000000">
                <a:alpha val="12000"/>
              </a:srgbClr>
            </a:outerShdw>
          </a:effectLst>
        </p:spPr>
        <p:txBody>
          <a:bodyPr/>
          <a:lstStyle/>
          <a:p>
            <a:endParaRPr lang="en-SE"/>
          </a:p>
        </p:txBody>
      </p:sp>
      <p:sp>
        <p:nvSpPr>
          <p:cNvPr id="16" name="Text 14"/>
          <p:cNvSpPr/>
          <p:nvPr/>
        </p:nvSpPr>
        <p:spPr>
          <a:xfrm>
            <a:off x="6922008" y="184708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03</a:t>
            </a:r>
            <a:endParaRPr lang="en-US" sz="850"/>
          </a:p>
        </p:txBody>
      </p:sp>
      <p:sp>
        <p:nvSpPr>
          <p:cNvPr id="17" name="Text 15"/>
          <p:cNvSpPr/>
          <p:nvPr/>
        </p:nvSpPr>
        <p:spPr>
          <a:xfrm>
            <a:off x="6922008" y="2039112"/>
            <a:ext cx="1929384" cy="201168"/>
          </a:xfrm>
          <a:prstGeom prst="rect">
            <a:avLst/>
          </a:prstGeom>
          <a:noFill/>
          <a:ln/>
        </p:spPr>
        <p:txBody>
          <a:bodyPr wrap="square" lIns="0" tIns="0" rIns="0" bIns="0" rtlCol="0" anchor="ctr"/>
          <a:lstStyle/>
          <a:p>
            <a:pPr marL="0" indent="0">
              <a:buNone/>
            </a:pPr>
            <a:r>
              <a:rPr lang="en-US" sz="1200" b="1">
                <a:solidFill>
                  <a:srgbClr val="171717"/>
                </a:solidFill>
                <a:ea typeface="Viedoc Monument Grotesk" pitchFamily="34" charset="-122"/>
                <a:cs typeface="Viedoc Monument Grotesk" pitchFamily="34" charset="-120"/>
              </a:rPr>
              <a:t>APPROVE &amp; SUMMARISE</a:t>
            </a:r>
            <a:endParaRPr lang="en-US" sz="1200"/>
          </a:p>
        </p:txBody>
      </p:sp>
      <p:sp>
        <p:nvSpPr>
          <p:cNvPr id="18" name="Text 16"/>
          <p:cNvSpPr/>
          <p:nvPr/>
        </p:nvSpPr>
        <p:spPr>
          <a:xfrm>
            <a:off x="6922008" y="2295144"/>
            <a:ext cx="1929384" cy="420624"/>
          </a:xfrm>
          <a:prstGeom prst="rect">
            <a:avLst/>
          </a:prstGeom>
          <a:noFill/>
          <a:ln/>
        </p:spPr>
        <p:txBody>
          <a:bodyPr wrap="square" lIns="0" tIns="0" rIns="0" bIns="0" rtlCol="0" anchor="t">
            <a:normAutofit/>
          </a:bodyPr>
          <a:lstStyle/>
          <a:p>
            <a:r>
              <a:rPr lang="en-US" sz="1050">
                <a:solidFill>
                  <a:srgbClr val="171717"/>
                </a:solidFill>
                <a:ea typeface="Viedoc Monument Grotesk"/>
                <a:cs typeface="Viedoc Monument Grotesk" pitchFamily="34" charset="-120"/>
              </a:rPr>
              <a:t>Signature </a:t>
            </a:r>
            <a:r>
              <a:rPr lang="en-US" sz="1050">
                <a:solidFill>
                  <a:srgbClr val="171717"/>
                </a:solidFill>
                <a:ea typeface="Viedoc Monument Grotesk" pitchFamily="34" charset="-122"/>
                <a:cs typeface="Viedoc Monument Grotesk" pitchFamily="34" charset="-120"/>
              </a:rPr>
              <a:t>→  summary bullets</a:t>
            </a:r>
            <a:endParaRPr lang="en-US" sz="1050"/>
          </a:p>
        </p:txBody>
      </p:sp>
      <p:sp>
        <p:nvSpPr>
          <p:cNvPr id="19" name="Shape 17"/>
          <p:cNvSpPr/>
          <p:nvPr/>
        </p:nvSpPr>
        <p:spPr>
          <a:xfrm>
            <a:off x="9281160" y="1755648"/>
            <a:ext cx="2148840" cy="1060704"/>
          </a:xfrm>
          <a:prstGeom prst="roundRect">
            <a:avLst>
              <a:gd name="adj" fmla="val 5172"/>
            </a:avLst>
          </a:prstGeom>
          <a:solidFill>
            <a:srgbClr val="E9F6F0"/>
          </a:solidFill>
          <a:ln w="12700">
            <a:solidFill>
              <a:srgbClr val="E9F6F0"/>
            </a:solidFill>
            <a:prstDash val="solid"/>
          </a:ln>
          <a:effectLst>
            <a:outerShdw blurRad="15240" dist="6350" dir="2700000" algn="bl" rotWithShape="0">
              <a:srgbClr val="000000">
                <a:alpha val="12000"/>
              </a:srgbClr>
            </a:outerShdw>
          </a:effectLst>
        </p:spPr>
        <p:txBody>
          <a:bodyPr/>
          <a:lstStyle/>
          <a:p>
            <a:endParaRPr lang="en-SE"/>
          </a:p>
        </p:txBody>
      </p:sp>
      <p:sp>
        <p:nvSpPr>
          <p:cNvPr id="20" name="Text 18"/>
          <p:cNvSpPr/>
          <p:nvPr/>
        </p:nvSpPr>
        <p:spPr>
          <a:xfrm>
            <a:off x="9390888" y="184708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04</a:t>
            </a:r>
            <a:endParaRPr lang="en-US" sz="850"/>
          </a:p>
        </p:txBody>
      </p:sp>
      <p:sp>
        <p:nvSpPr>
          <p:cNvPr id="21" name="Text 19"/>
          <p:cNvSpPr/>
          <p:nvPr/>
        </p:nvSpPr>
        <p:spPr>
          <a:xfrm>
            <a:off x="9390888" y="2039112"/>
            <a:ext cx="1929384" cy="201168"/>
          </a:xfrm>
          <a:prstGeom prst="rect">
            <a:avLst/>
          </a:prstGeom>
          <a:noFill/>
          <a:ln/>
        </p:spPr>
        <p:txBody>
          <a:bodyPr wrap="square" lIns="0" tIns="0" rIns="0" bIns="0" rtlCol="0" anchor="ctr"/>
          <a:lstStyle/>
          <a:p>
            <a:pPr marL="0" indent="0">
              <a:buNone/>
            </a:pPr>
            <a:r>
              <a:rPr lang="en-US" sz="1200" b="1">
                <a:solidFill>
                  <a:srgbClr val="171717"/>
                </a:solidFill>
                <a:ea typeface="Viedoc Monument Grotesk" pitchFamily="34" charset="-122"/>
                <a:cs typeface="Viedoc Monument Grotesk" pitchFamily="34" charset="-120"/>
              </a:rPr>
              <a:t>WEBSITE PUBLISH </a:t>
            </a:r>
            <a:endParaRPr lang="en-US" sz="1200"/>
          </a:p>
        </p:txBody>
      </p:sp>
      <p:sp>
        <p:nvSpPr>
          <p:cNvPr id="22" name="Text 20"/>
          <p:cNvSpPr/>
          <p:nvPr/>
        </p:nvSpPr>
        <p:spPr>
          <a:xfrm>
            <a:off x="9390888" y="2295144"/>
            <a:ext cx="1929384" cy="420624"/>
          </a:xfrm>
          <a:prstGeom prst="rect">
            <a:avLst/>
          </a:prstGeom>
          <a:noFill/>
          <a:ln/>
        </p:spPr>
        <p:txBody>
          <a:bodyPr wrap="square" lIns="0" tIns="0" rIns="0" bIns="0" rtlCol="0" anchor="t">
            <a:normAutofit/>
          </a:bodyPr>
          <a:lstStyle/>
          <a:p>
            <a:pPr marL="0" indent="0">
              <a:buNone/>
            </a:pPr>
            <a:r>
              <a:rPr lang="en-US" sz="1050">
                <a:solidFill>
                  <a:srgbClr val="171717"/>
                </a:solidFill>
                <a:ea typeface="Viedoc Monument Grotesk" pitchFamily="34" charset="-122"/>
                <a:cs typeface="Viedoc Monument Grotesk" pitchFamily="34" charset="-120"/>
              </a:rPr>
              <a:t>EN / JP / ZH publishing  →  release updates  →  certificate</a:t>
            </a:r>
            <a:endParaRPr lang="en-US" sz="1050"/>
          </a:p>
        </p:txBody>
      </p:sp>
      <p:sp>
        <p:nvSpPr>
          <p:cNvPr id="23" name="Shape 21"/>
          <p:cNvSpPr/>
          <p:nvPr/>
        </p:nvSpPr>
        <p:spPr>
          <a:xfrm>
            <a:off x="4059936" y="2286000"/>
            <a:ext cx="201168" cy="0"/>
          </a:xfrm>
          <a:prstGeom prst="line">
            <a:avLst/>
          </a:prstGeom>
          <a:noFill/>
          <a:ln w="19050">
            <a:solidFill>
              <a:srgbClr val="82C7A4"/>
            </a:solidFill>
            <a:prstDash val="solid"/>
            <a:headEnd type="none"/>
            <a:tailEnd type="triangle"/>
          </a:ln>
        </p:spPr>
        <p:txBody>
          <a:bodyPr/>
          <a:lstStyle/>
          <a:p>
            <a:endParaRPr lang="en-SE"/>
          </a:p>
        </p:txBody>
      </p:sp>
      <p:sp>
        <p:nvSpPr>
          <p:cNvPr id="24" name="Shape 22"/>
          <p:cNvSpPr/>
          <p:nvPr/>
        </p:nvSpPr>
        <p:spPr>
          <a:xfrm>
            <a:off x="6528816" y="2286000"/>
            <a:ext cx="201168" cy="0"/>
          </a:xfrm>
          <a:prstGeom prst="line">
            <a:avLst/>
          </a:prstGeom>
          <a:noFill/>
          <a:ln w="19050">
            <a:solidFill>
              <a:srgbClr val="82C7A4"/>
            </a:solidFill>
            <a:prstDash val="solid"/>
            <a:headEnd type="none"/>
            <a:tailEnd type="triangle"/>
          </a:ln>
        </p:spPr>
        <p:txBody>
          <a:bodyPr/>
          <a:lstStyle/>
          <a:p>
            <a:endParaRPr lang="en-SE"/>
          </a:p>
        </p:txBody>
      </p:sp>
      <p:sp>
        <p:nvSpPr>
          <p:cNvPr id="25" name="Shape 23"/>
          <p:cNvSpPr/>
          <p:nvPr/>
        </p:nvSpPr>
        <p:spPr>
          <a:xfrm>
            <a:off x="8997696" y="2286000"/>
            <a:ext cx="201168" cy="0"/>
          </a:xfrm>
          <a:prstGeom prst="line">
            <a:avLst/>
          </a:prstGeom>
          <a:noFill/>
          <a:ln w="19050">
            <a:solidFill>
              <a:srgbClr val="82C7A4"/>
            </a:solidFill>
            <a:prstDash val="solid"/>
            <a:headEnd type="none"/>
            <a:tailEnd type="triangle"/>
          </a:ln>
        </p:spPr>
        <p:txBody>
          <a:bodyPr/>
          <a:lstStyle/>
          <a:p>
            <a:endParaRPr lang="en-SE"/>
          </a:p>
        </p:txBody>
      </p:sp>
      <p:sp>
        <p:nvSpPr>
          <p:cNvPr id="26" name="Shape 24"/>
          <p:cNvSpPr/>
          <p:nvPr/>
        </p:nvSpPr>
        <p:spPr>
          <a:xfrm>
            <a:off x="438912" y="3081528"/>
            <a:ext cx="1261872" cy="1060704"/>
          </a:xfrm>
          <a:prstGeom prst="roundRect">
            <a:avLst>
              <a:gd name="adj" fmla="val 6897"/>
            </a:avLst>
          </a:prstGeom>
          <a:solidFill>
            <a:srgbClr val="A9B6E8"/>
          </a:solidFill>
          <a:ln w="12700">
            <a:solidFill>
              <a:srgbClr val="A9B6E8"/>
            </a:solidFill>
            <a:prstDash val="solid"/>
          </a:ln>
        </p:spPr>
        <p:txBody>
          <a:bodyPr/>
          <a:lstStyle/>
          <a:p>
            <a:endParaRPr lang="en-SE"/>
          </a:p>
        </p:txBody>
      </p:sp>
      <p:sp>
        <p:nvSpPr>
          <p:cNvPr id="27" name="Text 25"/>
          <p:cNvSpPr/>
          <p:nvPr/>
        </p:nvSpPr>
        <p:spPr>
          <a:xfrm>
            <a:off x="585216" y="3227832"/>
            <a:ext cx="969264" cy="402336"/>
          </a:xfrm>
          <a:prstGeom prst="rect">
            <a:avLst/>
          </a:prstGeom>
          <a:noFill/>
          <a:ln/>
        </p:spPr>
        <p:txBody>
          <a:bodyPr wrap="square" lIns="0" tIns="0" rIns="0" bIns="0" rtlCol="0" anchor="ctr"/>
          <a:lstStyle/>
          <a:p>
            <a:pPr marL="0" indent="0" algn="l">
              <a:buNone/>
            </a:pPr>
            <a:r>
              <a:rPr lang="en-US" sz="1600" b="1">
                <a:solidFill>
                  <a:srgbClr val="000000"/>
                </a:solidFill>
                <a:ea typeface="Viedoc Monument Grotesk" pitchFamily="34" charset="-122"/>
                <a:cs typeface="Viedoc Monument Grotesk" pitchFamily="34" charset="-120"/>
              </a:rPr>
              <a:t>Viedoc Learning</a:t>
            </a:r>
            <a:endParaRPr lang="en-US" sz="1600"/>
          </a:p>
        </p:txBody>
      </p:sp>
      <p:sp>
        <p:nvSpPr>
          <p:cNvPr id="29" name="Shape 27"/>
          <p:cNvSpPr/>
          <p:nvPr/>
        </p:nvSpPr>
        <p:spPr>
          <a:xfrm>
            <a:off x="1874520" y="3081528"/>
            <a:ext cx="2148840" cy="1060704"/>
          </a:xfrm>
          <a:prstGeom prst="roundRect">
            <a:avLst>
              <a:gd name="adj" fmla="val 5172"/>
            </a:avLst>
          </a:prstGeom>
          <a:solidFill>
            <a:srgbClr val="EEF1FB"/>
          </a:solidFill>
          <a:ln w="12700">
            <a:solidFill>
              <a:srgbClr val="EEF1FB"/>
            </a:solidFill>
            <a:prstDash val="solid"/>
          </a:ln>
          <a:effectLst>
            <a:outerShdw blurRad="15240" dist="6350" dir="2700000" algn="bl" rotWithShape="0">
              <a:srgbClr val="000000">
                <a:alpha val="12000"/>
              </a:srgbClr>
            </a:outerShdw>
          </a:effectLst>
        </p:spPr>
        <p:txBody>
          <a:bodyPr/>
          <a:lstStyle/>
          <a:p>
            <a:endParaRPr lang="en-SE"/>
          </a:p>
        </p:txBody>
      </p:sp>
      <p:sp>
        <p:nvSpPr>
          <p:cNvPr id="30" name="Text 28"/>
          <p:cNvSpPr/>
          <p:nvPr/>
        </p:nvSpPr>
        <p:spPr>
          <a:xfrm>
            <a:off x="1984248" y="317296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01</a:t>
            </a:r>
            <a:endParaRPr lang="en-US" sz="850"/>
          </a:p>
        </p:txBody>
      </p:sp>
      <p:sp>
        <p:nvSpPr>
          <p:cNvPr id="31" name="Text 29"/>
          <p:cNvSpPr/>
          <p:nvPr/>
        </p:nvSpPr>
        <p:spPr>
          <a:xfrm>
            <a:off x="1984248" y="3364992"/>
            <a:ext cx="1929384" cy="201168"/>
          </a:xfrm>
          <a:prstGeom prst="rect">
            <a:avLst/>
          </a:prstGeom>
          <a:noFill/>
          <a:ln/>
        </p:spPr>
        <p:txBody>
          <a:bodyPr wrap="square" lIns="0" tIns="0" rIns="0" bIns="0" rtlCol="0" anchor="ctr"/>
          <a:lstStyle/>
          <a:p>
            <a:pPr marL="0" indent="0">
              <a:buNone/>
            </a:pPr>
            <a:r>
              <a:rPr lang="en-US" sz="1200" b="1">
                <a:solidFill>
                  <a:srgbClr val="171717"/>
                </a:solidFill>
                <a:latin typeface="Viedoc Monument Grotesk" pitchFamily="34" charset="0"/>
                <a:ea typeface="Viedoc Monument Grotesk" pitchFamily="34" charset="-122"/>
                <a:cs typeface="Viedoc Monument Grotesk" pitchFamily="34" charset="-120"/>
              </a:rPr>
              <a:t>DISCOVER &amp; CONFIRM</a:t>
            </a:r>
            <a:endParaRPr lang="en-US" sz="1200"/>
          </a:p>
        </p:txBody>
      </p:sp>
      <p:sp>
        <p:nvSpPr>
          <p:cNvPr id="32" name="Text 30"/>
          <p:cNvSpPr/>
          <p:nvPr/>
        </p:nvSpPr>
        <p:spPr>
          <a:xfrm>
            <a:off x="1984248" y="3621024"/>
            <a:ext cx="1929384" cy="420624"/>
          </a:xfrm>
          <a:prstGeom prst="rect">
            <a:avLst/>
          </a:prstGeom>
          <a:noFill/>
          <a:ln/>
        </p:spPr>
        <p:txBody>
          <a:bodyPr wrap="square" lIns="0" tIns="0" rIns="0" bIns="0" rtlCol="0" anchor="t">
            <a:normAutofit/>
          </a:bodyPr>
          <a:lstStyle/>
          <a:p>
            <a:r>
              <a:rPr lang="en-US" sz="1050">
                <a:solidFill>
                  <a:srgbClr val="171717"/>
                </a:solidFill>
                <a:latin typeface="Viedoc Monument Grotesk" pitchFamily="34" charset="0"/>
                <a:ea typeface="Viedoc Monument Grotesk"/>
                <a:cs typeface="Viedoc Monument Grotesk" pitchFamily="34" charset="-120"/>
              </a:rPr>
              <a:t>Identify &amp;</a:t>
            </a:r>
            <a:r>
              <a:rPr lang="en-US" sz="1050">
                <a:solidFill>
                  <a:srgbClr val="171717"/>
                </a:solidFill>
                <a:latin typeface="Viedoc Monument Grotesk"/>
                <a:ea typeface="Viedoc Monument Grotesk"/>
                <a:cs typeface="Viedoc Monument Grotesk" pitchFamily="34" charset="-120"/>
              </a:rPr>
              <a:t> map </a:t>
            </a:r>
            <a:r>
              <a:rPr lang="en-US" sz="1050">
                <a:solidFill>
                  <a:srgbClr val="171717"/>
                </a:solidFill>
                <a:latin typeface="Viedoc Monument Grotesk"/>
                <a:ea typeface="Viedoc Monument Grotesk" pitchFamily="34" charset="-122"/>
                <a:cs typeface="Viedoc Monument Grotesk" pitchFamily="34" charset="-120"/>
              </a:rPr>
              <a:t>changes  →  confirm scope / environment</a:t>
            </a:r>
            <a:endParaRPr lang="en-US" sz="1050">
              <a:latin typeface="Viedoc Monument Grotesk"/>
            </a:endParaRPr>
          </a:p>
        </p:txBody>
      </p:sp>
      <p:sp>
        <p:nvSpPr>
          <p:cNvPr id="33" name="Shape 31"/>
          <p:cNvSpPr/>
          <p:nvPr/>
        </p:nvSpPr>
        <p:spPr>
          <a:xfrm>
            <a:off x="4343400" y="3081528"/>
            <a:ext cx="2148840" cy="1060704"/>
          </a:xfrm>
          <a:prstGeom prst="roundRect">
            <a:avLst>
              <a:gd name="adj" fmla="val 5172"/>
            </a:avLst>
          </a:prstGeom>
          <a:solidFill>
            <a:srgbClr val="EEF1FB"/>
          </a:solidFill>
          <a:ln w="12700">
            <a:solidFill>
              <a:srgbClr val="EEF1FB"/>
            </a:solidFill>
            <a:prstDash val="solid"/>
          </a:ln>
          <a:effectLst>
            <a:outerShdw blurRad="15240" dist="6350" dir="2700000" algn="bl" rotWithShape="0">
              <a:srgbClr val="000000">
                <a:alpha val="12000"/>
              </a:srgbClr>
            </a:outerShdw>
          </a:effectLst>
        </p:spPr>
        <p:txBody>
          <a:bodyPr/>
          <a:lstStyle/>
          <a:p>
            <a:endParaRPr lang="en-SE"/>
          </a:p>
        </p:txBody>
      </p:sp>
      <p:sp>
        <p:nvSpPr>
          <p:cNvPr id="34" name="Text 32"/>
          <p:cNvSpPr/>
          <p:nvPr/>
        </p:nvSpPr>
        <p:spPr>
          <a:xfrm>
            <a:off x="4453128" y="317296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02</a:t>
            </a:r>
            <a:endParaRPr lang="en-US" sz="850"/>
          </a:p>
        </p:txBody>
      </p:sp>
      <p:sp>
        <p:nvSpPr>
          <p:cNvPr id="35" name="Text 33"/>
          <p:cNvSpPr/>
          <p:nvPr/>
        </p:nvSpPr>
        <p:spPr>
          <a:xfrm>
            <a:off x="4453128" y="3364992"/>
            <a:ext cx="1929384" cy="201168"/>
          </a:xfrm>
          <a:prstGeom prst="rect">
            <a:avLst/>
          </a:prstGeom>
          <a:noFill/>
          <a:ln/>
        </p:spPr>
        <p:txBody>
          <a:bodyPr wrap="square" lIns="0" tIns="0" rIns="0" bIns="0" rtlCol="0" anchor="ctr"/>
          <a:lstStyle/>
          <a:p>
            <a:pPr marL="0" indent="0">
              <a:buNone/>
            </a:pPr>
            <a:r>
              <a:rPr lang="en-US" sz="1200" b="1">
                <a:solidFill>
                  <a:srgbClr val="171717"/>
                </a:solidFill>
                <a:latin typeface="Viedoc Monument Grotesk" pitchFamily="34" charset="0"/>
                <a:ea typeface="Viedoc Monument Grotesk" pitchFamily="34" charset="-122"/>
                <a:cs typeface="Viedoc Monument Grotesk" pitchFamily="34" charset="-120"/>
              </a:rPr>
              <a:t>DRAFT &amp; REVIEW</a:t>
            </a:r>
            <a:endParaRPr lang="en-US" sz="1200"/>
          </a:p>
        </p:txBody>
      </p:sp>
      <p:sp>
        <p:nvSpPr>
          <p:cNvPr id="36" name="Text 34"/>
          <p:cNvSpPr/>
          <p:nvPr/>
        </p:nvSpPr>
        <p:spPr>
          <a:xfrm>
            <a:off x="4453128" y="3621024"/>
            <a:ext cx="1929384" cy="420624"/>
          </a:xfrm>
          <a:prstGeom prst="rect">
            <a:avLst/>
          </a:prstGeom>
          <a:noFill/>
          <a:ln/>
        </p:spPr>
        <p:txBody>
          <a:bodyPr wrap="square" lIns="0" tIns="0" rIns="0" bIns="0" rtlCol="0" anchor="t">
            <a:normAutofit/>
          </a:bodyPr>
          <a:lstStyle/>
          <a:p>
            <a:pPr marL="0" indent="0">
              <a:buNone/>
            </a:pPr>
            <a:r>
              <a:rPr lang="en-US" sz="1050">
                <a:solidFill>
                  <a:srgbClr val="171717"/>
                </a:solidFill>
                <a:latin typeface="Viedoc Monument Grotesk" pitchFamily="34" charset="0"/>
                <a:ea typeface="Viedoc Monument Grotesk" pitchFamily="34" charset="-122"/>
                <a:cs typeface="Viedoc Monument Grotesk" pitchFamily="34" charset="-120"/>
              </a:rPr>
              <a:t>Draft lessons  →  PM / Dev review</a:t>
            </a:r>
            <a:endParaRPr lang="en-US" sz="1050"/>
          </a:p>
        </p:txBody>
      </p:sp>
      <p:sp>
        <p:nvSpPr>
          <p:cNvPr id="37" name="Shape 35"/>
          <p:cNvSpPr/>
          <p:nvPr/>
        </p:nvSpPr>
        <p:spPr>
          <a:xfrm>
            <a:off x="6812280" y="3081528"/>
            <a:ext cx="2148840" cy="1060704"/>
          </a:xfrm>
          <a:prstGeom prst="roundRect">
            <a:avLst>
              <a:gd name="adj" fmla="val 5172"/>
            </a:avLst>
          </a:prstGeom>
          <a:solidFill>
            <a:srgbClr val="EEF1FB"/>
          </a:solidFill>
          <a:ln w="12700">
            <a:solidFill>
              <a:srgbClr val="EEF1FB"/>
            </a:solidFill>
            <a:prstDash val="solid"/>
          </a:ln>
          <a:effectLst>
            <a:outerShdw blurRad="15240" dist="6350" dir="2700000" algn="bl" rotWithShape="0">
              <a:srgbClr val="000000">
                <a:alpha val="12000"/>
              </a:srgbClr>
            </a:outerShdw>
          </a:effectLst>
        </p:spPr>
        <p:txBody>
          <a:bodyPr/>
          <a:lstStyle/>
          <a:p>
            <a:endParaRPr lang="en-SE"/>
          </a:p>
        </p:txBody>
      </p:sp>
      <p:sp>
        <p:nvSpPr>
          <p:cNvPr id="38" name="Text 36"/>
          <p:cNvSpPr/>
          <p:nvPr/>
        </p:nvSpPr>
        <p:spPr>
          <a:xfrm>
            <a:off x="6922008" y="317296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03</a:t>
            </a:r>
            <a:endParaRPr lang="en-US" sz="850"/>
          </a:p>
        </p:txBody>
      </p:sp>
      <p:sp>
        <p:nvSpPr>
          <p:cNvPr id="39" name="Text 37"/>
          <p:cNvSpPr/>
          <p:nvPr/>
        </p:nvSpPr>
        <p:spPr>
          <a:xfrm>
            <a:off x="6922008" y="3364992"/>
            <a:ext cx="1929384" cy="201168"/>
          </a:xfrm>
          <a:prstGeom prst="rect">
            <a:avLst/>
          </a:prstGeom>
          <a:noFill/>
          <a:ln/>
        </p:spPr>
        <p:txBody>
          <a:bodyPr wrap="square" lIns="0" tIns="0" rIns="0" bIns="0" rtlCol="0" anchor="ctr"/>
          <a:lstStyle/>
          <a:p>
            <a:pPr marL="0" indent="0">
              <a:buNone/>
            </a:pPr>
            <a:r>
              <a:rPr lang="en-US" sz="1200" b="1">
                <a:solidFill>
                  <a:srgbClr val="171717"/>
                </a:solidFill>
                <a:latin typeface="Viedoc Monument Grotesk" pitchFamily="34" charset="0"/>
                <a:ea typeface="Viedoc Monument Grotesk" pitchFamily="34" charset="-122"/>
                <a:cs typeface="Viedoc Monument Grotesk" pitchFamily="34" charset="-120"/>
              </a:rPr>
              <a:t>VALIDATE &amp; LOCALISE</a:t>
            </a:r>
            <a:endParaRPr lang="en-US" sz="1200"/>
          </a:p>
        </p:txBody>
      </p:sp>
      <p:sp>
        <p:nvSpPr>
          <p:cNvPr id="40" name="Text 38"/>
          <p:cNvSpPr/>
          <p:nvPr/>
        </p:nvSpPr>
        <p:spPr>
          <a:xfrm>
            <a:off x="6922008" y="3621024"/>
            <a:ext cx="1929384" cy="420624"/>
          </a:xfrm>
          <a:prstGeom prst="rect">
            <a:avLst/>
          </a:prstGeom>
          <a:noFill/>
          <a:ln/>
        </p:spPr>
        <p:txBody>
          <a:bodyPr wrap="square" lIns="0" tIns="0" rIns="0" bIns="0" rtlCol="0" anchor="t">
            <a:normAutofit/>
          </a:bodyPr>
          <a:lstStyle/>
          <a:p>
            <a:pPr marL="0" indent="0">
              <a:buNone/>
            </a:pPr>
            <a:r>
              <a:rPr lang="en-US" sz="1050">
                <a:solidFill>
                  <a:srgbClr val="171717"/>
                </a:solidFill>
                <a:latin typeface="Viedoc Monument Grotesk" pitchFamily="34" charset="0"/>
                <a:ea typeface="Viedoc Monument Grotesk" pitchFamily="34" charset="-122"/>
                <a:cs typeface="Viedoc Monument Grotesk" pitchFamily="34" charset="-120"/>
              </a:rPr>
              <a:t>Languages / limitations / links  →  diff PDFs  →  JP / ZH translation</a:t>
            </a:r>
            <a:endParaRPr lang="en-US" sz="1050"/>
          </a:p>
        </p:txBody>
      </p:sp>
      <p:sp>
        <p:nvSpPr>
          <p:cNvPr id="41" name="Shape 39"/>
          <p:cNvSpPr/>
          <p:nvPr/>
        </p:nvSpPr>
        <p:spPr>
          <a:xfrm>
            <a:off x="9281160" y="3081528"/>
            <a:ext cx="2148840" cy="1060704"/>
          </a:xfrm>
          <a:prstGeom prst="roundRect">
            <a:avLst>
              <a:gd name="adj" fmla="val 5172"/>
            </a:avLst>
          </a:prstGeom>
          <a:solidFill>
            <a:srgbClr val="EEF1FB"/>
          </a:solidFill>
          <a:ln w="12700">
            <a:solidFill>
              <a:srgbClr val="EEF1FB"/>
            </a:solidFill>
            <a:prstDash val="solid"/>
          </a:ln>
          <a:effectLst>
            <a:outerShdw blurRad="15240" dist="6350" dir="2700000" algn="bl" rotWithShape="0">
              <a:srgbClr val="000000">
                <a:alpha val="12000"/>
              </a:srgbClr>
            </a:outerShdw>
          </a:effectLst>
        </p:spPr>
        <p:txBody>
          <a:bodyPr/>
          <a:lstStyle/>
          <a:p>
            <a:endParaRPr lang="en-SE"/>
          </a:p>
        </p:txBody>
      </p:sp>
      <p:sp>
        <p:nvSpPr>
          <p:cNvPr id="42" name="Text 40"/>
          <p:cNvSpPr/>
          <p:nvPr/>
        </p:nvSpPr>
        <p:spPr>
          <a:xfrm>
            <a:off x="9390888" y="3172968"/>
            <a:ext cx="256032" cy="164592"/>
          </a:xfrm>
          <a:prstGeom prst="rect">
            <a:avLst/>
          </a:prstGeom>
          <a:noFill/>
          <a:ln/>
        </p:spPr>
        <p:txBody>
          <a:bodyPr wrap="square" lIns="0" tIns="0" rIns="0" bIns="0" rtlCol="0" anchor="ctr"/>
          <a:lstStyle/>
          <a:p>
            <a:pPr marL="0" indent="0">
              <a:buNone/>
            </a:pPr>
            <a:r>
              <a:rPr lang="en-US" sz="850" b="1">
                <a:solidFill>
                  <a:srgbClr val="666666"/>
                </a:solidFill>
                <a:latin typeface="Viedoc Monument Grotesk" pitchFamily="34" charset="0"/>
                <a:ea typeface="Viedoc Monument Grotesk" pitchFamily="34" charset="-122"/>
                <a:cs typeface="Viedoc Monument Grotesk" pitchFamily="34" charset="-120"/>
              </a:rPr>
              <a:t>04</a:t>
            </a:r>
            <a:endParaRPr lang="en-US" sz="850"/>
          </a:p>
        </p:txBody>
      </p:sp>
      <p:sp>
        <p:nvSpPr>
          <p:cNvPr id="43" name="Text 41"/>
          <p:cNvSpPr/>
          <p:nvPr/>
        </p:nvSpPr>
        <p:spPr>
          <a:xfrm>
            <a:off x="9390888" y="3364992"/>
            <a:ext cx="1929384" cy="201168"/>
          </a:xfrm>
          <a:prstGeom prst="rect">
            <a:avLst/>
          </a:prstGeom>
          <a:noFill/>
          <a:ln/>
        </p:spPr>
        <p:txBody>
          <a:bodyPr wrap="square" lIns="0" tIns="0" rIns="0" bIns="0" rtlCol="0" anchor="ctr"/>
          <a:lstStyle/>
          <a:p>
            <a:pPr marL="0" indent="0">
              <a:buNone/>
            </a:pPr>
            <a:r>
              <a:rPr lang="en-US" sz="1200" b="1">
                <a:solidFill>
                  <a:srgbClr val="171717"/>
                </a:solidFill>
                <a:latin typeface="Viedoc Monument Grotesk" pitchFamily="34" charset="0"/>
                <a:ea typeface="Viedoc Monument Grotesk" pitchFamily="34" charset="-122"/>
                <a:cs typeface="Viedoc Monument Grotesk" pitchFamily="34" charset="-120"/>
              </a:rPr>
              <a:t>PUBLISH &amp; ARCHIVE</a:t>
            </a:r>
            <a:endParaRPr lang="en-US" sz="1200"/>
          </a:p>
        </p:txBody>
      </p:sp>
      <p:sp>
        <p:nvSpPr>
          <p:cNvPr id="44" name="Text 42"/>
          <p:cNvSpPr/>
          <p:nvPr/>
        </p:nvSpPr>
        <p:spPr>
          <a:xfrm>
            <a:off x="9390888" y="3621024"/>
            <a:ext cx="1929384" cy="420624"/>
          </a:xfrm>
          <a:prstGeom prst="rect">
            <a:avLst/>
          </a:prstGeom>
          <a:noFill/>
          <a:ln/>
        </p:spPr>
        <p:txBody>
          <a:bodyPr wrap="square" lIns="0" tIns="0" rIns="0" bIns="0" rtlCol="0" anchor="t">
            <a:normAutofit/>
          </a:bodyPr>
          <a:lstStyle/>
          <a:p>
            <a:pPr marL="0" indent="0">
              <a:buNone/>
            </a:pPr>
            <a:r>
              <a:rPr lang="en-US" sz="1050">
                <a:solidFill>
                  <a:srgbClr val="171717"/>
                </a:solidFill>
                <a:latin typeface="Viedoc Monument Grotesk" pitchFamily="34" charset="0"/>
                <a:ea typeface="Viedoc Monument Grotesk" pitchFamily="34" charset="-122"/>
                <a:cs typeface="Viedoc Monument Grotesk" pitchFamily="34" charset="-120"/>
              </a:rPr>
              <a:t>Publish lessons  →  curricula  →  PDFs / archive</a:t>
            </a:r>
            <a:endParaRPr lang="en-US" sz="1050"/>
          </a:p>
        </p:txBody>
      </p:sp>
      <p:sp>
        <p:nvSpPr>
          <p:cNvPr id="45" name="Shape 43"/>
          <p:cNvSpPr/>
          <p:nvPr/>
        </p:nvSpPr>
        <p:spPr>
          <a:xfrm>
            <a:off x="4059936" y="3611880"/>
            <a:ext cx="201168" cy="0"/>
          </a:xfrm>
          <a:prstGeom prst="line">
            <a:avLst/>
          </a:prstGeom>
          <a:noFill/>
          <a:ln w="19050">
            <a:solidFill>
              <a:srgbClr val="A9B6E8"/>
            </a:solidFill>
            <a:prstDash val="solid"/>
            <a:headEnd type="none"/>
            <a:tailEnd type="triangle"/>
          </a:ln>
        </p:spPr>
        <p:txBody>
          <a:bodyPr/>
          <a:lstStyle/>
          <a:p>
            <a:endParaRPr lang="en-SE"/>
          </a:p>
        </p:txBody>
      </p:sp>
      <p:sp>
        <p:nvSpPr>
          <p:cNvPr id="46" name="Shape 44"/>
          <p:cNvSpPr/>
          <p:nvPr/>
        </p:nvSpPr>
        <p:spPr>
          <a:xfrm>
            <a:off x="6528816" y="3611880"/>
            <a:ext cx="201168" cy="0"/>
          </a:xfrm>
          <a:prstGeom prst="line">
            <a:avLst/>
          </a:prstGeom>
          <a:noFill/>
          <a:ln w="19050">
            <a:solidFill>
              <a:srgbClr val="A9B6E8"/>
            </a:solidFill>
            <a:prstDash val="solid"/>
            <a:headEnd type="none"/>
            <a:tailEnd type="triangle"/>
          </a:ln>
        </p:spPr>
        <p:txBody>
          <a:bodyPr/>
          <a:lstStyle/>
          <a:p>
            <a:endParaRPr lang="en-SE"/>
          </a:p>
        </p:txBody>
      </p:sp>
      <p:sp>
        <p:nvSpPr>
          <p:cNvPr id="47" name="Shape 45"/>
          <p:cNvSpPr/>
          <p:nvPr/>
        </p:nvSpPr>
        <p:spPr>
          <a:xfrm>
            <a:off x="8997696" y="3611880"/>
            <a:ext cx="201168" cy="0"/>
          </a:xfrm>
          <a:prstGeom prst="line">
            <a:avLst/>
          </a:prstGeom>
          <a:noFill/>
          <a:ln w="19050">
            <a:solidFill>
              <a:srgbClr val="A9B6E8"/>
            </a:solidFill>
            <a:prstDash val="solid"/>
            <a:headEnd type="none"/>
            <a:tailEnd type="triangle"/>
          </a:ln>
        </p:spPr>
        <p:txBody>
          <a:bodyPr/>
          <a:lstStyle/>
          <a:p>
            <a:endParaRPr lang="en-SE"/>
          </a:p>
        </p:txBody>
      </p:sp>
      <p:sp>
        <p:nvSpPr>
          <p:cNvPr id="48" name="Shape 46"/>
          <p:cNvSpPr/>
          <p:nvPr/>
        </p:nvSpPr>
        <p:spPr>
          <a:xfrm>
            <a:off x="438912" y="4489704"/>
            <a:ext cx="11311128" cy="1719072"/>
          </a:xfrm>
          <a:prstGeom prst="roundRect">
            <a:avLst>
              <a:gd name="adj" fmla="val 4255"/>
            </a:avLst>
          </a:prstGeom>
          <a:solidFill>
            <a:srgbClr val="EAE6F8"/>
          </a:solidFill>
          <a:ln w="16510">
            <a:solidFill>
              <a:srgbClr val="8E7DD3"/>
            </a:solidFill>
            <a:prstDash val="solid"/>
          </a:ln>
        </p:spPr>
        <p:txBody>
          <a:bodyPr/>
          <a:lstStyle/>
          <a:p>
            <a:endParaRPr lang="en-SE"/>
          </a:p>
        </p:txBody>
      </p:sp>
      <p:sp>
        <p:nvSpPr>
          <p:cNvPr id="49" name="Shape 47"/>
          <p:cNvSpPr/>
          <p:nvPr/>
        </p:nvSpPr>
        <p:spPr>
          <a:xfrm>
            <a:off x="667512" y="4681728"/>
            <a:ext cx="1965960" cy="438912"/>
          </a:xfrm>
          <a:prstGeom prst="roundRect">
            <a:avLst>
              <a:gd name="adj" fmla="val 10417"/>
            </a:avLst>
          </a:prstGeom>
          <a:solidFill>
            <a:srgbClr val="8E7DD3"/>
          </a:solidFill>
          <a:ln w="12700">
            <a:solidFill>
              <a:srgbClr val="8E7DD3"/>
            </a:solidFill>
            <a:prstDash val="solid"/>
          </a:ln>
        </p:spPr>
        <p:txBody>
          <a:bodyPr/>
          <a:lstStyle/>
          <a:p>
            <a:endParaRPr lang="en-SE"/>
          </a:p>
        </p:txBody>
      </p:sp>
      <p:sp>
        <p:nvSpPr>
          <p:cNvPr id="50" name="Text 48"/>
          <p:cNvSpPr/>
          <p:nvPr/>
        </p:nvSpPr>
        <p:spPr>
          <a:xfrm>
            <a:off x="832104" y="4791456"/>
            <a:ext cx="1645920" cy="155448"/>
          </a:xfrm>
          <a:prstGeom prst="rect">
            <a:avLst/>
          </a:prstGeom>
          <a:noFill/>
          <a:ln/>
        </p:spPr>
        <p:txBody>
          <a:bodyPr wrap="square" lIns="0" tIns="0" rIns="0" bIns="0" rtlCol="0" anchor="ctr"/>
          <a:lstStyle/>
          <a:p>
            <a:pPr marL="0" indent="0" algn="ctr">
              <a:buNone/>
            </a:pPr>
            <a:r>
              <a:rPr lang="en-US" sz="950" b="1">
                <a:solidFill>
                  <a:srgbClr val="FFFFFF"/>
                </a:solidFill>
                <a:latin typeface="Viedoc Monument Grotesk" pitchFamily="34" charset="0"/>
                <a:ea typeface="Viedoc Monument Grotesk" pitchFamily="34" charset="-122"/>
                <a:cs typeface="Viedoc Monument Grotesk" pitchFamily="34" charset="-120"/>
              </a:rPr>
              <a:t>SHARED RELEASE SUPPORT</a:t>
            </a:r>
            <a:endParaRPr lang="en-US" sz="950"/>
          </a:p>
        </p:txBody>
      </p:sp>
      <p:sp>
        <p:nvSpPr>
          <p:cNvPr id="52" name="Text 50"/>
          <p:cNvSpPr/>
          <p:nvPr/>
        </p:nvSpPr>
        <p:spPr>
          <a:xfrm>
            <a:off x="2821305" y="4722876"/>
            <a:ext cx="4799838" cy="288036"/>
          </a:xfrm>
          <a:prstGeom prst="rect">
            <a:avLst/>
          </a:prstGeom>
          <a:noFill/>
          <a:ln/>
        </p:spPr>
        <p:txBody>
          <a:bodyPr wrap="square" lIns="0" tIns="0" rIns="0" bIns="0" rtlCol="0" anchor="ctr"/>
          <a:lstStyle/>
          <a:p>
            <a:pPr marL="0" indent="0" algn="r">
              <a:buNone/>
            </a:pPr>
            <a:r>
              <a:rPr lang="en-US" sz="960">
                <a:solidFill>
                  <a:srgbClr val="666666"/>
                </a:solidFill>
                <a:latin typeface="Viedoc Monument Grotesk" pitchFamily="34" charset="0"/>
                <a:ea typeface="Viedoc Monument Grotesk" pitchFamily="34" charset="-122"/>
                <a:cs typeface="Viedoc Monument Grotesk" pitchFamily="34" charset="-120"/>
              </a:rPr>
              <a:t>It is mostly coordination, control, tracking and distribution across disconnected systems.</a:t>
            </a:r>
            <a:endParaRPr lang="en-US" sz="960"/>
          </a:p>
        </p:txBody>
      </p:sp>
      <p:sp>
        <p:nvSpPr>
          <p:cNvPr id="53" name="Shape 51"/>
          <p:cNvSpPr/>
          <p:nvPr/>
        </p:nvSpPr>
        <p:spPr>
          <a:xfrm>
            <a:off x="667512" y="5230368"/>
            <a:ext cx="2075688" cy="749808"/>
          </a:xfrm>
          <a:prstGeom prst="roundRect">
            <a:avLst>
              <a:gd name="adj" fmla="val 4878"/>
            </a:avLst>
          </a:prstGeom>
          <a:solidFill>
            <a:srgbClr val="FFFFFF"/>
          </a:solidFill>
          <a:ln w="11430">
            <a:solidFill>
              <a:srgbClr val="D5CFF1"/>
            </a:solidFill>
            <a:prstDash val="solid"/>
          </a:ln>
        </p:spPr>
        <p:txBody>
          <a:bodyPr/>
          <a:lstStyle/>
          <a:p>
            <a:endParaRPr lang="en-SE"/>
          </a:p>
        </p:txBody>
      </p:sp>
      <p:sp>
        <p:nvSpPr>
          <p:cNvPr id="54" name="Text 52"/>
          <p:cNvSpPr/>
          <p:nvPr/>
        </p:nvSpPr>
        <p:spPr>
          <a:xfrm>
            <a:off x="758952" y="5321808"/>
            <a:ext cx="1892808" cy="173736"/>
          </a:xfrm>
          <a:prstGeom prst="rect">
            <a:avLst/>
          </a:prstGeom>
          <a:noFill/>
          <a:ln/>
        </p:spPr>
        <p:txBody>
          <a:bodyPr wrap="square" lIns="0" tIns="0" rIns="0" bIns="0" rtlCol="0" anchor="ctr"/>
          <a:lstStyle/>
          <a:p>
            <a:pPr marL="0" indent="0" algn="ctr">
              <a:buNone/>
            </a:pPr>
            <a:r>
              <a:rPr lang="en-US" sz="980" b="1">
                <a:solidFill>
                  <a:srgbClr val="171717"/>
                </a:solidFill>
                <a:latin typeface="Viedoc Monument Grotesk" pitchFamily="34" charset="0"/>
                <a:ea typeface="Viedoc Monument Grotesk" pitchFamily="34" charset="-122"/>
                <a:cs typeface="Viedoc Monument Grotesk" pitchFamily="34" charset="-120"/>
              </a:rPr>
              <a:t>Tracking &amp; coordination</a:t>
            </a:r>
            <a:endParaRPr lang="en-US" sz="980"/>
          </a:p>
        </p:txBody>
      </p:sp>
      <p:sp>
        <p:nvSpPr>
          <p:cNvPr id="55" name="Text 53"/>
          <p:cNvSpPr/>
          <p:nvPr/>
        </p:nvSpPr>
        <p:spPr>
          <a:xfrm>
            <a:off x="777240" y="5550408"/>
            <a:ext cx="1856232" cy="310896"/>
          </a:xfrm>
          <a:prstGeom prst="rect">
            <a:avLst/>
          </a:prstGeom>
          <a:noFill/>
          <a:ln/>
        </p:spPr>
        <p:txBody>
          <a:bodyPr wrap="square" lIns="0" tIns="0" rIns="0" bIns="0" rtlCol="0" anchor="ctr">
            <a:normAutofit/>
          </a:bodyPr>
          <a:lstStyle/>
          <a:p>
            <a:pPr marL="0" indent="0" algn="ctr">
              <a:buNone/>
            </a:pPr>
            <a:r>
              <a:rPr lang="en-US" sz="1000">
                <a:solidFill>
                  <a:srgbClr val="666666"/>
                </a:solidFill>
                <a:latin typeface="Viedoc Monument Grotesk" pitchFamily="34" charset="0"/>
                <a:ea typeface="Viedoc Monument Grotesk" pitchFamily="34" charset="-122"/>
                <a:cs typeface="Viedoc Monument Grotesk" pitchFamily="34" charset="-120"/>
              </a:rPr>
              <a:t>Excel checklist • Teams follow-up • release milestones</a:t>
            </a:r>
            <a:endParaRPr lang="en-US" sz="1000"/>
          </a:p>
        </p:txBody>
      </p:sp>
      <p:sp>
        <p:nvSpPr>
          <p:cNvPr id="56" name="Shape 54"/>
          <p:cNvSpPr/>
          <p:nvPr/>
        </p:nvSpPr>
        <p:spPr>
          <a:xfrm>
            <a:off x="2898648" y="5230368"/>
            <a:ext cx="2075688" cy="749808"/>
          </a:xfrm>
          <a:prstGeom prst="roundRect">
            <a:avLst>
              <a:gd name="adj" fmla="val 4878"/>
            </a:avLst>
          </a:prstGeom>
          <a:solidFill>
            <a:srgbClr val="FFFFFF"/>
          </a:solidFill>
          <a:ln w="11430">
            <a:solidFill>
              <a:srgbClr val="D5CFF1"/>
            </a:solidFill>
            <a:prstDash val="solid"/>
          </a:ln>
        </p:spPr>
        <p:txBody>
          <a:bodyPr/>
          <a:lstStyle/>
          <a:p>
            <a:endParaRPr lang="en-SE"/>
          </a:p>
        </p:txBody>
      </p:sp>
      <p:sp>
        <p:nvSpPr>
          <p:cNvPr id="57" name="Text 55"/>
          <p:cNvSpPr/>
          <p:nvPr/>
        </p:nvSpPr>
        <p:spPr>
          <a:xfrm>
            <a:off x="2990088" y="5321808"/>
            <a:ext cx="1892808" cy="173736"/>
          </a:xfrm>
          <a:prstGeom prst="rect">
            <a:avLst/>
          </a:prstGeom>
          <a:noFill/>
          <a:ln/>
        </p:spPr>
        <p:txBody>
          <a:bodyPr wrap="square" lIns="0" tIns="0" rIns="0" bIns="0" rtlCol="0" anchor="ctr"/>
          <a:lstStyle/>
          <a:p>
            <a:pPr marL="0" indent="0" algn="ctr">
              <a:buNone/>
            </a:pPr>
            <a:r>
              <a:rPr lang="en-US" sz="980" b="1">
                <a:solidFill>
                  <a:srgbClr val="171717"/>
                </a:solidFill>
                <a:latin typeface="Viedoc Monument Grotesk" pitchFamily="34" charset="0"/>
                <a:ea typeface="Viedoc Monument Grotesk" pitchFamily="34" charset="-122"/>
                <a:cs typeface="Viedoc Monument Grotesk" pitchFamily="34" charset="-120"/>
              </a:rPr>
              <a:t>Document control</a:t>
            </a:r>
            <a:endParaRPr lang="en-US" sz="980"/>
          </a:p>
        </p:txBody>
      </p:sp>
      <p:sp>
        <p:nvSpPr>
          <p:cNvPr id="58" name="Text 56"/>
          <p:cNvSpPr/>
          <p:nvPr/>
        </p:nvSpPr>
        <p:spPr>
          <a:xfrm>
            <a:off x="3008376" y="5550408"/>
            <a:ext cx="1856232" cy="310896"/>
          </a:xfrm>
          <a:prstGeom prst="rect">
            <a:avLst/>
          </a:prstGeom>
          <a:noFill/>
          <a:ln/>
        </p:spPr>
        <p:txBody>
          <a:bodyPr wrap="square" lIns="0" tIns="0" rIns="0" bIns="0" rtlCol="0" anchor="ctr">
            <a:normAutofit/>
          </a:bodyPr>
          <a:lstStyle/>
          <a:p>
            <a:pPr marL="0" indent="0" algn="ctr">
              <a:buNone/>
            </a:pPr>
            <a:r>
              <a:rPr lang="en-US" sz="1000">
                <a:solidFill>
                  <a:srgbClr val="666666"/>
                </a:solidFill>
                <a:latin typeface="Viedoc Monument Grotesk" pitchFamily="34" charset="0"/>
                <a:ea typeface="Viedoc Monument Grotesk" pitchFamily="34" charset="-122"/>
                <a:cs typeface="Viedoc Monument Grotesk" pitchFamily="34" charset="-120"/>
              </a:rPr>
              <a:t>PMOff01 • signing • VIRP / DONE • version handling</a:t>
            </a:r>
            <a:endParaRPr lang="en-US" sz="1000"/>
          </a:p>
        </p:txBody>
      </p:sp>
      <p:sp>
        <p:nvSpPr>
          <p:cNvPr id="59" name="Shape 57"/>
          <p:cNvSpPr/>
          <p:nvPr/>
        </p:nvSpPr>
        <p:spPr>
          <a:xfrm>
            <a:off x="5129784" y="5230368"/>
            <a:ext cx="2075688" cy="749808"/>
          </a:xfrm>
          <a:prstGeom prst="roundRect">
            <a:avLst>
              <a:gd name="adj" fmla="val 4878"/>
            </a:avLst>
          </a:prstGeom>
          <a:solidFill>
            <a:srgbClr val="FFFFFF"/>
          </a:solidFill>
          <a:ln w="11430">
            <a:solidFill>
              <a:srgbClr val="D5CFF1"/>
            </a:solidFill>
            <a:prstDash val="solid"/>
          </a:ln>
        </p:spPr>
        <p:txBody>
          <a:bodyPr/>
          <a:lstStyle/>
          <a:p>
            <a:endParaRPr lang="en-SE"/>
          </a:p>
        </p:txBody>
      </p:sp>
      <p:sp>
        <p:nvSpPr>
          <p:cNvPr id="60" name="Text 58"/>
          <p:cNvSpPr/>
          <p:nvPr/>
        </p:nvSpPr>
        <p:spPr>
          <a:xfrm>
            <a:off x="5221224" y="5321808"/>
            <a:ext cx="1892808" cy="173736"/>
          </a:xfrm>
          <a:prstGeom prst="rect">
            <a:avLst/>
          </a:prstGeom>
          <a:noFill/>
          <a:ln/>
        </p:spPr>
        <p:txBody>
          <a:bodyPr wrap="square" lIns="0" tIns="0" rIns="0" bIns="0" rtlCol="0" anchor="ctr"/>
          <a:lstStyle/>
          <a:p>
            <a:pPr marL="0" indent="0" algn="ctr">
              <a:buNone/>
            </a:pPr>
            <a:r>
              <a:rPr lang="en-US" sz="980" b="1">
                <a:solidFill>
                  <a:srgbClr val="171717"/>
                </a:solidFill>
                <a:latin typeface="Viedoc Monument Grotesk" pitchFamily="34" charset="0"/>
                <a:ea typeface="Viedoc Monument Grotesk" pitchFamily="34" charset="-122"/>
                <a:cs typeface="Viedoc Monument Grotesk" pitchFamily="34" charset="-120"/>
              </a:rPr>
              <a:t>Translation &amp; regional</a:t>
            </a:r>
            <a:endParaRPr lang="en-US" sz="980"/>
          </a:p>
        </p:txBody>
      </p:sp>
      <p:sp>
        <p:nvSpPr>
          <p:cNvPr id="61" name="Text 59"/>
          <p:cNvSpPr/>
          <p:nvPr/>
        </p:nvSpPr>
        <p:spPr>
          <a:xfrm>
            <a:off x="5239512" y="5550408"/>
            <a:ext cx="1856232" cy="310896"/>
          </a:xfrm>
          <a:prstGeom prst="rect">
            <a:avLst/>
          </a:prstGeom>
          <a:noFill/>
          <a:ln/>
        </p:spPr>
        <p:txBody>
          <a:bodyPr wrap="square" lIns="0" tIns="0" rIns="0" bIns="0" rtlCol="0" anchor="ctr">
            <a:normAutofit/>
          </a:bodyPr>
          <a:lstStyle/>
          <a:p>
            <a:pPr marL="0" indent="0" algn="ctr">
              <a:buNone/>
            </a:pPr>
            <a:r>
              <a:rPr lang="en-US" sz="1000">
                <a:solidFill>
                  <a:srgbClr val="666666"/>
                </a:solidFill>
                <a:latin typeface="Viedoc Monument Grotesk" pitchFamily="34" charset="0"/>
                <a:ea typeface="Viedoc Monument Grotesk" pitchFamily="34" charset="-122"/>
                <a:cs typeface="Viedoc Monument Grotesk" pitchFamily="34" charset="-120"/>
              </a:rPr>
              <a:t>JP / ZH coordination • EDC • regional timing</a:t>
            </a:r>
            <a:endParaRPr lang="en-US" sz="1000"/>
          </a:p>
        </p:txBody>
      </p:sp>
      <p:sp>
        <p:nvSpPr>
          <p:cNvPr id="62" name="Shape 60"/>
          <p:cNvSpPr/>
          <p:nvPr/>
        </p:nvSpPr>
        <p:spPr>
          <a:xfrm>
            <a:off x="7360920" y="5230368"/>
            <a:ext cx="2075688" cy="749808"/>
          </a:xfrm>
          <a:prstGeom prst="roundRect">
            <a:avLst>
              <a:gd name="adj" fmla="val 4878"/>
            </a:avLst>
          </a:prstGeom>
          <a:solidFill>
            <a:srgbClr val="FFFFFF"/>
          </a:solidFill>
          <a:ln w="11430">
            <a:solidFill>
              <a:srgbClr val="D5CFF1"/>
            </a:solidFill>
            <a:prstDash val="solid"/>
          </a:ln>
        </p:spPr>
        <p:txBody>
          <a:bodyPr/>
          <a:lstStyle/>
          <a:p>
            <a:endParaRPr lang="en-SE"/>
          </a:p>
        </p:txBody>
      </p:sp>
      <p:sp>
        <p:nvSpPr>
          <p:cNvPr id="63" name="Text 61"/>
          <p:cNvSpPr/>
          <p:nvPr/>
        </p:nvSpPr>
        <p:spPr>
          <a:xfrm>
            <a:off x="7452360" y="5321808"/>
            <a:ext cx="1892808" cy="173736"/>
          </a:xfrm>
          <a:prstGeom prst="rect">
            <a:avLst/>
          </a:prstGeom>
          <a:noFill/>
          <a:ln/>
        </p:spPr>
        <p:txBody>
          <a:bodyPr wrap="square" lIns="0" tIns="0" rIns="0" bIns="0" rtlCol="0" anchor="ctr"/>
          <a:lstStyle/>
          <a:p>
            <a:pPr marL="0" indent="0" algn="ctr">
              <a:buNone/>
            </a:pPr>
            <a:r>
              <a:rPr lang="en-US" sz="980" b="1">
                <a:solidFill>
                  <a:srgbClr val="171717"/>
                </a:solidFill>
                <a:latin typeface="Viedoc Monument Grotesk" pitchFamily="34" charset="0"/>
                <a:ea typeface="Viedoc Monument Grotesk" pitchFamily="34" charset="-122"/>
                <a:cs typeface="Viedoc Monument Grotesk" pitchFamily="34" charset="-120"/>
              </a:rPr>
              <a:t>Publishing &amp; distribution</a:t>
            </a:r>
            <a:endParaRPr lang="en-US" sz="980"/>
          </a:p>
        </p:txBody>
      </p:sp>
      <p:sp>
        <p:nvSpPr>
          <p:cNvPr id="64" name="Text 62"/>
          <p:cNvSpPr/>
          <p:nvPr/>
        </p:nvSpPr>
        <p:spPr>
          <a:xfrm>
            <a:off x="7470648" y="5550408"/>
            <a:ext cx="1856232" cy="310896"/>
          </a:xfrm>
          <a:prstGeom prst="rect">
            <a:avLst/>
          </a:prstGeom>
          <a:noFill/>
          <a:ln/>
        </p:spPr>
        <p:txBody>
          <a:bodyPr wrap="square" lIns="0" tIns="0" rIns="0" bIns="0" rtlCol="0" anchor="ctr">
            <a:normAutofit/>
          </a:bodyPr>
          <a:lstStyle/>
          <a:p>
            <a:pPr algn="ctr"/>
            <a:r>
              <a:rPr lang="en-US" sz="1000">
                <a:solidFill>
                  <a:srgbClr val="666666"/>
                </a:solidFill>
                <a:latin typeface="Viedoc Monument Grotesk"/>
                <a:ea typeface="Viedoc Monument Grotesk" pitchFamily="34" charset="-122"/>
                <a:cs typeface="Viedoc Monument Grotesk" pitchFamily="34" charset="-120"/>
              </a:rPr>
              <a:t>ProcessWire • websites • HubSpot • certificates</a:t>
            </a:r>
            <a:endParaRPr lang="en-US" sz="1000">
              <a:latin typeface="Viedoc Monument Grotesk"/>
            </a:endParaRPr>
          </a:p>
        </p:txBody>
      </p:sp>
      <p:sp>
        <p:nvSpPr>
          <p:cNvPr id="65" name="Shape 63"/>
          <p:cNvSpPr/>
          <p:nvPr/>
        </p:nvSpPr>
        <p:spPr>
          <a:xfrm>
            <a:off x="9592056" y="5230368"/>
            <a:ext cx="2075688" cy="749808"/>
          </a:xfrm>
          <a:prstGeom prst="roundRect">
            <a:avLst>
              <a:gd name="adj" fmla="val 4878"/>
            </a:avLst>
          </a:prstGeom>
          <a:solidFill>
            <a:srgbClr val="FFFFFF"/>
          </a:solidFill>
          <a:ln w="11430">
            <a:solidFill>
              <a:srgbClr val="D5CFF1"/>
            </a:solidFill>
            <a:prstDash val="solid"/>
          </a:ln>
        </p:spPr>
        <p:txBody>
          <a:bodyPr/>
          <a:lstStyle/>
          <a:p>
            <a:endParaRPr lang="en-SE"/>
          </a:p>
        </p:txBody>
      </p:sp>
      <p:sp>
        <p:nvSpPr>
          <p:cNvPr id="66" name="Text 64"/>
          <p:cNvSpPr/>
          <p:nvPr/>
        </p:nvSpPr>
        <p:spPr>
          <a:xfrm>
            <a:off x="9683496" y="5321808"/>
            <a:ext cx="1892808" cy="173736"/>
          </a:xfrm>
          <a:prstGeom prst="rect">
            <a:avLst/>
          </a:prstGeom>
          <a:noFill/>
          <a:ln/>
        </p:spPr>
        <p:txBody>
          <a:bodyPr wrap="square" lIns="0" tIns="0" rIns="0" bIns="0" rtlCol="0" anchor="ctr"/>
          <a:lstStyle/>
          <a:p>
            <a:pPr marL="0" indent="0" algn="ctr">
              <a:buNone/>
            </a:pPr>
            <a:r>
              <a:rPr lang="en-US" sz="980" b="1">
                <a:solidFill>
                  <a:srgbClr val="171717"/>
                </a:solidFill>
                <a:latin typeface="Viedoc Monument Grotesk" pitchFamily="34" charset="0"/>
                <a:ea typeface="Viedoc Monument Grotesk" pitchFamily="34" charset="-122"/>
                <a:cs typeface="Viedoc Monument Grotesk" pitchFamily="34" charset="-120"/>
              </a:rPr>
              <a:t>Archiving &amp; hand-off</a:t>
            </a:r>
            <a:endParaRPr lang="en-US" sz="980"/>
          </a:p>
        </p:txBody>
      </p:sp>
      <p:sp>
        <p:nvSpPr>
          <p:cNvPr id="67" name="Text 65"/>
          <p:cNvSpPr/>
          <p:nvPr/>
        </p:nvSpPr>
        <p:spPr>
          <a:xfrm>
            <a:off x="9701784" y="5550408"/>
            <a:ext cx="1856232" cy="310896"/>
          </a:xfrm>
          <a:prstGeom prst="rect">
            <a:avLst/>
          </a:prstGeom>
          <a:noFill/>
          <a:ln/>
        </p:spPr>
        <p:txBody>
          <a:bodyPr wrap="square" lIns="0" tIns="0" rIns="0" bIns="0" rtlCol="0" anchor="ctr">
            <a:normAutofit/>
          </a:bodyPr>
          <a:lstStyle/>
          <a:p>
            <a:pPr marL="0" indent="0" algn="ctr">
              <a:buNone/>
            </a:pPr>
            <a:r>
              <a:rPr lang="en-US" sz="1000">
                <a:solidFill>
                  <a:srgbClr val="666666"/>
                </a:solidFill>
                <a:latin typeface="Viedoc Monument Grotesk" pitchFamily="34" charset="0"/>
                <a:ea typeface="Viedoc Monument Grotesk" pitchFamily="34" charset="-122"/>
                <a:cs typeface="Viedoc Monument Grotesk" pitchFamily="34" charset="-120"/>
              </a:rPr>
              <a:t>SharePoint • curricula PDFs • release-day updates</a:t>
            </a:r>
            <a:endParaRPr lang="en-US" sz="1000"/>
          </a:p>
        </p:txBody>
      </p:sp>
      <p:sp>
        <p:nvSpPr>
          <p:cNvPr id="68" name="Text 66"/>
          <p:cNvSpPr/>
          <p:nvPr/>
        </p:nvSpPr>
        <p:spPr>
          <a:xfrm>
            <a:off x="658368" y="6291072"/>
            <a:ext cx="10927080" cy="237744"/>
          </a:xfrm>
          <a:prstGeom prst="rect">
            <a:avLst/>
          </a:prstGeom>
          <a:noFill/>
          <a:ln/>
        </p:spPr>
        <p:txBody>
          <a:bodyPr wrap="square" lIns="0" tIns="0" rIns="0" bIns="0" rtlCol="0" anchor="ctr"/>
          <a:lstStyle/>
          <a:p>
            <a:pPr marL="0" indent="0" algn="ctr">
              <a:buNone/>
            </a:pPr>
            <a:r>
              <a:rPr lang="en-US" sz="1020" i="1">
                <a:solidFill>
                  <a:srgbClr val="666666"/>
                </a:solidFill>
                <a:latin typeface="Viedoc Monument Grotesk" pitchFamily="34" charset="0"/>
                <a:ea typeface="Viedoc Monument Grotesk" pitchFamily="34" charset="-122"/>
                <a:cs typeface="Viedoc Monument Grotesk" pitchFamily="34" charset="-120"/>
              </a:rPr>
              <a:t>The workflows are linear on paper; in practice, this support layer is where the checking, follow-up, waiting and rework happen.</a:t>
            </a:r>
            <a:endParaRPr lang="en-US" sz="1020"/>
          </a:p>
        </p:txBody>
      </p:sp>
      <p:sp>
        <p:nvSpPr>
          <p:cNvPr id="69"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700" kern="1200">
                <a:solidFill>
                  <a:srgbClr val="777777"/>
                </a:solidFill>
                <a:latin typeface="Viedoc Monument Grotesk"/>
                <a:ea typeface="+mn-ea"/>
                <a:cs typeface="+mn-cs"/>
              </a:defRPr>
            </a:lvl1pPr>
            <a:lvl2pPr marL="457200" algn="l" defTabSz="914400" rtl="0" eaLnBrk="1" latinLnBrk="0" hangingPunct="1">
              <a:defRPr sz="1800" kern="1200">
                <a:solidFill>
                  <a:schemeClr val="tx1"/>
                </a:solidFill>
                <a:latin typeface="Viedoc Monument Grotesk"/>
                <a:ea typeface="+mn-ea"/>
                <a:cs typeface="+mn-cs"/>
              </a:defRPr>
            </a:lvl2pPr>
            <a:lvl3pPr marL="914400" algn="l" defTabSz="914400" rtl="0" eaLnBrk="1" latinLnBrk="0" hangingPunct="1">
              <a:defRPr sz="1800" kern="1200">
                <a:solidFill>
                  <a:schemeClr val="tx1"/>
                </a:solidFill>
                <a:latin typeface="Viedoc Monument Grotesk"/>
                <a:ea typeface="+mn-ea"/>
                <a:cs typeface="+mn-cs"/>
              </a:defRPr>
            </a:lvl3pPr>
            <a:lvl4pPr marL="1371600" algn="l" defTabSz="914400" rtl="0" eaLnBrk="1" latinLnBrk="0" hangingPunct="1">
              <a:defRPr sz="1800" kern="1200">
                <a:solidFill>
                  <a:schemeClr val="tx1"/>
                </a:solidFill>
                <a:latin typeface="Viedoc Monument Grotesk"/>
                <a:ea typeface="+mn-ea"/>
                <a:cs typeface="+mn-cs"/>
              </a:defRPr>
            </a:lvl4pPr>
            <a:lvl5pPr marL="1828800" algn="l" defTabSz="914400" rtl="0" eaLnBrk="1" latinLnBrk="0" hangingPunct="1">
              <a:defRPr sz="1800" kern="1200">
                <a:solidFill>
                  <a:schemeClr val="tx1"/>
                </a:solidFill>
                <a:latin typeface="Viedoc Monument Grotesk"/>
                <a:ea typeface="+mn-ea"/>
                <a:cs typeface="+mn-cs"/>
              </a:defRPr>
            </a:lvl5pPr>
            <a:lvl6pPr marL="2286000" algn="l" defTabSz="914400" rtl="0" eaLnBrk="1" latinLnBrk="0" hangingPunct="1">
              <a:defRPr sz="1800" kern="1200">
                <a:solidFill>
                  <a:schemeClr val="tx1"/>
                </a:solidFill>
                <a:latin typeface="Viedoc Monument Grotesk"/>
                <a:ea typeface="+mn-ea"/>
                <a:cs typeface="+mn-cs"/>
              </a:defRPr>
            </a:lvl6pPr>
            <a:lvl7pPr marL="2743200" algn="l" defTabSz="914400" rtl="0" eaLnBrk="1" latinLnBrk="0" hangingPunct="1">
              <a:defRPr sz="1800" kern="1200">
                <a:solidFill>
                  <a:schemeClr val="tx1"/>
                </a:solidFill>
                <a:latin typeface="Viedoc Monument Grotesk"/>
                <a:ea typeface="+mn-ea"/>
                <a:cs typeface="+mn-cs"/>
              </a:defRPr>
            </a:lvl7pPr>
            <a:lvl8pPr marL="3200400" algn="l" defTabSz="914400" rtl="0" eaLnBrk="1" latinLnBrk="0" hangingPunct="1">
              <a:defRPr sz="1800" kern="1200">
                <a:solidFill>
                  <a:schemeClr val="tx1"/>
                </a:solidFill>
                <a:latin typeface="Viedoc Monument Grotesk"/>
                <a:ea typeface="+mn-ea"/>
                <a:cs typeface="+mn-cs"/>
              </a:defRPr>
            </a:lvl8pPr>
            <a:lvl9pPr marL="3657600" algn="l" defTabSz="914400" rtl="0" eaLnBrk="1" latinLnBrk="0" hangingPunct="1">
              <a:defRPr sz="1800" kern="1200">
                <a:solidFill>
                  <a:schemeClr val="tx1"/>
                </a:solidFill>
                <a:latin typeface="Viedoc Monument Grotesk"/>
                <a:ea typeface="+mn-ea"/>
                <a:cs typeface="+mn-cs"/>
              </a:defRPr>
            </a:lvl9pPr>
          </a:lstStyle>
          <a:p>
            <a:pPr algn="l"/>
            <a:fld id="{F7021451-1387-4CA6-816F-3879F97B5CBC}" type="slidenum">
              <a:rPr lang="en-US" smtClean="0"/>
              <a:t>53</a:t>
            </a:fld>
            <a:endParaRPr lang="en-US"/>
          </a:p>
        </p:txBody>
      </p:sp>
    </p:spTree>
    <p:extLst>
      <p:ext uri="{BB962C8B-B14F-4D97-AF65-F5344CB8AC3E}">
        <p14:creationId xmlns:p14="http://schemas.microsoft.com/office/powerpoint/2010/main" val="9623554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Product Communication: Release &amp; Release Notes</a:t>
            </a:r>
          </a:p>
        </p:txBody>
      </p:sp>
      <p:sp>
        <p:nvSpPr>
          <p:cNvPr id="41" name="Rule"/>
          <p:cNvSpPr/>
          <p:nvPr/>
        </p:nvSpPr>
        <p:spPr>
          <a:xfrm>
            <a:off x="411480" y="1440000"/>
            <a:ext cx="5300000" cy="63500"/>
          </a:xfrm>
          <a:prstGeom prst="rect">
            <a:avLst/>
          </a:prstGeom>
          <a:solidFill>
            <a:srgbClr val="8E7DD2"/>
          </a:solidFill>
          <a:ln>
            <a:noFill/>
          </a:ln>
        </p:spPr>
        <p:txBody>
          <a:bodyPr/>
          <a:lstStyle/>
          <a:p>
            <a:endParaRPr/>
          </a:p>
        </p:txBody>
      </p:sp>
      <p:sp>
        <p:nvSpPr>
          <p:cNvPr id="42" name="TextBox"/>
          <p:cNvSpPr txBox="1"/>
          <p:nvPr/>
        </p:nvSpPr>
        <p:spPr>
          <a:xfrm>
            <a:off x="411480" y="1590000"/>
            <a:ext cx="5300000" cy="340000"/>
          </a:xfrm>
          <a:prstGeom prst="rect">
            <a:avLst/>
          </a:prstGeom>
          <a:noFill/>
        </p:spPr>
        <p:txBody>
          <a:bodyPr wrap="square" lIns="0" tIns="0" rIns="0" bIns="0" anchor="t">
            <a:noAutofit/>
          </a:bodyPr>
          <a:lstStyle/>
          <a:p>
            <a:pPr algn="l"/>
            <a:r>
              <a:rPr lang="en-US" sz="1600" b="1">
                <a:solidFill>
                  <a:srgbClr val="000000"/>
                </a:solidFill>
                <a:latin typeface="Viedoc Monument Grotesk"/>
              </a:rPr>
              <a:t>Learning, translation and JPMA EDC</a:t>
            </a:r>
          </a:p>
        </p:txBody>
      </p:sp>
      <p:sp>
        <p:nvSpPr>
          <p:cNvPr id="43" name="Step"/>
          <p:cNvSpPr/>
          <p:nvPr/>
        </p:nvSpPr>
        <p:spPr>
          <a:xfrm>
            <a:off x="411480" y="2060000"/>
            <a:ext cx="340000" cy="340000"/>
          </a:xfrm>
          <a:prstGeom prst="ellipse">
            <a:avLst/>
          </a:prstGeom>
          <a:solidFill>
            <a:srgbClr val="8E7DD2"/>
          </a:solidFill>
          <a:ln>
            <a:noFill/>
          </a:ln>
        </p:spPr>
        <p:txBody>
          <a:bodyPr wrap="square" lIns="0" tIns="0" rIns="0" bIns="0" anchor="ctr">
            <a:noAutofit/>
          </a:bodyPr>
          <a:lstStyle/>
          <a:p>
            <a:pPr algn="ctr"/>
            <a:r>
              <a:rPr lang="en-US" sz="1300" b="1">
                <a:solidFill>
                  <a:srgbClr val="FFFFFF"/>
                </a:solidFill>
                <a:latin typeface="Viedoc Monument Grotesk"/>
              </a:rPr>
              <a:t>1</a:t>
            </a:r>
          </a:p>
        </p:txBody>
      </p:sp>
      <p:sp>
        <p:nvSpPr>
          <p:cNvPr id="44" name="TextBox"/>
          <p:cNvSpPr txBox="1"/>
          <p:nvPr/>
        </p:nvSpPr>
        <p:spPr>
          <a:xfrm>
            <a:off x="891480" y="2090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Identify Learning updates from tagged PBIs, Confluence, PM/Dev walkthroughs and LA tickets; track them in Excel.</a:t>
            </a:r>
          </a:p>
        </p:txBody>
      </p:sp>
      <p:sp>
        <p:nvSpPr>
          <p:cNvPr id="45" name="Step"/>
          <p:cNvSpPr/>
          <p:nvPr/>
        </p:nvSpPr>
        <p:spPr>
          <a:xfrm>
            <a:off x="411480" y="2725000"/>
            <a:ext cx="340000" cy="340000"/>
          </a:xfrm>
          <a:prstGeom prst="ellipse">
            <a:avLst/>
          </a:prstGeom>
          <a:solidFill>
            <a:srgbClr val="8E7DD2"/>
          </a:solidFill>
          <a:ln>
            <a:noFill/>
          </a:ln>
        </p:spPr>
        <p:txBody>
          <a:bodyPr wrap="square" lIns="0" tIns="0" rIns="0" bIns="0" anchor="ctr">
            <a:noAutofit/>
          </a:bodyPr>
          <a:lstStyle/>
          <a:p>
            <a:pPr algn="ctr"/>
            <a:r>
              <a:rPr lang="en-US" sz="1300" b="1">
                <a:solidFill>
                  <a:srgbClr val="FFFFFF"/>
                </a:solidFill>
                <a:latin typeface="Viedoc Monument Grotesk"/>
              </a:rPr>
              <a:t>2</a:t>
            </a:r>
          </a:p>
        </p:txBody>
      </p:sp>
      <p:sp>
        <p:nvSpPr>
          <p:cNvPr id="46" name="TextBox"/>
          <p:cNvSpPr txBox="1"/>
          <p:nvPr/>
        </p:nvSpPr>
        <p:spPr>
          <a:xfrm>
            <a:off x="891480" y="2755000"/>
            <a:ext cx="4820000" cy="620000"/>
          </a:xfrm>
          <a:prstGeom prst="rect">
            <a:avLst/>
          </a:prstGeom>
          <a:noFill/>
        </p:spPr>
        <p:txBody>
          <a:bodyPr wrap="square" lIns="0" tIns="0" rIns="0" bIns="0" anchor="t">
            <a:noAutofit/>
          </a:bodyPr>
          <a:lstStyle/>
          <a:p>
            <a:r>
              <a:rPr lang="en-US" sz="1400">
                <a:solidFill>
                  <a:srgbClr val="000000"/>
                </a:solidFill>
                <a:latin typeface="Viedoc Monument Grotesk"/>
              </a:rPr>
              <a:t>Map and draft</a:t>
            </a:r>
            <a:r>
              <a:rPr lang="en-US" sz="1400" b="0">
                <a:solidFill>
                  <a:srgbClr val="000000"/>
                </a:solidFill>
                <a:latin typeface="Viedoc Monument Grotesk"/>
              </a:rPr>
              <a:t> the content in ProcessWire, obtain PM/Dev review and flag gaps back.</a:t>
            </a:r>
          </a:p>
        </p:txBody>
      </p:sp>
      <p:sp>
        <p:nvSpPr>
          <p:cNvPr id="47" name="Step"/>
          <p:cNvSpPr/>
          <p:nvPr/>
        </p:nvSpPr>
        <p:spPr>
          <a:xfrm>
            <a:off x="411480" y="3390000"/>
            <a:ext cx="340000" cy="340000"/>
          </a:xfrm>
          <a:prstGeom prst="ellipse">
            <a:avLst/>
          </a:prstGeom>
          <a:solidFill>
            <a:srgbClr val="8E7DD2"/>
          </a:solidFill>
          <a:ln>
            <a:noFill/>
          </a:ln>
        </p:spPr>
        <p:txBody>
          <a:bodyPr wrap="square" lIns="0" tIns="0" rIns="0" bIns="0" anchor="ctr">
            <a:noAutofit/>
          </a:bodyPr>
          <a:lstStyle/>
          <a:p>
            <a:pPr algn="ctr"/>
            <a:r>
              <a:rPr lang="en-US" sz="1300" b="1">
                <a:solidFill>
                  <a:srgbClr val="FFFFFF"/>
                </a:solidFill>
                <a:latin typeface="Viedoc Monument Grotesk"/>
              </a:rPr>
              <a:t>3</a:t>
            </a:r>
          </a:p>
        </p:txBody>
      </p:sp>
      <p:sp>
        <p:nvSpPr>
          <p:cNvPr id="48" name="TextBox"/>
          <p:cNvSpPr txBox="1"/>
          <p:nvPr/>
        </p:nvSpPr>
        <p:spPr>
          <a:xfrm>
            <a:off x="891480" y="3420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Check for new system languages and known limitations.</a:t>
            </a:r>
          </a:p>
        </p:txBody>
      </p:sp>
      <p:sp>
        <p:nvSpPr>
          <p:cNvPr id="49" name="Step"/>
          <p:cNvSpPr/>
          <p:nvPr/>
        </p:nvSpPr>
        <p:spPr>
          <a:xfrm>
            <a:off x="411480" y="4055000"/>
            <a:ext cx="340000" cy="340000"/>
          </a:xfrm>
          <a:prstGeom prst="ellipse">
            <a:avLst/>
          </a:prstGeom>
          <a:solidFill>
            <a:srgbClr val="8E7DD2"/>
          </a:solidFill>
          <a:ln>
            <a:noFill/>
          </a:ln>
        </p:spPr>
        <p:txBody>
          <a:bodyPr wrap="square" lIns="0" tIns="0" rIns="0" bIns="0" anchor="ctr">
            <a:noAutofit/>
          </a:bodyPr>
          <a:lstStyle/>
          <a:p>
            <a:pPr algn="ctr"/>
            <a:r>
              <a:rPr lang="en-US" sz="1300" b="1">
                <a:solidFill>
                  <a:srgbClr val="FFFFFF"/>
                </a:solidFill>
                <a:latin typeface="Viedoc Monument Grotesk"/>
              </a:rPr>
              <a:t>4</a:t>
            </a:r>
          </a:p>
        </p:txBody>
      </p:sp>
      <p:sp>
        <p:nvSpPr>
          <p:cNvPr id="50" name="TextBox"/>
          <p:cNvSpPr txBox="1"/>
          <p:nvPr/>
        </p:nvSpPr>
        <p:spPr>
          <a:xfrm>
            <a:off x="891480" y="4085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Provide diff PDFs to the JP and ZH translators; confirm translations are published.</a:t>
            </a:r>
          </a:p>
        </p:txBody>
      </p:sp>
      <p:sp>
        <p:nvSpPr>
          <p:cNvPr id="51" name="Step"/>
          <p:cNvSpPr/>
          <p:nvPr/>
        </p:nvSpPr>
        <p:spPr>
          <a:xfrm>
            <a:off x="411480" y="4720000"/>
            <a:ext cx="340000" cy="340000"/>
          </a:xfrm>
          <a:prstGeom prst="ellipse">
            <a:avLst/>
          </a:prstGeom>
          <a:solidFill>
            <a:srgbClr val="8E7DD2"/>
          </a:solidFill>
          <a:ln>
            <a:noFill/>
          </a:ln>
        </p:spPr>
        <p:txBody>
          <a:bodyPr wrap="square" lIns="0" tIns="0" rIns="0" bIns="0" anchor="ctr">
            <a:noAutofit/>
          </a:bodyPr>
          <a:lstStyle/>
          <a:p>
            <a:pPr algn="ctr"/>
            <a:r>
              <a:rPr lang="en-US" sz="1300" b="1">
                <a:solidFill>
                  <a:srgbClr val="FFFFFF"/>
                </a:solidFill>
                <a:latin typeface="Viedoc Monument Grotesk"/>
              </a:rPr>
              <a:t>5</a:t>
            </a:r>
          </a:p>
        </p:txBody>
      </p:sp>
      <p:sp>
        <p:nvSpPr>
          <p:cNvPr id="52" name="TextBox"/>
          <p:cNvSpPr txBox="1"/>
          <p:nvPr/>
        </p:nvSpPr>
        <p:spPr>
          <a:xfrm>
            <a:off x="891480" y="4750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EDC Management Sheets: new PMOff01 number, update the sheet, coordinate with QA and Japan, upload to the JP site.</a:t>
            </a:r>
          </a:p>
        </p:txBody>
      </p:sp>
      <p:sp>
        <p:nvSpPr>
          <p:cNvPr id="53" name="Step"/>
          <p:cNvSpPr/>
          <p:nvPr/>
        </p:nvSpPr>
        <p:spPr>
          <a:xfrm>
            <a:off x="411480" y="5385000"/>
            <a:ext cx="340000" cy="340000"/>
          </a:xfrm>
          <a:prstGeom prst="ellipse">
            <a:avLst/>
          </a:prstGeom>
          <a:solidFill>
            <a:srgbClr val="8E7DD2"/>
          </a:solidFill>
          <a:ln>
            <a:noFill/>
          </a:ln>
        </p:spPr>
        <p:txBody>
          <a:bodyPr wrap="square" lIns="0" tIns="0" rIns="0" bIns="0" anchor="ctr">
            <a:noAutofit/>
          </a:bodyPr>
          <a:lstStyle/>
          <a:p>
            <a:pPr algn="ctr"/>
            <a:r>
              <a:rPr lang="en-US" sz="1300" b="1">
                <a:solidFill>
                  <a:srgbClr val="FFFFFF"/>
                </a:solidFill>
                <a:latin typeface="Viedoc Monument Grotesk"/>
              </a:rPr>
              <a:t>6</a:t>
            </a:r>
          </a:p>
        </p:txBody>
      </p:sp>
      <p:sp>
        <p:nvSpPr>
          <p:cNvPr id="54" name="TextBox"/>
          <p:cNvSpPr txBox="1"/>
          <p:nvPr/>
        </p:nvSpPr>
        <p:spPr>
          <a:xfrm>
            <a:off x="891480" y="5415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Release day: publish lessons and curricula, archive PDFs to SharePoint, post the Teams update.</a:t>
            </a:r>
          </a:p>
        </p:txBody>
      </p:sp>
      <p:sp>
        <p:nvSpPr>
          <p:cNvPr id="55" name="Rule"/>
          <p:cNvSpPr/>
          <p:nvPr/>
        </p:nvSpPr>
        <p:spPr>
          <a:xfrm>
            <a:off x="6480520" y="1440000"/>
            <a:ext cx="5300000" cy="63500"/>
          </a:xfrm>
          <a:prstGeom prst="rect">
            <a:avLst/>
          </a:prstGeom>
          <a:solidFill>
            <a:srgbClr val="1295D8"/>
          </a:solidFill>
          <a:ln>
            <a:noFill/>
          </a:ln>
        </p:spPr>
        <p:txBody>
          <a:bodyPr/>
          <a:lstStyle/>
          <a:p>
            <a:endParaRPr/>
          </a:p>
        </p:txBody>
      </p:sp>
      <p:sp>
        <p:nvSpPr>
          <p:cNvPr id="56" name="TextBox"/>
          <p:cNvSpPr txBox="1"/>
          <p:nvPr/>
        </p:nvSpPr>
        <p:spPr>
          <a:xfrm>
            <a:off x="6480520" y="1590000"/>
            <a:ext cx="5300000" cy="340000"/>
          </a:xfrm>
          <a:prstGeom prst="rect">
            <a:avLst/>
          </a:prstGeom>
          <a:noFill/>
        </p:spPr>
        <p:txBody>
          <a:bodyPr wrap="square" lIns="0" tIns="0" rIns="0" bIns="0" anchor="t">
            <a:noAutofit/>
          </a:bodyPr>
          <a:lstStyle/>
          <a:p>
            <a:pPr algn="l"/>
            <a:r>
              <a:rPr lang="en-US" sz="1600" b="1">
                <a:solidFill>
                  <a:srgbClr val="000000"/>
                </a:solidFill>
                <a:latin typeface="Viedoc Monument Grotesk"/>
              </a:rPr>
              <a:t>Release notes</a:t>
            </a:r>
          </a:p>
        </p:txBody>
      </p:sp>
      <p:sp>
        <p:nvSpPr>
          <p:cNvPr id="57" name="Step"/>
          <p:cNvSpPr/>
          <p:nvPr/>
        </p:nvSpPr>
        <p:spPr>
          <a:xfrm>
            <a:off x="6480520" y="2060000"/>
            <a:ext cx="340000" cy="340000"/>
          </a:xfrm>
          <a:prstGeom prst="ellipse">
            <a:avLst/>
          </a:prstGeom>
          <a:solidFill>
            <a:srgbClr val="1295D8"/>
          </a:solidFill>
          <a:ln>
            <a:noFill/>
          </a:ln>
        </p:spPr>
        <p:txBody>
          <a:bodyPr wrap="square" lIns="0" tIns="0" rIns="0" bIns="0" anchor="ctr">
            <a:noAutofit/>
          </a:bodyPr>
          <a:lstStyle/>
          <a:p>
            <a:pPr algn="ctr"/>
            <a:r>
              <a:rPr lang="en-US" sz="1300" b="1">
                <a:solidFill>
                  <a:srgbClr val="FFFFFF"/>
                </a:solidFill>
                <a:latin typeface="Viedoc Monument Grotesk"/>
              </a:rPr>
              <a:t>1</a:t>
            </a:r>
          </a:p>
        </p:txBody>
      </p:sp>
      <p:sp>
        <p:nvSpPr>
          <p:cNvPr id="58" name="TextBox"/>
          <p:cNvSpPr txBox="1"/>
          <p:nvPr/>
        </p:nvSpPr>
        <p:spPr>
          <a:xfrm>
            <a:off x="6960520" y="2090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Check that PMs and Devs added RN content and the release label in Azure DevOps</a:t>
            </a:r>
            <a:r>
              <a:rPr lang="en-US" sz="1400">
                <a:solidFill>
                  <a:srgbClr val="000000"/>
                </a:solidFill>
                <a:latin typeface="Viedoc Monument Grotesk"/>
              </a:rPr>
              <a:t>.</a:t>
            </a:r>
            <a:endParaRPr lang="en-US" sz="1400" b="0">
              <a:solidFill>
                <a:srgbClr val="000000"/>
              </a:solidFill>
              <a:latin typeface="Viedoc Monument Grotesk"/>
            </a:endParaRPr>
          </a:p>
        </p:txBody>
      </p:sp>
      <p:sp>
        <p:nvSpPr>
          <p:cNvPr id="59" name="Step"/>
          <p:cNvSpPr/>
          <p:nvPr/>
        </p:nvSpPr>
        <p:spPr>
          <a:xfrm>
            <a:off x="6480520" y="2725000"/>
            <a:ext cx="340000" cy="340000"/>
          </a:xfrm>
          <a:prstGeom prst="ellipse">
            <a:avLst/>
          </a:prstGeom>
          <a:solidFill>
            <a:srgbClr val="1295D8"/>
          </a:solidFill>
          <a:ln>
            <a:noFill/>
          </a:ln>
        </p:spPr>
        <p:txBody>
          <a:bodyPr wrap="square" lIns="0" tIns="0" rIns="0" bIns="0" anchor="ctr">
            <a:noAutofit/>
          </a:bodyPr>
          <a:lstStyle/>
          <a:p>
            <a:pPr algn="ctr"/>
            <a:r>
              <a:rPr lang="en-US" sz="1300" b="1">
                <a:solidFill>
                  <a:srgbClr val="FFFFFF"/>
                </a:solidFill>
                <a:latin typeface="Viedoc Monument Grotesk"/>
              </a:rPr>
              <a:t>2</a:t>
            </a:r>
          </a:p>
        </p:txBody>
      </p:sp>
      <p:sp>
        <p:nvSpPr>
          <p:cNvPr id="60" name="TextBox"/>
          <p:cNvSpPr txBox="1"/>
          <p:nvPr/>
        </p:nvSpPr>
        <p:spPr>
          <a:xfrm>
            <a:off x="6960520" y="2755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Obtain a new PMOff01 number; review and edit in Azure and run the Release Notes Report.</a:t>
            </a:r>
          </a:p>
        </p:txBody>
      </p:sp>
      <p:sp>
        <p:nvSpPr>
          <p:cNvPr id="61" name="Step"/>
          <p:cNvSpPr/>
          <p:nvPr/>
        </p:nvSpPr>
        <p:spPr>
          <a:xfrm>
            <a:off x="6480520" y="3390000"/>
            <a:ext cx="340000" cy="340000"/>
          </a:xfrm>
          <a:prstGeom prst="ellipse">
            <a:avLst/>
          </a:prstGeom>
          <a:solidFill>
            <a:srgbClr val="1295D8"/>
          </a:solidFill>
          <a:ln>
            <a:noFill/>
          </a:ln>
        </p:spPr>
        <p:txBody>
          <a:bodyPr wrap="square" lIns="0" tIns="0" rIns="0" bIns="0" anchor="ctr">
            <a:noAutofit/>
          </a:bodyPr>
          <a:lstStyle/>
          <a:p>
            <a:pPr algn="ctr"/>
            <a:r>
              <a:rPr lang="en-US" sz="1300" b="1">
                <a:solidFill>
                  <a:srgbClr val="FFFFFF"/>
                </a:solidFill>
                <a:latin typeface="Viedoc Monument Grotesk"/>
              </a:rPr>
              <a:t>3</a:t>
            </a:r>
          </a:p>
        </p:txBody>
      </p:sp>
      <p:sp>
        <p:nvSpPr>
          <p:cNvPr id="62" name="TextBox"/>
          <p:cNvSpPr txBox="1"/>
          <p:nvPr/>
        </p:nvSpPr>
        <p:spPr>
          <a:xfrm>
            <a:off x="6960520" y="3420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Antti formats the PDF and Royden signs </a:t>
            </a:r>
            <a:r>
              <a:rPr lang="en-US" sz="1400">
                <a:solidFill>
                  <a:srgbClr val="000000"/>
                </a:solidFill>
                <a:latin typeface="Viedoc Monument Grotesk"/>
              </a:rPr>
              <a:t>it.</a:t>
            </a:r>
            <a:endParaRPr lang="en-US" sz="1400" b="0">
              <a:solidFill>
                <a:srgbClr val="000000"/>
              </a:solidFill>
              <a:latin typeface="Viedoc Monument Grotesk"/>
            </a:endParaRPr>
          </a:p>
        </p:txBody>
      </p:sp>
      <p:sp>
        <p:nvSpPr>
          <p:cNvPr id="63" name="Step"/>
          <p:cNvSpPr/>
          <p:nvPr/>
        </p:nvSpPr>
        <p:spPr>
          <a:xfrm>
            <a:off x="6480520" y="4055000"/>
            <a:ext cx="340000" cy="340000"/>
          </a:xfrm>
          <a:prstGeom prst="ellipse">
            <a:avLst/>
          </a:prstGeom>
          <a:solidFill>
            <a:srgbClr val="1295D8"/>
          </a:solidFill>
          <a:ln>
            <a:noFill/>
          </a:ln>
        </p:spPr>
        <p:txBody>
          <a:bodyPr wrap="square" lIns="0" tIns="0" rIns="0" bIns="0" anchor="ctr">
            <a:noAutofit/>
          </a:bodyPr>
          <a:lstStyle/>
          <a:p>
            <a:pPr algn="ctr"/>
            <a:r>
              <a:rPr lang="en-US" sz="1300" b="1">
                <a:solidFill>
                  <a:srgbClr val="FFFFFF"/>
                </a:solidFill>
                <a:latin typeface="Viedoc Monument Grotesk"/>
              </a:rPr>
              <a:t>4</a:t>
            </a:r>
          </a:p>
        </p:txBody>
      </p:sp>
      <p:sp>
        <p:nvSpPr>
          <p:cNvPr id="64" name="TextBox"/>
          <p:cNvSpPr txBox="1"/>
          <p:nvPr/>
        </p:nvSpPr>
        <p:spPr>
          <a:xfrm>
            <a:off x="6960520" y="4085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Write the summary bullets, reused on the website, in emails and in the EDC sheet.</a:t>
            </a:r>
          </a:p>
        </p:txBody>
      </p:sp>
      <p:sp>
        <p:nvSpPr>
          <p:cNvPr id="65" name="Step"/>
          <p:cNvSpPr/>
          <p:nvPr/>
        </p:nvSpPr>
        <p:spPr>
          <a:xfrm>
            <a:off x="6480520" y="4720000"/>
            <a:ext cx="340000" cy="340000"/>
          </a:xfrm>
          <a:prstGeom prst="ellipse">
            <a:avLst/>
          </a:prstGeom>
          <a:solidFill>
            <a:srgbClr val="1295D8"/>
          </a:solidFill>
          <a:ln>
            <a:noFill/>
          </a:ln>
        </p:spPr>
        <p:txBody>
          <a:bodyPr wrap="square" lIns="0" tIns="0" rIns="0" bIns="0" anchor="ctr">
            <a:noAutofit/>
          </a:bodyPr>
          <a:lstStyle/>
          <a:p>
            <a:pPr algn="ctr"/>
            <a:r>
              <a:rPr lang="en-US" sz="1300" b="1">
                <a:solidFill>
                  <a:srgbClr val="FFFFFF"/>
                </a:solidFill>
                <a:latin typeface="Viedoc Monument Grotesk"/>
              </a:rPr>
              <a:t>5</a:t>
            </a:r>
          </a:p>
        </p:txBody>
      </p:sp>
      <p:sp>
        <p:nvSpPr>
          <p:cNvPr id="66" name="TextBox"/>
          <p:cNvSpPr txBox="1"/>
          <p:nvPr/>
        </p:nvSpPr>
        <p:spPr>
          <a:xfrm>
            <a:off x="6960520" y="4750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Publish to the EN, JP and ZH websites</a:t>
            </a:r>
            <a:r>
              <a:rPr lang="en-US" sz="1400">
                <a:solidFill>
                  <a:srgbClr val="000000"/>
                </a:solidFill>
                <a:latin typeface="Viedoc Monument Grotesk"/>
              </a:rPr>
              <a:t>.</a:t>
            </a:r>
            <a:endParaRPr lang="en-US" sz="1400" b="0">
              <a:solidFill>
                <a:srgbClr val="000000"/>
              </a:solidFill>
              <a:latin typeface="Viedoc Monument Grotesk"/>
            </a:endParaRPr>
          </a:p>
        </p:txBody>
      </p:sp>
      <p:sp>
        <p:nvSpPr>
          <p:cNvPr id="67" name="Step"/>
          <p:cNvSpPr/>
          <p:nvPr/>
        </p:nvSpPr>
        <p:spPr>
          <a:xfrm>
            <a:off x="6480520" y="5385000"/>
            <a:ext cx="340000" cy="340000"/>
          </a:xfrm>
          <a:prstGeom prst="ellipse">
            <a:avLst/>
          </a:prstGeom>
          <a:solidFill>
            <a:srgbClr val="1295D8"/>
          </a:solidFill>
          <a:ln>
            <a:noFill/>
          </a:ln>
        </p:spPr>
        <p:txBody>
          <a:bodyPr wrap="square" lIns="0" tIns="0" rIns="0" bIns="0" anchor="ctr">
            <a:noAutofit/>
          </a:bodyPr>
          <a:lstStyle/>
          <a:p>
            <a:pPr algn="ctr"/>
            <a:r>
              <a:rPr lang="en-US" sz="1300" b="1">
                <a:solidFill>
                  <a:srgbClr val="FFFFFF"/>
                </a:solidFill>
                <a:latin typeface="Viedoc Monument Grotesk"/>
              </a:rPr>
              <a:t>6</a:t>
            </a:r>
          </a:p>
        </p:txBody>
      </p:sp>
      <p:sp>
        <p:nvSpPr>
          <p:cNvPr id="68" name="TextBox"/>
          <p:cNvSpPr txBox="1"/>
          <p:nvPr/>
        </p:nvSpPr>
        <p:spPr>
          <a:xfrm>
            <a:off x="6960520" y="5415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Update all three websites as the release goes live.</a:t>
            </a:r>
          </a:p>
        </p:txBody>
      </p:sp>
      <p:sp>
        <p:nvSpPr>
          <p:cNvPr id="69" name="Step"/>
          <p:cNvSpPr/>
          <p:nvPr/>
        </p:nvSpPr>
        <p:spPr>
          <a:xfrm>
            <a:off x="6480520" y="6050000"/>
            <a:ext cx="340000" cy="340000"/>
          </a:xfrm>
          <a:prstGeom prst="ellipse">
            <a:avLst/>
          </a:prstGeom>
          <a:solidFill>
            <a:srgbClr val="1295D8"/>
          </a:solidFill>
          <a:ln>
            <a:noFill/>
          </a:ln>
        </p:spPr>
        <p:txBody>
          <a:bodyPr wrap="square" lIns="0" tIns="0" rIns="0" bIns="0" anchor="ctr">
            <a:noAutofit/>
          </a:bodyPr>
          <a:lstStyle/>
          <a:p>
            <a:pPr algn="ctr"/>
            <a:r>
              <a:rPr lang="en-US" sz="1300" b="1">
                <a:solidFill>
                  <a:srgbClr val="FFFFFF"/>
                </a:solidFill>
                <a:latin typeface="Viedoc Monument Grotesk"/>
              </a:rPr>
              <a:t>7</a:t>
            </a:r>
          </a:p>
        </p:txBody>
      </p:sp>
      <p:sp>
        <p:nvSpPr>
          <p:cNvPr id="70" name="TextBox"/>
          <p:cNvSpPr txBox="1"/>
          <p:nvPr/>
        </p:nvSpPr>
        <p:spPr>
          <a:xfrm>
            <a:off x="6960520" y="6080000"/>
            <a:ext cx="4820000" cy="620000"/>
          </a:xfrm>
          <a:prstGeom prst="rect">
            <a:avLst/>
          </a:prstGeom>
          <a:noFill/>
        </p:spPr>
        <p:txBody>
          <a:bodyPr wrap="square" lIns="0" tIns="0" rIns="0" bIns="0" anchor="t">
            <a:noAutofit/>
          </a:bodyPr>
          <a:lstStyle/>
          <a:p>
            <a:pPr algn="l"/>
            <a:r>
              <a:rPr lang="en-US" sz="1400" b="0">
                <a:solidFill>
                  <a:srgbClr val="000000"/>
                </a:solidFill>
                <a:latin typeface="Viedoc Monument Grotesk"/>
              </a:rPr>
              <a:t>Upload the release certificate to all three websites on US release day.</a:t>
            </a:r>
          </a:p>
        </p:txBody>
      </p:sp>
    </p:spTree>
    <p:extLst>
      <p:ext uri="{BB962C8B-B14F-4D97-AF65-F5344CB8AC3E}">
        <p14:creationId xmlns:p14="http://schemas.microsoft.com/office/powerpoint/2010/main" val="24100289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1"/>
          </p:nvPr>
        </p:nvSpPr>
        <p:spPr/>
        <p:txBody>
          <a:bodyPr/>
          <a:lstStyle/>
          <a:p>
            <a:r>
              <a:t>Release Notes </a:t>
            </a:r>
            <a:r>
              <a:rPr lang="en-US"/>
              <a:t>(</a:t>
            </a:r>
            <a:r>
              <a:t>wall-clock)</a:t>
            </a:r>
          </a:p>
        </p:txBody>
      </p:sp>
      <p:sp>
        <p:nvSpPr>
          <p:cNvPr id="3" name="Text Placeholder 2"/>
          <p:cNvSpPr>
            <a:spLocks noGrp="1"/>
          </p:cNvSpPr>
          <p:nvPr>
            <p:ph type="body" sz="quarter" idx="22"/>
          </p:nvPr>
        </p:nvSpPr>
        <p:spPr/>
        <p:txBody>
          <a:bodyPr vert="horz" lIns="91440" tIns="45720" rIns="91440" bIns="45720" rtlCol="0" anchor="t">
            <a:normAutofit/>
          </a:bodyPr>
          <a:lstStyle/>
          <a:p>
            <a:r>
              <a:rPr lang="en-US">
                <a:latin typeface="Viedoc Monument Grotesk"/>
              </a:rPr>
              <a:t>Viedoc Learning (estimated wall-clock)</a:t>
            </a:r>
          </a:p>
        </p:txBody>
      </p:sp>
      <p:sp>
        <p:nvSpPr>
          <p:cNvPr id="4" name="Title 3"/>
          <p:cNvSpPr>
            <a:spLocks noGrp="1"/>
          </p:cNvSpPr>
          <p:nvPr>
            <p:ph type="title"/>
          </p:nvPr>
        </p:nvSpPr>
        <p:spPr/>
        <p:txBody>
          <a:bodyPr/>
          <a:lstStyle/>
          <a:p>
            <a:r>
              <a:t>How </a:t>
            </a:r>
            <a:r>
              <a:rPr lang="en-US"/>
              <a:t>l</a:t>
            </a:r>
            <a:r>
              <a:t>ong </a:t>
            </a:r>
            <a:r>
              <a:rPr lang="en-US"/>
              <a:t>e</a:t>
            </a:r>
            <a:r>
              <a:t>ach </a:t>
            </a:r>
            <a:r>
              <a:rPr lang="en-US"/>
              <a:t>s</a:t>
            </a:r>
            <a:r>
              <a:t>tep </a:t>
            </a:r>
            <a:r>
              <a:rPr lang="en-US"/>
              <a:t>a</a:t>
            </a:r>
            <a:r>
              <a:t>ctually </a:t>
            </a:r>
            <a:r>
              <a:rPr lang="en-US"/>
              <a:t>t</a:t>
            </a:r>
            <a:r>
              <a:t>akes</a:t>
            </a:r>
          </a:p>
        </p:txBody>
      </p:sp>
      <p:sp>
        <p:nvSpPr>
          <p:cNvPr id="5" name="Text Placeholder 4"/>
          <p:cNvSpPr>
            <a:spLocks noGrp="1"/>
          </p:cNvSpPr>
          <p:nvPr>
            <p:ph type="body" sz="quarter" idx="28"/>
          </p:nvPr>
        </p:nvSpPr>
        <p:spPr/>
        <p:txBody>
          <a:bodyPr vert="horz" lIns="91440" tIns="45720" rIns="91440" bIns="45720" rtlCol="0" anchor="t">
            <a:noAutofit/>
          </a:bodyPr>
          <a:lstStyle/>
          <a:p>
            <a:pPr marL="197485" indent="-197485"/>
            <a:r>
              <a:t>PM/Dev input: final is due </a:t>
            </a:r>
            <a:r>
              <a:rPr b="1">
                <a:solidFill>
                  <a:srgbClr val="8E7DD2"/>
                </a:solidFill>
              </a:rPr>
              <a:t>4 weeks</a:t>
            </a:r>
            <a:r>
              <a:t> out</a:t>
            </a:r>
            <a:r>
              <a:rPr lang="en-SE"/>
              <a:t>; </a:t>
            </a:r>
            <a:r>
              <a:t>in practice about a week later.</a:t>
            </a:r>
            <a:endParaRPr lang="en-US"/>
          </a:p>
          <a:p>
            <a:pPr marL="197485" indent="-197485"/>
            <a:r>
              <a:rPr>
                <a:latin typeface="Viedoc Monument Grotesk"/>
              </a:rPr>
              <a:t>PC review, PMOff01 number, send to Antti</a:t>
            </a:r>
            <a:r>
              <a:rPr lang="en-US">
                <a:latin typeface="Viedoc Monument Grotesk"/>
              </a:rPr>
              <a:t>;</a:t>
            </a:r>
            <a:r>
              <a:rPr>
                <a:latin typeface="Viedoc Monument Grotesk"/>
              </a:rPr>
              <a:t> roughly </a:t>
            </a:r>
            <a:r>
              <a:rPr b="1">
                <a:solidFill>
                  <a:srgbClr val="8E7DD2"/>
                </a:solidFill>
                <a:latin typeface="Viedoc Monument Grotesk"/>
              </a:rPr>
              <a:t>1.5 weeks</a:t>
            </a:r>
            <a:r>
              <a:rPr>
                <a:latin typeface="Viedoc Monument Grotesk"/>
              </a:rPr>
              <a:t> after the PM deadline.</a:t>
            </a:r>
          </a:p>
          <a:p>
            <a:pPr marL="197485" indent="-197485"/>
            <a:r>
              <a:rPr lang="en-US">
                <a:latin typeface="Viedoc Monument Grotesk"/>
              </a:rPr>
              <a:t>PC &gt;Antti</a:t>
            </a:r>
            <a:r>
              <a:rPr>
                <a:latin typeface="Viedoc Monument Grotesk"/>
              </a:rPr>
              <a:t> </a:t>
            </a:r>
            <a:r>
              <a:rPr lang="en-US">
                <a:latin typeface="Viedoc Monument Grotesk"/>
              </a:rPr>
              <a:t>&gt;Royden</a:t>
            </a:r>
            <a:r>
              <a:rPr>
                <a:latin typeface="Viedoc Monument Grotesk"/>
              </a:rPr>
              <a:t> signature: typically</a:t>
            </a:r>
            <a:r>
              <a:rPr lang="en-US">
                <a:latin typeface="Viedoc Monument Grotesk"/>
              </a:rPr>
              <a:t>,</a:t>
            </a:r>
            <a:r>
              <a:rPr>
                <a:latin typeface="Viedoc Monument Grotesk"/>
              </a:rPr>
              <a:t> </a:t>
            </a:r>
            <a:r>
              <a:rPr b="1">
                <a:solidFill>
                  <a:srgbClr val="8E7DD2"/>
                </a:solidFill>
                <a:latin typeface="Viedoc Monument Grotesk"/>
              </a:rPr>
              <a:t>about 1 week</a:t>
            </a:r>
            <a:r>
              <a:rPr lang="en-US">
                <a:latin typeface="Viedoc Monument Grotesk"/>
              </a:rPr>
              <a:t>; </a:t>
            </a:r>
            <a:r>
              <a:rPr>
                <a:latin typeface="Viedoc Monument Grotesk"/>
              </a:rPr>
              <a:t>took </a:t>
            </a:r>
            <a:r>
              <a:rPr b="1">
                <a:solidFill>
                  <a:srgbClr val="8E7DD2"/>
                </a:solidFill>
                <a:latin typeface="Viedoc Monument Grotesk"/>
              </a:rPr>
              <a:t>over 5 weeks</a:t>
            </a:r>
            <a:r>
              <a:rPr>
                <a:latin typeface="Viedoc Monument Grotesk"/>
              </a:rPr>
              <a:t> in 4.96</a:t>
            </a:r>
            <a:r>
              <a:rPr lang="sv-SE">
                <a:latin typeface="Viedoc Monument Grotesk"/>
              </a:rPr>
              <a:t>, due to</a:t>
            </a:r>
            <a:r>
              <a:rPr lang="en-US">
                <a:latin typeface="Viedoc Monument Grotesk"/>
              </a:rPr>
              <a:t> </a:t>
            </a:r>
            <a:r>
              <a:rPr>
                <a:latin typeface="Viedoc Monument Grotesk"/>
              </a:rPr>
              <a:t>late changes</a:t>
            </a:r>
            <a:r>
              <a:rPr lang="en-US">
                <a:latin typeface="Viedoc Monument Grotesk"/>
              </a:rPr>
              <a:t> AND late release</a:t>
            </a:r>
            <a:r>
              <a:rPr>
                <a:latin typeface="Viedoc Monument Grotesk"/>
              </a:rPr>
              <a:t>.</a:t>
            </a:r>
          </a:p>
          <a:p>
            <a:pPr marL="197485" indent="-197485"/>
            <a:r>
              <a:t>Publish to EN, JP, ZH: </a:t>
            </a:r>
            <a:r>
              <a:rPr b="1">
                <a:solidFill>
                  <a:srgbClr val="8E7DD2"/>
                </a:solidFill>
              </a:rPr>
              <a:t>about 1 week</a:t>
            </a:r>
            <a:r>
              <a:t>.</a:t>
            </a:r>
          </a:p>
          <a:p>
            <a:pPr marL="197485" indent="-197485"/>
            <a:r>
              <a:rPr>
                <a:latin typeface="Viedoc Monument Grotesk"/>
              </a:rPr>
              <a:t>Door to door: </a:t>
            </a:r>
            <a:r>
              <a:rPr b="1">
                <a:solidFill>
                  <a:srgbClr val="8E7DD2"/>
                </a:solidFill>
                <a:latin typeface="Viedoc Monument Grotesk"/>
              </a:rPr>
              <a:t>about 4 weeks</a:t>
            </a:r>
            <a:r>
              <a:rPr>
                <a:latin typeface="Viedoc Monument Grotesk"/>
              </a:rPr>
              <a:t> on average (</a:t>
            </a:r>
            <a:r>
              <a:rPr b="1">
                <a:solidFill>
                  <a:srgbClr val="8E7DD2"/>
                </a:solidFill>
                <a:latin typeface="Viedoc Monument Grotesk"/>
              </a:rPr>
              <a:t>2.4 to 4.3 weeks</a:t>
            </a:r>
            <a:r>
              <a:rPr>
                <a:latin typeface="Viedoc Monument Grotesk"/>
              </a:rPr>
              <a:t> across recent releases).</a:t>
            </a:r>
          </a:p>
        </p:txBody>
      </p:sp>
      <p:sp>
        <p:nvSpPr>
          <p:cNvPr id="6" name="Text Placeholder 5"/>
          <p:cNvSpPr>
            <a:spLocks noGrp="1"/>
          </p:cNvSpPr>
          <p:nvPr>
            <p:ph type="body" sz="quarter" idx="29"/>
          </p:nvPr>
        </p:nvSpPr>
        <p:spPr>
          <a:xfrm>
            <a:off x="6335122" y="2785324"/>
            <a:ext cx="5314661" cy="3500000"/>
          </a:xfrm>
        </p:spPr>
        <p:txBody>
          <a:bodyPr vert="horz" lIns="91440" tIns="45720" rIns="91440" bIns="45720" rtlCol="0" anchor="t">
            <a:noAutofit/>
          </a:bodyPr>
          <a:lstStyle/>
          <a:p>
            <a:pPr marL="197485" indent="-197485"/>
            <a:r>
              <a:rPr lang="en-US">
                <a:latin typeface="Viedoc Monument Grotesk"/>
              </a:rPr>
              <a:t>PBI tagging: no automatic trigger when it is complete for a new feature; each team is followed up individually — </a:t>
            </a:r>
            <a:r>
              <a:rPr lang="en-US" b="1">
                <a:solidFill>
                  <a:srgbClr val="8E7DD2"/>
                </a:solidFill>
                <a:latin typeface="Viedoc Monument Grotesk"/>
              </a:rPr>
              <a:t>about 2 to 3 days</a:t>
            </a:r>
            <a:r>
              <a:rPr lang="en-US">
                <a:latin typeface="Viedoc Monument Grotesk"/>
              </a:rPr>
              <a:t> per release.</a:t>
            </a:r>
          </a:p>
          <a:p>
            <a:pPr marL="197485" indent="-197485"/>
            <a:r>
              <a:rPr>
                <a:latin typeface="Viedoc Monument Grotesk"/>
              </a:rPr>
              <a:t>Confirming a feature is live</a:t>
            </a:r>
            <a:r>
              <a:rPr lang="en-US">
                <a:latin typeface="Viedoc Monument Grotesk"/>
              </a:rPr>
              <a:t> on environment</a:t>
            </a:r>
            <a:r>
              <a:rPr>
                <a:latin typeface="Viedoc Monument Grotesk"/>
              </a:rPr>
              <a:t>: an open-ended wait</a:t>
            </a:r>
            <a:r>
              <a:rPr lang="en-US">
                <a:latin typeface="Viedoc Monument Grotesk"/>
              </a:rPr>
              <a:t>; </a:t>
            </a:r>
            <a:r>
              <a:rPr lang="sv-SE" b="1">
                <a:solidFill>
                  <a:srgbClr val="8E7DD2"/>
                </a:solidFill>
                <a:latin typeface="Viedoc Monument Grotesk"/>
              </a:rPr>
              <a:t>hours to days</a:t>
            </a:r>
            <a:r>
              <a:rPr lang="en-US">
                <a:latin typeface="Viedoc Monument Grotesk"/>
              </a:rPr>
              <a:t> per feature if unstable</a:t>
            </a:r>
            <a:r>
              <a:rPr>
                <a:latin typeface="Viedoc Monument Grotesk"/>
              </a:rPr>
              <a:t>.</a:t>
            </a:r>
          </a:p>
          <a:p>
            <a:pPr marL="197485" indent="-197485"/>
            <a:r>
              <a:rPr>
                <a:latin typeface="Viedoc Monument Grotesk"/>
              </a:rPr>
              <a:t>Drafting and</a:t>
            </a:r>
            <a:r>
              <a:rPr lang="en-US">
                <a:latin typeface="Viedoc Monument Grotesk"/>
              </a:rPr>
              <a:t> manual </a:t>
            </a:r>
            <a:r>
              <a:rPr>
                <a:latin typeface="Viedoc Monument Grotesk"/>
              </a:rPr>
              <a:t>review: </a:t>
            </a:r>
            <a:r>
              <a:rPr lang="en-US">
                <a:latin typeface="Viedoc Monument Grotesk"/>
              </a:rPr>
              <a:t>can be</a:t>
            </a:r>
            <a:r>
              <a:rPr>
                <a:latin typeface="Viedoc Monument Grotesk"/>
              </a:rPr>
              <a:t> paused on access or </a:t>
            </a:r>
            <a:r>
              <a:rPr lang="en-US">
                <a:latin typeface="Viedoc Monument Grotesk"/>
              </a:rPr>
              <a:t>when checking</a:t>
            </a:r>
            <a:r>
              <a:rPr>
                <a:latin typeface="Viedoc Monument Grotesk"/>
              </a:rPr>
              <a:t> PBI </a:t>
            </a:r>
            <a:r>
              <a:rPr lang="en-US">
                <a:latin typeface="Viedoc Monument Grotesk"/>
              </a:rPr>
              <a:t>details; </a:t>
            </a:r>
            <a:r>
              <a:rPr lang="en-US">
                <a:solidFill>
                  <a:srgbClr val="000000"/>
                </a:solidFill>
                <a:latin typeface="Viedoc Monument Grotesk"/>
              </a:rPr>
              <a:t> </a:t>
            </a:r>
            <a:r>
              <a:rPr lang="en-US" b="1">
                <a:solidFill>
                  <a:srgbClr val="8E7DD2"/>
                </a:solidFill>
                <a:latin typeface="Viedoc Monument Grotesk"/>
              </a:rPr>
              <a:t>about 2 to 3 weeks</a:t>
            </a:r>
            <a:r>
              <a:rPr lang="en-US">
                <a:latin typeface="Viedoc Monument Grotesk"/>
              </a:rPr>
              <a:t> to sign-off</a:t>
            </a:r>
            <a:r>
              <a:rPr>
                <a:latin typeface="Viedoc Monument Grotesk"/>
              </a:rPr>
              <a:t>.</a:t>
            </a:r>
          </a:p>
          <a:p>
            <a:pPr marL="197485" indent="-197485"/>
            <a:r>
              <a:t>Diff </a:t>
            </a:r>
            <a:r>
              <a:rPr lang="sv-SE"/>
              <a:t>PDFs</a:t>
            </a:r>
            <a:r>
              <a:t>: manual every release</a:t>
            </a:r>
            <a:r>
              <a:rPr lang="sv-SE"/>
              <a:t>, </a:t>
            </a:r>
            <a:r>
              <a:rPr lang="sv-SE" b="1">
                <a:solidFill>
                  <a:srgbClr val="8E7DD2"/>
                </a:solidFill>
              </a:rPr>
              <a:t>roughly half a day</a:t>
            </a:r>
            <a:r>
              <a:t>.</a:t>
            </a:r>
            <a:endParaRPr lang="en-US"/>
          </a:p>
          <a:p>
            <a:pPr marL="197485" indent="-197485"/>
            <a:r>
              <a:rPr lang="en-US">
                <a:latin typeface="Viedoc Monument Grotesk"/>
              </a:rPr>
              <a:t>Translation (JP + ZH): days to weeks after the EN draft is final — </a:t>
            </a:r>
            <a:r>
              <a:rPr lang="en-US" b="1">
                <a:solidFill>
                  <a:srgbClr val="8E7DD2"/>
                </a:solidFill>
                <a:latin typeface="Viedoc Monument Grotesk"/>
              </a:rPr>
              <a:t>1 to 2 weeks</a:t>
            </a:r>
            <a:r>
              <a:rPr lang="en-US">
                <a:latin typeface="Viedoc Monument Grotesk"/>
              </a:rPr>
              <a:t>, outside PC's control.</a:t>
            </a:r>
          </a:p>
        </p:txBody>
      </p:sp>
    </p:spTree>
    <p:extLst>
      <p:ext uri="{BB962C8B-B14F-4D97-AF65-F5344CB8AC3E}">
        <p14:creationId xmlns:p14="http://schemas.microsoft.com/office/powerpoint/2010/main" val="1754005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my release time goes</a:t>
            </a:r>
          </a:p>
        </p:txBody>
      </p:sp>
      <p:sp>
        <p:nvSpPr>
          <p:cNvPr id="3" name="TextBox 2"/>
          <p:cNvSpPr txBox="1"/>
          <p:nvPr/>
        </p:nvSpPr>
        <p:spPr>
          <a:xfrm>
            <a:off x="411480" y="2148840"/>
            <a:ext cx="5486400" cy="292608"/>
          </a:xfrm>
          <a:prstGeom prst="rect">
            <a:avLst/>
          </a:prstGeom>
          <a:noFill/>
        </p:spPr>
        <p:txBody>
          <a:bodyPr wrap="none">
            <a:spAutoFit/>
          </a:bodyPr>
          <a:lstStyle/>
          <a:p>
            <a:r>
              <a:rPr sz="1100" b="1" i="0">
                <a:solidFill>
                  <a:srgbClr val="818181"/>
                </a:solidFill>
                <a:latin typeface="Viedoc Monument Grotesk"/>
              </a:rPr>
              <a:t>COST OF ONE RELEASE</a:t>
            </a:r>
          </a:p>
        </p:txBody>
      </p:sp>
      <p:sp>
        <p:nvSpPr>
          <p:cNvPr id="19" name="Rounded Rectangle 18"/>
          <p:cNvSpPr/>
          <p:nvPr/>
        </p:nvSpPr>
        <p:spPr>
          <a:xfrm>
            <a:off x="411480" y="4663440"/>
            <a:ext cx="11369040" cy="640080"/>
          </a:xfrm>
          <a:prstGeom prst="roundRect">
            <a:avLst>
              <a:gd name="adj" fmla="val 50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1400" b="1">
                <a:solidFill>
                  <a:srgbClr val="FFFFFF"/>
                </a:solidFill>
                <a:latin typeface="Viedoc Monument Grotesk"/>
              </a:rPr>
              <a:t>T</a:t>
            </a:r>
            <a:r>
              <a:rPr lang="en-US" sz="1400" b="1" i="0">
                <a:solidFill>
                  <a:srgbClr val="FFFFFF"/>
                </a:solidFill>
                <a:latin typeface="Viedoc Monument Grotesk"/>
              </a:rPr>
              <a:t>he tracking, coordinating and waiting is the part that doesn't show up as effort</a:t>
            </a:r>
            <a:r>
              <a:rPr sz="1400" b="1" i="0">
                <a:solidFill>
                  <a:srgbClr val="FFFFFF"/>
                </a:solidFill>
                <a:latin typeface="Viedoc Monument Grotesk"/>
              </a:rPr>
              <a:t>.</a:t>
            </a:r>
            <a:r>
              <a:rPr lang="en-US" sz="1400" b="1" i="0">
                <a:solidFill>
                  <a:srgbClr val="FFFFFF"/>
                </a:solidFill>
                <a:latin typeface="Viedoc Monument Grotesk"/>
              </a:rPr>
              <a:t> Every step is manual; none of it is automated.</a:t>
            </a:r>
            <a:endParaRPr sz="1400" b="1" i="0">
              <a:solidFill>
                <a:srgbClr val="FFFFFF"/>
              </a:solidFill>
              <a:latin typeface="Viedoc Monument Grotesk"/>
            </a:endParaRPr>
          </a:p>
        </p:txBody>
      </p:sp>
      <p:sp>
        <p:nvSpPr>
          <p:cNvPr id="20" name="TextBox 19"/>
          <p:cNvSpPr txBox="1"/>
          <p:nvPr/>
        </p:nvSpPr>
        <p:spPr>
          <a:xfrm>
            <a:off x="411480" y="5440680"/>
            <a:ext cx="11369040" cy="320040"/>
          </a:xfrm>
          <a:prstGeom prst="rect">
            <a:avLst/>
          </a:prstGeom>
          <a:noFill/>
        </p:spPr>
        <p:txBody>
          <a:bodyPr wrap="none">
            <a:spAutoFit/>
          </a:bodyPr>
          <a:lstStyle/>
          <a:p>
            <a:pPr algn="l"/>
            <a:r>
              <a:rPr sz="1100" b="0" i="1">
                <a:solidFill>
                  <a:srgbClr val="818181"/>
                </a:solidFill>
                <a:latin typeface="Viedoc Monument Grotesk"/>
              </a:rPr>
              <a:t>Measured from the Updates per release workbook, releases 4.88-4.96.</a:t>
            </a:r>
          </a:p>
        </p:txBody>
      </p:sp>
      <p:sp>
        <p:nvSpPr>
          <p:cNvPr id="21" name="Rectangle 20"/>
          <p:cNvSpPr/>
          <p:nvPr/>
        </p:nvSpPr>
        <p:spPr>
          <a:xfrm>
            <a:off x="406400" y="2603500"/>
            <a:ext cx="2108200" cy="6350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6400" y="2768600"/>
            <a:ext cx="2108200" cy="736600"/>
          </a:xfrm>
          <a:prstGeom prst="rect">
            <a:avLst/>
          </a:prstGeom>
          <a:noFill/>
        </p:spPr>
        <p:txBody>
          <a:bodyPr wrap="square">
            <a:noAutofit/>
          </a:bodyPr>
          <a:lstStyle/>
          <a:p>
            <a:pPr algn="l"/>
            <a:r>
              <a:rPr lang="en-SE" sz="3600" b="1">
                <a:solidFill>
                  <a:srgbClr val="000000"/>
                </a:solidFill>
                <a:latin typeface="Viedoc Monument Grotesk"/>
              </a:rPr>
              <a:t>23</a:t>
            </a:r>
            <a:endParaRPr sz="3600" b="1">
              <a:solidFill>
                <a:srgbClr val="000000"/>
              </a:solidFill>
              <a:latin typeface="Viedoc Monument Grotesk"/>
            </a:endParaRPr>
          </a:p>
        </p:txBody>
      </p:sp>
      <p:sp>
        <p:nvSpPr>
          <p:cNvPr id="23" name="TextBox 22"/>
          <p:cNvSpPr txBox="1"/>
          <p:nvPr/>
        </p:nvSpPr>
        <p:spPr>
          <a:xfrm>
            <a:off x="406400" y="3505200"/>
            <a:ext cx="2108200" cy="1050000"/>
          </a:xfrm>
          <a:prstGeom prst="rect">
            <a:avLst/>
          </a:prstGeom>
          <a:noFill/>
        </p:spPr>
        <p:txBody>
          <a:bodyPr wrap="square">
            <a:noAutofit/>
          </a:bodyPr>
          <a:lstStyle/>
          <a:p>
            <a:pPr algn="l"/>
            <a:r>
              <a:rPr lang="en-US" sz="1100" b="0">
                <a:solidFill>
                  <a:srgbClr val="818181"/>
                </a:solidFill>
                <a:latin typeface="Viedoc Monument Grotesk"/>
              </a:rPr>
              <a:t>lesson updates in an average </a:t>
            </a:r>
            <a:r>
              <a:rPr sz="1100" b="0">
                <a:solidFill>
                  <a:srgbClr val="818181"/>
                </a:solidFill>
                <a:latin typeface="Viedoc Monument Grotesk"/>
              </a:rPr>
              <a:t>release</a:t>
            </a:r>
            <a:r>
              <a:rPr lang="sv-SE" sz="1100" b="0">
                <a:solidFill>
                  <a:srgbClr val="818181"/>
                </a:solidFill>
                <a:latin typeface="Viedoc Monument Grotesk"/>
              </a:rPr>
              <a:t> </a:t>
            </a:r>
            <a:r>
              <a:rPr lang="en-US" sz="1100" b="0">
                <a:solidFill>
                  <a:srgbClr val="818181"/>
                </a:solidFill>
                <a:latin typeface="Viedoc Monument Grotesk"/>
              </a:rPr>
              <a:t>(median 20, range 7-44)</a:t>
            </a:r>
            <a:endParaRPr sz="1100" b="0">
              <a:solidFill>
                <a:srgbClr val="818181"/>
              </a:solidFill>
              <a:latin typeface="Viedoc Monument Grotesk"/>
            </a:endParaRPr>
          </a:p>
        </p:txBody>
      </p:sp>
      <p:sp>
        <p:nvSpPr>
          <p:cNvPr id="24" name="Rectangle 23"/>
          <p:cNvSpPr/>
          <p:nvPr/>
        </p:nvSpPr>
        <p:spPr>
          <a:xfrm>
            <a:off x="2717800" y="2603500"/>
            <a:ext cx="2108200" cy="63500"/>
          </a:xfrm>
          <a:prstGeom prst="rect">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17800" y="2768600"/>
            <a:ext cx="2108200" cy="736600"/>
          </a:xfrm>
          <a:prstGeom prst="rect">
            <a:avLst/>
          </a:prstGeom>
          <a:noFill/>
        </p:spPr>
        <p:txBody>
          <a:bodyPr wrap="square">
            <a:noAutofit/>
          </a:bodyPr>
          <a:lstStyle/>
          <a:p>
            <a:pPr algn="l"/>
            <a:r>
              <a:rPr sz="3600" b="1">
                <a:solidFill>
                  <a:srgbClr val="000000"/>
                </a:solidFill>
                <a:latin typeface="Viedoc Monument Grotesk"/>
              </a:rPr>
              <a:t>1</a:t>
            </a:r>
            <a:r>
              <a:rPr lang="en-US" sz="3600" b="1">
                <a:solidFill>
                  <a:srgbClr val="000000"/>
                </a:solidFill>
                <a:latin typeface="Viedoc Monument Grotesk"/>
              </a:rPr>
              <a:t>8</a:t>
            </a:r>
            <a:endParaRPr sz="3600" b="1">
              <a:solidFill>
                <a:srgbClr val="000000"/>
              </a:solidFill>
              <a:latin typeface="Viedoc Monument Grotesk"/>
            </a:endParaRPr>
          </a:p>
        </p:txBody>
      </p:sp>
      <p:sp>
        <p:nvSpPr>
          <p:cNvPr id="26" name="TextBox 25"/>
          <p:cNvSpPr txBox="1"/>
          <p:nvPr/>
        </p:nvSpPr>
        <p:spPr>
          <a:xfrm>
            <a:off x="2717800" y="3505200"/>
            <a:ext cx="2108200" cy="1050000"/>
          </a:xfrm>
          <a:prstGeom prst="rect">
            <a:avLst/>
          </a:prstGeom>
          <a:noFill/>
        </p:spPr>
        <p:txBody>
          <a:bodyPr wrap="square" lIns="91440" tIns="45720" rIns="91440" bIns="45720" anchor="t">
            <a:noAutofit/>
          </a:bodyPr>
          <a:lstStyle/>
          <a:p>
            <a:pPr algn="l"/>
            <a:r>
              <a:rPr lang="en-US" sz="1100" b="0">
                <a:solidFill>
                  <a:srgbClr val="818181"/>
                </a:solidFill>
                <a:latin typeface="Viedoc Monument Grotesk"/>
              </a:rPr>
              <a:t>Viedoc </a:t>
            </a:r>
            <a:r>
              <a:rPr sz="1100" b="0">
                <a:solidFill>
                  <a:srgbClr val="818181"/>
                </a:solidFill>
                <a:latin typeface="Viedoc Monument Grotesk"/>
              </a:rPr>
              <a:t>user guides </a:t>
            </a:r>
            <a:r>
              <a:rPr lang="en-US" sz="1100" b="0">
                <a:solidFill>
                  <a:srgbClr val="818181"/>
                </a:solidFill>
                <a:latin typeface="Viedoc Monument Grotesk"/>
              </a:rPr>
              <a:t>touched per release</a:t>
            </a:r>
            <a:r>
              <a:rPr lang="sv-SE" sz="1100" b="0">
                <a:solidFill>
                  <a:srgbClr val="818181"/>
                </a:solidFill>
                <a:latin typeface="Viedoc Monument Grotesk"/>
              </a:rPr>
              <a:t> </a:t>
            </a:r>
            <a:endParaRPr sz="1100" b="0">
              <a:solidFill>
                <a:srgbClr val="818181"/>
              </a:solidFill>
              <a:latin typeface="Viedoc Monument Grotesk"/>
            </a:endParaRPr>
          </a:p>
        </p:txBody>
      </p:sp>
      <p:sp>
        <p:nvSpPr>
          <p:cNvPr id="27" name="Rectangle 26"/>
          <p:cNvSpPr/>
          <p:nvPr/>
        </p:nvSpPr>
        <p:spPr>
          <a:xfrm>
            <a:off x="5029200" y="2603500"/>
            <a:ext cx="2108200" cy="63500"/>
          </a:xfrm>
          <a:prstGeom prst="rect">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0" y="2768600"/>
            <a:ext cx="2108200" cy="736600"/>
          </a:xfrm>
          <a:prstGeom prst="rect">
            <a:avLst/>
          </a:prstGeom>
          <a:noFill/>
        </p:spPr>
        <p:txBody>
          <a:bodyPr wrap="square">
            <a:noAutofit/>
          </a:bodyPr>
          <a:lstStyle/>
          <a:p>
            <a:pPr algn="l"/>
            <a:r>
              <a:rPr sz="3600" b="1">
                <a:solidFill>
                  <a:srgbClr val="000000"/>
                </a:solidFill>
                <a:latin typeface="Viedoc Monument Grotesk"/>
              </a:rPr>
              <a:t>3</a:t>
            </a:r>
          </a:p>
        </p:txBody>
      </p:sp>
      <p:sp>
        <p:nvSpPr>
          <p:cNvPr id="29" name="TextBox 28"/>
          <p:cNvSpPr txBox="1"/>
          <p:nvPr/>
        </p:nvSpPr>
        <p:spPr>
          <a:xfrm>
            <a:off x="5029200" y="3505200"/>
            <a:ext cx="2108200" cy="1050000"/>
          </a:xfrm>
          <a:prstGeom prst="rect">
            <a:avLst/>
          </a:prstGeom>
          <a:noFill/>
        </p:spPr>
        <p:txBody>
          <a:bodyPr wrap="square" lIns="91440" tIns="45720" rIns="91440" bIns="45720" anchor="t">
            <a:noAutofit/>
          </a:bodyPr>
          <a:lstStyle/>
          <a:p>
            <a:pPr algn="l"/>
            <a:r>
              <a:rPr sz="1100" b="0">
                <a:solidFill>
                  <a:srgbClr val="818181"/>
                </a:solidFill>
                <a:latin typeface="Viedoc Monument Grotesk"/>
              </a:rPr>
              <a:t>Websites and ProcessWire instances to publish and archive release notes</a:t>
            </a:r>
          </a:p>
        </p:txBody>
      </p:sp>
      <p:sp>
        <p:nvSpPr>
          <p:cNvPr id="30" name="Rectangle 29"/>
          <p:cNvSpPr/>
          <p:nvPr/>
        </p:nvSpPr>
        <p:spPr>
          <a:xfrm>
            <a:off x="7340600" y="2603500"/>
            <a:ext cx="2108200" cy="63500"/>
          </a:xfrm>
          <a:prstGeom prst="rect">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40600" y="2768600"/>
            <a:ext cx="2108200" cy="736600"/>
          </a:xfrm>
          <a:prstGeom prst="rect">
            <a:avLst/>
          </a:prstGeom>
          <a:noFill/>
        </p:spPr>
        <p:txBody>
          <a:bodyPr wrap="square">
            <a:noAutofit/>
          </a:bodyPr>
          <a:lstStyle/>
          <a:p>
            <a:pPr algn="l"/>
            <a:r>
              <a:rPr lang="en-SE" sz="3600" b="1">
                <a:solidFill>
                  <a:srgbClr val="000000"/>
                </a:solidFill>
                <a:latin typeface="Viedoc Monument Grotesk"/>
              </a:rPr>
              <a:t>20</a:t>
            </a:r>
            <a:endParaRPr sz="3600" b="1">
              <a:solidFill>
                <a:srgbClr val="000000"/>
              </a:solidFill>
              <a:latin typeface="Viedoc Monument Grotesk"/>
            </a:endParaRPr>
          </a:p>
        </p:txBody>
      </p:sp>
      <p:sp>
        <p:nvSpPr>
          <p:cNvPr id="32" name="TextBox 31"/>
          <p:cNvSpPr txBox="1"/>
          <p:nvPr/>
        </p:nvSpPr>
        <p:spPr>
          <a:xfrm>
            <a:off x="7340600" y="3505200"/>
            <a:ext cx="2108200" cy="1050000"/>
          </a:xfrm>
          <a:prstGeom prst="rect">
            <a:avLst/>
          </a:prstGeom>
          <a:noFill/>
        </p:spPr>
        <p:txBody>
          <a:bodyPr wrap="square">
            <a:noAutofit/>
          </a:bodyPr>
          <a:lstStyle/>
          <a:p>
            <a:pPr algn="l"/>
            <a:r>
              <a:rPr lang="en-US" sz="1100" b="0">
                <a:solidFill>
                  <a:srgbClr val="818181"/>
                </a:solidFill>
                <a:latin typeface="Viedoc Monument Grotesk"/>
              </a:rPr>
              <a:t>tracked checklist tasks per release</a:t>
            </a:r>
            <a:r>
              <a:rPr lang="en-US" sz="1100">
                <a:solidFill>
                  <a:srgbClr val="818181"/>
                </a:solidFill>
                <a:latin typeface="Viedoc Monument Grotesk"/>
              </a:rPr>
              <a:t>. This is</a:t>
            </a:r>
            <a:r>
              <a:rPr lang="en-US" sz="1100" b="0">
                <a:solidFill>
                  <a:srgbClr val="818181"/>
                </a:solidFill>
                <a:latin typeface="Viedoc Monument Grotesk"/>
              </a:rPr>
              <a:t> only the tracked subset of the manual work across release notes and Learning</a:t>
            </a:r>
            <a:endParaRPr sz="1100" b="0">
              <a:solidFill>
                <a:srgbClr val="818181"/>
              </a:solidFill>
              <a:latin typeface="Viedoc Monument Grotesk"/>
            </a:endParaRPr>
          </a:p>
        </p:txBody>
      </p:sp>
      <p:sp>
        <p:nvSpPr>
          <p:cNvPr id="33" name="Rectangle 32"/>
          <p:cNvSpPr/>
          <p:nvPr/>
        </p:nvSpPr>
        <p:spPr>
          <a:xfrm>
            <a:off x="9652000" y="2603500"/>
            <a:ext cx="2108200" cy="63500"/>
          </a:xfrm>
          <a:prstGeom prst="rect">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52000" y="2768600"/>
            <a:ext cx="2108200" cy="736600"/>
          </a:xfrm>
          <a:prstGeom prst="rect">
            <a:avLst/>
          </a:prstGeom>
          <a:noFill/>
        </p:spPr>
        <p:txBody>
          <a:bodyPr wrap="square" lIns="91440" tIns="45720" rIns="91440" bIns="45720" anchor="t">
            <a:noAutofit/>
          </a:bodyPr>
          <a:lstStyle/>
          <a:p>
            <a:pPr algn="l"/>
            <a:r>
              <a:rPr sz="3600" b="1">
                <a:solidFill>
                  <a:srgbClr val="000000"/>
                </a:solidFill>
                <a:latin typeface="Viedoc Monument Grotesk"/>
              </a:rPr>
              <a:t>4 </a:t>
            </a:r>
            <a:r>
              <a:rPr lang="en-US" sz="3600" b="1">
                <a:solidFill>
                  <a:srgbClr val="000000"/>
                </a:solidFill>
                <a:latin typeface="Viedoc Monument Grotesk"/>
              </a:rPr>
              <a:t>weeks</a:t>
            </a:r>
          </a:p>
        </p:txBody>
      </p:sp>
      <p:sp>
        <p:nvSpPr>
          <p:cNvPr id="35" name="TextBox 34"/>
          <p:cNvSpPr txBox="1"/>
          <p:nvPr/>
        </p:nvSpPr>
        <p:spPr>
          <a:xfrm>
            <a:off x="9652000" y="3505200"/>
            <a:ext cx="2108200" cy="1050000"/>
          </a:xfrm>
          <a:prstGeom prst="rect">
            <a:avLst/>
          </a:prstGeom>
          <a:noFill/>
        </p:spPr>
        <p:txBody>
          <a:bodyPr wrap="square">
            <a:noAutofit/>
          </a:bodyPr>
          <a:lstStyle/>
          <a:p>
            <a:pPr algn="l"/>
            <a:r>
              <a:rPr lang="en-US" sz="1100" b="0">
                <a:solidFill>
                  <a:srgbClr val="818181"/>
                </a:solidFill>
                <a:latin typeface="Viedoc Monument Grotesk"/>
              </a:rPr>
              <a:t>Release </a:t>
            </a:r>
            <a:r>
              <a:rPr lang="en-US" sz="1100">
                <a:solidFill>
                  <a:srgbClr val="818181"/>
                </a:solidFill>
                <a:latin typeface="Viedoc Monument Grotesk"/>
              </a:rPr>
              <a:t>notes </a:t>
            </a:r>
            <a:r>
              <a:rPr sz="1100" b="0">
                <a:solidFill>
                  <a:srgbClr val="818181"/>
                </a:solidFill>
                <a:latin typeface="Viedoc Monument Grotesk"/>
              </a:rPr>
              <a:t>door to door, PM deadline to certificate</a:t>
            </a:r>
          </a:p>
        </p:txBody>
      </p:sp>
    </p:spTree>
    <p:extLst>
      <p:ext uri="{BB962C8B-B14F-4D97-AF65-F5344CB8AC3E}">
        <p14:creationId xmlns:p14="http://schemas.microsoft.com/office/powerpoint/2010/main" val="31516650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atin typeface="Viedoc Monument Grotesk"/>
              </a:rPr>
              <a:t>What this way of working means</a:t>
            </a:r>
          </a:p>
        </p:txBody>
      </p:sp>
      <p:sp>
        <p:nvSpPr>
          <p:cNvPr id="4" name="Text Placeholder 3"/>
          <p:cNvSpPr>
            <a:spLocks noGrp="1"/>
          </p:cNvSpPr>
          <p:nvPr>
            <p:ph type="body" sz="quarter" idx="10"/>
          </p:nvPr>
        </p:nvSpPr>
        <p:spPr/>
        <p:txBody>
          <a:bodyPr/>
          <a:lstStyle/>
          <a:p>
            <a:r>
              <a:rPr lang="en-US">
                <a:latin typeface="Viedoc Monument Grotesk"/>
              </a:rPr>
              <a:t>Fragmented inputs, repeated handoffs and manual publishing drive the workload</a:t>
            </a:r>
          </a:p>
        </p:txBody>
      </p:sp>
      <p:sp>
        <p:nvSpPr>
          <p:cNvPr id="5" name="Summary band 1"/>
          <p:cNvSpPr/>
          <p:nvPr/>
        </p:nvSpPr>
        <p:spPr>
          <a:xfrm>
            <a:off x="685800" y="1444752"/>
            <a:ext cx="10817352" cy="676656"/>
          </a:xfrm>
          <a:prstGeom prst="rect">
            <a:avLst/>
          </a:prstGeom>
          <a:solidFill>
            <a:srgbClr val="EEF1FB"/>
          </a:solidFill>
          <a:ln>
            <a:solidFill>
              <a:srgbClr val="EEF1FB"/>
            </a:solidFill>
          </a:ln>
        </p:spPr>
        <p:style>
          <a:lnRef idx="1">
            <a:schemeClr val="accent1"/>
          </a:lnRef>
          <a:fillRef idx="3">
            <a:schemeClr val="accent1"/>
          </a:fillRef>
          <a:effectRef idx="2">
            <a:schemeClr val="accent1"/>
          </a:effectRef>
          <a:fontRef idx="minor">
            <a:schemeClr val="lt1"/>
          </a:fontRef>
        </p:style>
        <p:txBody>
          <a:bodyPr wrap="square" lIns="201168" tIns="91440" rIns="201168" bIns="73152" rtlCol="0" anchor="ctr"/>
          <a:lstStyle/>
          <a:p>
            <a:pPr algn="l"/>
            <a:r>
              <a:rPr lang="en-US" sz="1600" b="1">
                <a:solidFill>
                  <a:srgbClr val="171717"/>
                </a:solidFill>
                <a:latin typeface="Viedoc Monument Grotesk"/>
              </a:rPr>
              <a:t>Fragmented inputs — </a:t>
            </a:r>
            <a:r>
              <a:rPr lang="en-US" sz="1400" b="0">
                <a:solidFill>
                  <a:srgbClr val="171717"/>
                </a:solidFill>
                <a:latin typeface="Viedoc Monument Grotesk"/>
              </a:rPr>
              <a:t>Information arrives through multiple systems and conversations, so work starts with finding and reconciling it.</a:t>
            </a:r>
          </a:p>
        </p:txBody>
      </p:sp>
      <p:sp>
        <p:nvSpPr>
          <p:cNvPr id="6" name="Summary band 2"/>
          <p:cNvSpPr/>
          <p:nvPr/>
        </p:nvSpPr>
        <p:spPr>
          <a:xfrm>
            <a:off x="685800" y="2221992"/>
            <a:ext cx="10817352" cy="676656"/>
          </a:xfrm>
          <a:prstGeom prst="rect">
            <a:avLst/>
          </a:prstGeom>
          <a:solidFill>
            <a:srgbClr val="E9F6F0"/>
          </a:solidFill>
          <a:ln>
            <a:solidFill>
              <a:srgbClr val="E9F6F0"/>
            </a:solidFill>
          </a:ln>
        </p:spPr>
        <p:style>
          <a:lnRef idx="1">
            <a:schemeClr val="accent1"/>
          </a:lnRef>
          <a:fillRef idx="3">
            <a:schemeClr val="accent1"/>
          </a:fillRef>
          <a:effectRef idx="2">
            <a:schemeClr val="accent1"/>
          </a:effectRef>
          <a:fontRef idx="minor">
            <a:schemeClr val="lt1"/>
          </a:fontRef>
        </p:style>
        <p:txBody>
          <a:bodyPr wrap="square" lIns="201168" tIns="91440" rIns="201168" bIns="73152" rtlCol="0" anchor="ctr"/>
          <a:lstStyle/>
          <a:p>
            <a:pPr algn="l"/>
            <a:r>
              <a:rPr lang="en-US" sz="1600" b="1">
                <a:solidFill>
                  <a:srgbClr val="171717"/>
                </a:solidFill>
                <a:latin typeface="Viedoc Monument Grotesk"/>
              </a:rPr>
              <a:t>Late changes restart completed work — </a:t>
            </a:r>
            <a:r>
              <a:rPr lang="en-US" sz="1400" b="0">
                <a:solidFill>
                  <a:srgbClr val="171717"/>
                </a:solidFill>
                <a:latin typeface="Viedoc Monument Grotesk"/>
              </a:rPr>
              <a:t>Drafting, review, translation, numbering and publishing may all need to be repeated.</a:t>
            </a:r>
          </a:p>
        </p:txBody>
      </p:sp>
      <p:sp>
        <p:nvSpPr>
          <p:cNvPr id="7" name="Summary band 3"/>
          <p:cNvSpPr/>
          <p:nvPr/>
        </p:nvSpPr>
        <p:spPr>
          <a:xfrm>
            <a:off x="685800" y="2999232"/>
            <a:ext cx="10817352" cy="676656"/>
          </a:xfrm>
          <a:prstGeom prst="rect">
            <a:avLst/>
          </a:prstGeom>
          <a:solidFill>
            <a:srgbClr val="EEF1FB"/>
          </a:solidFill>
          <a:ln>
            <a:solidFill>
              <a:srgbClr val="EEF1FB"/>
            </a:solidFill>
          </a:ln>
        </p:spPr>
        <p:style>
          <a:lnRef idx="1">
            <a:schemeClr val="accent1"/>
          </a:lnRef>
          <a:fillRef idx="3">
            <a:schemeClr val="accent1"/>
          </a:fillRef>
          <a:effectRef idx="2">
            <a:schemeClr val="accent1"/>
          </a:effectRef>
          <a:fontRef idx="minor">
            <a:schemeClr val="lt1"/>
          </a:fontRef>
        </p:style>
        <p:txBody>
          <a:bodyPr wrap="square" lIns="201168" tIns="91440" rIns="201168" bIns="73152" rtlCol="0" anchor="ctr"/>
          <a:lstStyle/>
          <a:p>
            <a:pPr algn="l"/>
            <a:r>
              <a:rPr lang="en-US" sz="1600" b="1">
                <a:solidFill>
                  <a:srgbClr val="171717"/>
                </a:solidFill>
                <a:latin typeface="Viedoc Monument Grotesk"/>
              </a:rPr>
              <a:t>Individual knowledge carries the process — </a:t>
            </a:r>
            <a:r>
              <a:rPr lang="en-US" sz="1400" b="0">
                <a:solidFill>
                  <a:srgbClr val="171717"/>
                </a:solidFill>
                <a:latin typeface="Viedoc Monument Grotesk"/>
              </a:rPr>
              <a:t>Manual tracking and follow-up create continuity and handover risk.</a:t>
            </a:r>
          </a:p>
        </p:txBody>
      </p:sp>
      <p:sp>
        <p:nvSpPr>
          <p:cNvPr id="8" name="Summary band 4"/>
          <p:cNvSpPr/>
          <p:nvPr/>
        </p:nvSpPr>
        <p:spPr>
          <a:xfrm>
            <a:off x="685800" y="3776472"/>
            <a:ext cx="10817352" cy="676656"/>
          </a:xfrm>
          <a:prstGeom prst="rect">
            <a:avLst/>
          </a:prstGeom>
          <a:solidFill>
            <a:srgbClr val="E9F6F0"/>
          </a:solidFill>
          <a:ln>
            <a:solidFill>
              <a:srgbClr val="E9F6F0"/>
            </a:solidFill>
          </a:ln>
        </p:spPr>
        <p:style>
          <a:lnRef idx="1">
            <a:schemeClr val="accent1"/>
          </a:lnRef>
          <a:fillRef idx="3">
            <a:schemeClr val="accent1"/>
          </a:fillRef>
          <a:effectRef idx="2">
            <a:schemeClr val="accent1"/>
          </a:effectRef>
          <a:fontRef idx="minor">
            <a:schemeClr val="lt1"/>
          </a:fontRef>
        </p:style>
        <p:txBody>
          <a:bodyPr wrap="square" lIns="201168" tIns="91440" rIns="201168" bIns="73152" rtlCol="0" anchor="ctr"/>
          <a:lstStyle/>
          <a:p>
            <a:pPr algn="l"/>
            <a:r>
              <a:rPr lang="en-US" sz="1600" b="1">
                <a:solidFill>
                  <a:srgbClr val="171717"/>
                </a:solidFill>
                <a:latin typeface="Viedoc Monument Grotesk"/>
              </a:rPr>
              <a:t>Work multiplies across every release dimension — </a:t>
            </a:r>
            <a:r>
              <a:rPr lang="en-US" sz="1400" b="0">
                <a:solidFill>
                  <a:srgbClr val="171717"/>
                </a:solidFill>
                <a:latin typeface="Viedoc Monument Grotesk"/>
              </a:rPr>
              <a:t>Server dates, languages, curricula and changed lessons each add repeated steps.</a:t>
            </a:r>
          </a:p>
        </p:txBody>
      </p:sp>
      <p:sp>
        <p:nvSpPr>
          <p:cNvPr id="9" name="Summary band 5"/>
          <p:cNvSpPr/>
          <p:nvPr/>
        </p:nvSpPr>
        <p:spPr>
          <a:xfrm>
            <a:off x="685800" y="4553712"/>
            <a:ext cx="10817352" cy="676656"/>
          </a:xfrm>
          <a:prstGeom prst="rect">
            <a:avLst/>
          </a:prstGeom>
          <a:solidFill>
            <a:srgbClr val="EEF1FB"/>
          </a:solidFill>
          <a:ln>
            <a:solidFill>
              <a:srgbClr val="EEF1FB"/>
            </a:solidFill>
          </a:ln>
        </p:spPr>
        <p:style>
          <a:lnRef idx="1">
            <a:schemeClr val="accent1"/>
          </a:lnRef>
          <a:fillRef idx="3">
            <a:schemeClr val="accent1"/>
          </a:fillRef>
          <a:effectRef idx="2">
            <a:schemeClr val="accent1"/>
          </a:effectRef>
          <a:fontRef idx="minor">
            <a:schemeClr val="lt1"/>
          </a:fontRef>
        </p:style>
        <p:txBody>
          <a:bodyPr wrap="square" lIns="201168" tIns="91440" rIns="201168" bIns="73152" rtlCol="0" anchor="ctr"/>
          <a:lstStyle/>
          <a:p>
            <a:pPr algn="l"/>
            <a:r>
              <a:rPr lang="en-US" sz="1600" b="1">
                <a:solidFill>
                  <a:srgbClr val="171717"/>
                </a:solidFill>
                <a:latin typeface="Viedoc Monument Grotesk"/>
              </a:rPr>
              <a:t>Faster releases increase load, not capacity — </a:t>
            </a:r>
            <a:r>
              <a:rPr lang="en-US" sz="1400" b="0">
                <a:solidFill>
                  <a:srgbClr val="171717"/>
                </a:solidFill>
                <a:latin typeface="Viedoc Monument Grotesk"/>
              </a:rPr>
              <a:t>The release-day block repeats more often while the same person still coordinates it.</a:t>
            </a:r>
          </a:p>
        </p:txBody>
      </p:sp>
      <p:sp>
        <p:nvSpPr>
          <p:cNvPr id="10" name="Summary band 6"/>
          <p:cNvSpPr/>
          <p:nvPr/>
        </p:nvSpPr>
        <p:spPr>
          <a:xfrm>
            <a:off x="685800" y="5330952"/>
            <a:ext cx="10817352" cy="676656"/>
          </a:xfrm>
          <a:prstGeom prst="rect">
            <a:avLst/>
          </a:prstGeom>
          <a:solidFill>
            <a:srgbClr val="E9F6F0"/>
          </a:solidFill>
          <a:ln>
            <a:solidFill>
              <a:srgbClr val="E9F6F0"/>
            </a:solidFill>
          </a:ln>
        </p:spPr>
        <p:style>
          <a:lnRef idx="1">
            <a:schemeClr val="accent1"/>
          </a:lnRef>
          <a:fillRef idx="3">
            <a:schemeClr val="accent1"/>
          </a:fillRef>
          <a:effectRef idx="2">
            <a:schemeClr val="accent1"/>
          </a:effectRef>
          <a:fontRef idx="minor">
            <a:schemeClr val="lt1"/>
          </a:fontRef>
        </p:style>
        <p:txBody>
          <a:bodyPr wrap="square" lIns="201168" tIns="91440" rIns="201168" bIns="73152" rtlCol="0" anchor="ctr"/>
          <a:lstStyle/>
          <a:p>
            <a:pPr algn="l"/>
            <a:r>
              <a:rPr lang="en-US" sz="1600" b="1">
                <a:solidFill>
                  <a:srgbClr val="171717"/>
                </a:solidFill>
                <a:latin typeface="Viedoc Monument Grotesk"/>
              </a:rPr>
              <a:t>Administration competes with content work — </a:t>
            </a:r>
            <a:r>
              <a:rPr lang="en-US" sz="1400" b="0">
                <a:solidFill>
                  <a:srgbClr val="171717"/>
                </a:solidFill>
                <a:latin typeface="Viedoc Monument Grotesk"/>
              </a:rPr>
              <a:t>Publishing, document control and status chasing crowd out higher-value writing and Learning work.</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14:00 — Fill the gaps, then vote</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03120"/>
            <a:ext cx="11430000" cy="502920"/>
          </a:xfrm>
          <a:prstGeom prst="rect">
            <a:avLst/>
          </a:prstGeom>
          <a:noFill/>
        </p:spPr>
        <p:txBody>
          <a:bodyPr wrap="square" lIns="0" tIns="0" rIns="0" bIns="0">
            <a:spAutoFit/>
          </a:bodyPr>
          <a:lstStyle/>
          <a:p>
            <a:pPr algn="l">
              <a:lnSpc>
                <a:spcPct val="120000"/>
              </a:lnSpc>
              <a:spcBef>
                <a:spcPts val="0"/>
              </a:spcBef>
              <a:spcAft>
                <a:spcPts val="0"/>
              </a:spcAft>
            </a:pPr>
            <a:r>
              <a:rPr sz="1600" b="0">
                <a:solidFill>
                  <a:srgbClr val="000000"/>
                </a:solidFill>
                <a:latin typeface="Viedoc Monument Grotesk"/>
              </a:rPr>
              <a:t>Everyone up at the wall for the rest of the day. Three parts, 30 minutes.</a:t>
            </a:r>
          </a:p>
        </p:txBody>
      </p:sp>
      <p:sp>
        <p:nvSpPr>
          <p:cNvPr id="5" name="TextBox 4"/>
          <p:cNvSpPr txBox="1"/>
          <p:nvPr/>
        </p:nvSpPr>
        <p:spPr>
          <a:xfrm>
            <a:off x="384048" y="2743200"/>
            <a:ext cx="3566160" cy="274320"/>
          </a:xfrm>
          <a:prstGeom prst="rect">
            <a:avLst/>
          </a:prstGeom>
          <a:noFill/>
        </p:spPr>
        <p:txBody>
          <a:bodyPr wrap="square" lIns="0" tIns="0" rIns="0" bIns="0">
            <a:spAutoFit/>
          </a:bodyPr>
          <a:lstStyle/>
          <a:p>
            <a:pPr algn="l">
              <a:spcBef>
                <a:spcPts val="0"/>
              </a:spcBef>
              <a:spcAft>
                <a:spcPts val="0"/>
              </a:spcAft>
            </a:pPr>
            <a:r>
              <a:rPr sz="1300" b="1">
                <a:solidFill>
                  <a:srgbClr val="8E7DD2"/>
                </a:solidFill>
                <a:latin typeface="Viedoc Monument Grotesk"/>
              </a:rPr>
              <a:t>15 min</a:t>
            </a:r>
          </a:p>
        </p:txBody>
      </p:sp>
      <p:sp>
        <p:nvSpPr>
          <p:cNvPr id="6" name="TextBox 5"/>
          <p:cNvSpPr txBox="1"/>
          <p:nvPr/>
        </p:nvSpPr>
        <p:spPr>
          <a:xfrm>
            <a:off x="384048" y="3035808"/>
            <a:ext cx="3566160" cy="365760"/>
          </a:xfrm>
          <a:prstGeom prst="rect">
            <a:avLst/>
          </a:prstGeom>
          <a:noFill/>
        </p:spPr>
        <p:txBody>
          <a:bodyPr wrap="square" lIns="0" tIns="0" rIns="0" bIns="0">
            <a:spAutoFit/>
          </a:bodyPr>
          <a:lstStyle/>
          <a:p>
            <a:pPr algn="l">
              <a:spcBef>
                <a:spcPts val="0"/>
              </a:spcBef>
              <a:spcAft>
                <a:spcPts val="0"/>
              </a:spcAft>
            </a:pPr>
            <a:r>
              <a:rPr sz="1700" b="1">
                <a:solidFill>
                  <a:srgbClr val="000000"/>
                </a:solidFill>
                <a:latin typeface="Viedoc Monument Grotesk"/>
              </a:rPr>
              <a:t>Write, don't discuss</a:t>
            </a:r>
          </a:p>
        </p:txBody>
      </p:sp>
      <p:sp>
        <p:nvSpPr>
          <p:cNvPr id="7" name="TextBox 6"/>
          <p:cNvSpPr txBox="1"/>
          <p:nvPr/>
        </p:nvSpPr>
        <p:spPr>
          <a:xfrm>
            <a:off x="384048" y="3520440"/>
            <a:ext cx="3566160" cy="1920240"/>
          </a:xfrm>
          <a:prstGeom prst="rect">
            <a:avLst/>
          </a:prstGeom>
          <a:noFill/>
        </p:spPr>
        <p:txBody>
          <a:bodyPr wrap="square" lIns="0" tIns="0" rIns="0" bIns="0">
            <a:spAutoFit/>
          </a:bodyPr>
          <a:lstStyle/>
          <a:p>
            <a:pPr algn="l">
              <a:lnSpc>
                <a:spcPct val="112000"/>
              </a:lnSpc>
              <a:spcBef>
                <a:spcPts val="0"/>
              </a:spcBef>
              <a:spcAft>
                <a:spcPts val="700"/>
              </a:spcAft>
            </a:pPr>
            <a:r>
              <a:rPr sz="1200" b="0">
                <a:solidFill>
                  <a:srgbClr val="5E5E5E"/>
                </a:solidFill>
                <a:latin typeface="Viedoc Monument Grotesk"/>
              </a:rPr>
              <a:t>•   Your own steps nobody mentioned</a:t>
            </a:r>
          </a:p>
          <a:p>
            <a:pPr algn="l">
              <a:lnSpc>
                <a:spcPct val="112000"/>
              </a:lnSpc>
              <a:spcBef>
                <a:spcPts val="0"/>
              </a:spcBef>
              <a:spcAft>
                <a:spcPts val="700"/>
              </a:spcAft>
            </a:pPr>
            <a:r>
              <a:rPr sz="1200" b="0">
                <a:solidFill>
                  <a:srgbClr val="5E5E5E"/>
                </a:solidFill>
                <a:latin typeface="Viedoc Monument Grotesk"/>
              </a:rPr>
              <a:t>•   The workaround you didn't want to say out loud</a:t>
            </a:r>
          </a:p>
          <a:p>
            <a:pPr algn="l">
              <a:lnSpc>
                <a:spcPct val="112000"/>
              </a:lnSpc>
              <a:spcBef>
                <a:spcPts val="0"/>
              </a:spcBef>
              <a:spcAft>
                <a:spcPts val="700"/>
              </a:spcAft>
            </a:pPr>
            <a:r>
              <a:rPr sz="1200" b="0">
                <a:solidFill>
                  <a:srgbClr val="5E5E5E"/>
                </a:solidFill>
                <a:latin typeface="Viedoc Monument Grotesk"/>
              </a:rPr>
              <a:t>•   What you were waiting for while someone talked</a:t>
            </a:r>
          </a:p>
          <a:p>
            <a:pPr algn="l">
              <a:lnSpc>
                <a:spcPct val="112000"/>
              </a:lnSpc>
              <a:spcBef>
                <a:spcPts val="0"/>
              </a:spcBef>
              <a:spcAft>
                <a:spcPts val="700"/>
              </a:spcAft>
            </a:pPr>
            <a:r>
              <a:rPr sz="1200" b="0">
                <a:solidFill>
                  <a:srgbClr val="5E5E5E"/>
                </a:solidFill>
                <a:latin typeface="Viedoc Monument Grotesk"/>
              </a:rPr>
              <a:t>•   Coral cards for anything you're unsure of</a:t>
            </a:r>
          </a:p>
        </p:txBody>
      </p:sp>
      <p:sp>
        <p:nvSpPr>
          <p:cNvPr id="8" name="TextBox 7"/>
          <p:cNvSpPr txBox="1"/>
          <p:nvPr/>
        </p:nvSpPr>
        <p:spPr>
          <a:xfrm>
            <a:off x="384048" y="5623560"/>
            <a:ext cx="3566160" cy="502920"/>
          </a:xfrm>
          <a:prstGeom prst="rect">
            <a:avLst/>
          </a:prstGeom>
          <a:noFill/>
        </p:spPr>
        <p:txBody>
          <a:bodyPr wrap="square" lIns="0" tIns="0" rIns="0" bIns="0">
            <a:spAutoFit/>
          </a:bodyPr>
          <a:lstStyle/>
          <a:p>
            <a:pPr algn="l">
              <a:lnSpc>
                <a:spcPct val="110000"/>
              </a:lnSpc>
              <a:spcBef>
                <a:spcPts val="0"/>
              </a:spcBef>
              <a:spcAft>
                <a:spcPts val="0"/>
              </a:spcAft>
            </a:pPr>
            <a:r>
              <a:rPr sz="1100" b="0">
                <a:solidFill>
                  <a:srgbClr val="A0A0A0"/>
                </a:solidFill>
                <a:latin typeface="Viedoc Monument Grotesk"/>
              </a:rPr>
              <a:t>Quiet on purpose. Writing beats a round the room.</a:t>
            </a:r>
          </a:p>
        </p:txBody>
      </p:sp>
      <p:sp>
        <p:nvSpPr>
          <p:cNvPr id="9" name="TextBox 8"/>
          <p:cNvSpPr txBox="1"/>
          <p:nvPr/>
        </p:nvSpPr>
        <p:spPr>
          <a:xfrm>
            <a:off x="4315968" y="2743200"/>
            <a:ext cx="3566160" cy="274320"/>
          </a:xfrm>
          <a:prstGeom prst="rect">
            <a:avLst/>
          </a:prstGeom>
          <a:noFill/>
        </p:spPr>
        <p:txBody>
          <a:bodyPr wrap="square" lIns="0" tIns="0" rIns="0" bIns="0">
            <a:spAutoFit/>
          </a:bodyPr>
          <a:lstStyle/>
          <a:p>
            <a:pPr algn="l">
              <a:spcBef>
                <a:spcPts val="0"/>
              </a:spcBef>
              <a:spcAft>
                <a:spcPts val="0"/>
              </a:spcAft>
            </a:pPr>
            <a:r>
              <a:rPr sz="1300" b="1">
                <a:solidFill>
                  <a:srgbClr val="8E7DD2"/>
                </a:solidFill>
                <a:latin typeface="Viedoc Monument Grotesk"/>
              </a:rPr>
              <a:t>7 min</a:t>
            </a:r>
          </a:p>
        </p:txBody>
      </p:sp>
      <p:sp>
        <p:nvSpPr>
          <p:cNvPr id="10" name="TextBox 9"/>
          <p:cNvSpPr txBox="1"/>
          <p:nvPr/>
        </p:nvSpPr>
        <p:spPr>
          <a:xfrm>
            <a:off x="4315968" y="3035808"/>
            <a:ext cx="3566160" cy="365760"/>
          </a:xfrm>
          <a:prstGeom prst="rect">
            <a:avLst/>
          </a:prstGeom>
          <a:noFill/>
        </p:spPr>
        <p:txBody>
          <a:bodyPr wrap="square" lIns="0" tIns="0" rIns="0" bIns="0">
            <a:spAutoFit/>
          </a:bodyPr>
          <a:lstStyle/>
          <a:p>
            <a:pPr algn="l">
              <a:spcBef>
                <a:spcPts val="0"/>
              </a:spcBef>
              <a:spcAft>
                <a:spcPts val="0"/>
              </a:spcAft>
            </a:pPr>
            <a:r>
              <a:rPr sz="1700" b="1">
                <a:solidFill>
                  <a:srgbClr val="000000"/>
                </a:solidFill>
                <a:latin typeface="Viedoc Monument Grotesk"/>
              </a:rPr>
              <a:t>Who's missing?</a:t>
            </a:r>
          </a:p>
        </p:txBody>
      </p:sp>
      <p:sp>
        <p:nvSpPr>
          <p:cNvPr id="11" name="TextBox 10"/>
          <p:cNvSpPr txBox="1"/>
          <p:nvPr/>
        </p:nvSpPr>
        <p:spPr>
          <a:xfrm>
            <a:off x="4315968" y="3520440"/>
            <a:ext cx="3566160" cy="1920240"/>
          </a:xfrm>
          <a:prstGeom prst="rect">
            <a:avLst/>
          </a:prstGeom>
          <a:noFill/>
        </p:spPr>
        <p:txBody>
          <a:bodyPr wrap="square" lIns="0" tIns="0" rIns="0" bIns="0">
            <a:spAutoFit/>
          </a:bodyPr>
          <a:lstStyle/>
          <a:p>
            <a:pPr algn="l">
              <a:lnSpc>
                <a:spcPct val="112000"/>
              </a:lnSpc>
              <a:spcBef>
                <a:spcPts val="0"/>
              </a:spcBef>
              <a:spcAft>
                <a:spcPts val="700"/>
              </a:spcAft>
            </a:pPr>
            <a:r>
              <a:rPr sz="1200" b="0">
                <a:solidFill>
                  <a:srgbClr val="5E5E5E"/>
                </a:solidFill>
                <a:latin typeface="Viedoc Monument Grotesk"/>
              </a:rPr>
              <a:t>•   Who do you ask for something?</a:t>
            </a:r>
          </a:p>
          <a:p>
            <a:pPr algn="l">
              <a:lnSpc>
                <a:spcPct val="112000"/>
              </a:lnSpc>
              <a:spcBef>
                <a:spcPts val="0"/>
              </a:spcBef>
              <a:spcAft>
                <a:spcPts val="700"/>
              </a:spcAft>
            </a:pPr>
            <a:r>
              <a:rPr sz="1200" b="0">
                <a:solidFill>
                  <a:srgbClr val="5E5E5E"/>
                </a:solidFill>
                <a:latin typeface="Viedoc Monument Grotesk"/>
              </a:rPr>
              <a:t>•   Who asks you for something?</a:t>
            </a:r>
          </a:p>
          <a:p>
            <a:pPr algn="l">
              <a:lnSpc>
                <a:spcPct val="112000"/>
              </a:lnSpc>
              <a:spcBef>
                <a:spcPts val="0"/>
              </a:spcBef>
              <a:spcAft>
                <a:spcPts val="700"/>
              </a:spcAft>
            </a:pPr>
            <a:r>
              <a:rPr sz="1200" b="0">
                <a:solidFill>
                  <a:srgbClr val="5E5E5E"/>
                </a:solidFill>
                <a:latin typeface="Viedoc Monument Grotesk"/>
              </a:rPr>
              <a:t>•   Who has to say yes before you continue?</a:t>
            </a:r>
          </a:p>
          <a:p>
            <a:pPr algn="l">
              <a:lnSpc>
                <a:spcPct val="112000"/>
              </a:lnSpc>
              <a:spcBef>
                <a:spcPts val="0"/>
              </a:spcBef>
              <a:spcAft>
                <a:spcPts val="700"/>
              </a:spcAft>
            </a:pPr>
            <a:r>
              <a:rPr sz="1200" b="0">
                <a:solidFill>
                  <a:srgbClr val="5E5E5E"/>
                </a:solidFill>
                <a:latin typeface="Viedoc Monument Grotesk"/>
              </a:rPr>
              <a:t>•   Who finds out too late?</a:t>
            </a:r>
          </a:p>
        </p:txBody>
      </p:sp>
      <p:sp>
        <p:nvSpPr>
          <p:cNvPr id="12" name="TextBox 11"/>
          <p:cNvSpPr txBox="1"/>
          <p:nvPr/>
        </p:nvSpPr>
        <p:spPr>
          <a:xfrm>
            <a:off x="4315968" y="5623560"/>
            <a:ext cx="3566160" cy="502920"/>
          </a:xfrm>
          <a:prstGeom prst="rect">
            <a:avLst/>
          </a:prstGeom>
          <a:noFill/>
        </p:spPr>
        <p:txBody>
          <a:bodyPr wrap="square" lIns="0" tIns="0" rIns="0" bIns="0">
            <a:spAutoFit/>
          </a:bodyPr>
          <a:lstStyle/>
          <a:p>
            <a:pPr algn="l">
              <a:lnSpc>
                <a:spcPct val="110000"/>
              </a:lnSpc>
              <a:spcBef>
                <a:spcPts val="0"/>
              </a:spcBef>
              <a:spcAft>
                <a:spcPts val="0"/>
              </a:spcAft>
            </a:pPr>
            <a:r>
              <a:rPr sz="1100" b="0">
                <a:solidFill>
                  <a:srgbClr val="A0A0A0"/>
                </a:solidFill>
                <a:latin typeface="Viedoc Monument Grotesk"/>
              </a:rPr>
              <a:t>Every name gets a row. An empty row is a finding.</a:t>
            </a:r>
          </a:p>
        </p:txBody>
      </p:sp>
      <p:sp>
        <p:nvSpPr>
          <p:cNvPr id="13" name="TextBox 12"/>
          <p:cNvSpPr txBox="1"/>
          <p:nvPr/>
        </p:nvSpPr>
        <p:spPr>
          <a:xfrm>
            <a:off x="8247888" y="2743200"/>
            <a:ext cx="3566160" cy="274320"/>
          </a:xfrm>
          <a:prstGeom prst="rect">
            <a:avLst/>
          </a:prstGeom>
          <a:noFill/>
        </p:spPr>
        <p:txBody>
          <a:bodyPr wrap="square" lIns="0" tIns="0" rIns="0" bIns="0">
            <a:spAutoFit/>
          </a:bodyPr>
          <a:lstStyle/>
          <a:p>
            <a:pPr algn="l">
              <a:spcBef>
                <a:spcPts val="0"/>
              </a:spcBef>
              <a:spcAft>
                <a:spcPts val="0"/>
              </a:spcAft>
            </a:pPr>
            <a:r>
              <a:rPr sz="1300" b="1">
                <a:solidFill>
                  <a:srgbClr val="8E7DD2"/>
                </a:solidFill>
                <a:latin typeface="Viedoc Monument Grotesk"/>
              </a:rPr>
              <a:t>8 min</a:t>
            </a:r>
          </a:p>
        </p:txBody>
      </p:sp>
      <p:sp>
        <p:nvSpPr>
          <p:cNvPr id="14" name="TextBox 13"/>
          <p:cNvSpPr txBox="1"/>
          <p:nvPr/>
        </p:nvSpPr>
        <p:spPr>
          <a:xfrm>
            <a:off x="8247888" y="3035808"/>
            <a:ext cx="3566160" cy="365760"/>
          </a:xfrm>
          <a:prstGeom prst="rect">
            <a:avLst/>
          </a:prstGeom>
          <a:noFill/>
        </p:spPr>
        <p:txBody>
          <a:bodyPr wrap="square" lIns="0" tIns="0" rIns="0" bIns="0">
            <a:spAutoFit/>
          </a:bodyPr>
          <a:lstStyle/>
          <a:p>
            <a:pPr algn="l">
              <a:spcBef>
                <a:spcPts val="0"/>
              </a:spcBef>
              <a:spcAft>
                <a:spcPts val="0"/>
              </a:spcAft>
            </a:pPr>
            <a:r>
              <a:rPr sz="1700" b="1">
                <a:solidFill>
                  <a:srgbClr val="000000"/>
                </a:solidFill>
                <a:latin typeface="Viedoc Monument Grotesk"/>
              </a:rPr>
              <a:t>Five dots each</a:t>
            </a:r>
          </a:p>
        </p:txBody>
      </p:sp>
      <p:sp>
        <p:nvSpPr>
          <p:cNvPr id="15" name="TextBox 14"/>
          <p:cNvSpPr txBox="1"/>
          <p:nvPr/>
        </p:nvSpPr>
        <p:spPr>
          <a:xfrm>
            <a:off x="8247888" y="3520440"/>
            <a:ext cx="3566160" cy="1920240"/>
          </a:xfrm>
          <a:prstGeom prst="rect">
            <a:avLst/>
          </a:prstGeom>
          <a:noFill/>
        </p:spPr>
        <p:txBody>
          <a:bodyPr wrap="square" lIns="0" tIns="0" rIns="0" bIns="0">
            <a:spAutoFit/>
          </a:bodyPr>
          <a:lstStyle/>
          <a:p>
            <a:pPr algn="l">
              <a:lnSpc>
                <a:spcPct val="112000"/>
              </a:lnSpc>
              <a:spcBef>
                <a:spcPts val="0"/>
              </a:spcBef>
              <a:spcAft>
                <a:spcPts val="700"/>
              </a:spcAft>
            </a:pPr>
            <a:r>
              <a:rPr sz="1200" b="0">
                <a:solidFill>
                  <a:srgbClr val="5E5E5E"/>
                </a:solidFill>
                <a:latin typeface="Viedoc Monument Grotesk"/>
              </a:rPr>
              <a:t>•   Put them on the cards you'd most want gone</a:t>
            </a:r>
          </a:p>
          <a:p>
            <a:pPr algn="l">
              <a:lnSpc>
                <a:spcPct val="112000"/>
              </a:lnSpc>
              <a:spcBef>
                <a:spcPts val="0"/>
              </a:spcBef>
              <a:spcAft>
                <a:spcPts val="700"/>
              </a:spcAft>
            </a:pPr>
            <a:r>
              <a:rPr sz="1200" b="0">
                <a:solidFill>
                  <a:srgbClr val="5E5E5E"/>
                </a:solidFill>
                <a:latin typeface="Viedoc Monument Grotesk"/>
              </a:rPr>
              <a:t>•   All five on one card is allowed</a:t>
            </a:r>
          </a:p>
          <a:p>
            <a:pPr algn="l">
              <a:lnSpc>
                <a:spcPct val="112000"/>
              </a:lnSpc>
              <a:spcBef>
                <a:spcPts val="0"/>
              </a:spcBef>
              <a:spcAft>
                <a:spcPts val="700"/>
              </a:spcAft>
            </a:pPr>
            <a:r>
              <a:rPr sz="1200" b="0">
                <a:solidFill>
                  <a:srgbClr val="5E5E5E"/>
                </a:solidFill>
                <a:latin typeface="Viedoc Monument Grotesk"/>
              </a:rPr>
              <a:t>•   Your own pain, not what the project should fix</a:t>
            </a:r>
          </a:p>
          <a:p>
            <a:pPr algn="l">
              <a:lnSpc>
                <a:spcPct val="112000"/>
              </a:lnSpc>
              <a:spcBef>
                <a:spcPts val="0"/>
              </a:spcBef>
              <a:spcAft>
                <a:spcPts val="700"/>
              </a:spcAft>
            </a:pPr>
            <a:r>
              <a:rPr sz="1200" b="0">
                <a:solidFill>
                  <a:srgbClr val="5E5E5E"/>
                </a:solidFill>
                <a:latin typeface="Viedoc Monument Grotesk"/>
              </a:rPr>
              <a:t>•   Keep one back to spend during the walk</a:t>
            </a:r>
          </a:p>
        </p:txBody>
      </p:sp>
      <p:sp>
        <p:nvSpPr>
          <p:cNvPr id="16" name="TextBox 15"/>
          <p:cNvSpPr txBox="1"/>
          <p:nvPr/>
        </p:nvSpPr>
        <p:spPr>
          <a:xfrm>
            <a:off x="8247888" y="5623560"/>
            <a:ext cx="3566160" cy="502920"/>
          </a:xfrm>
          <a:prstGeom prst="rect">
            <a:avLst/>
          </a:prstGeom>
          <a:noFill/>
        </p:spPr>
        <p:txBody>
          <a:bodyPr wrap="square" lIns="0" tIns="0" rIns="0" bIns="0">
            <a:spAutoFit/>
          </a:bodyPr>
          <a:lstStyle/>
          <a:p>
            <a:pPr algn="l">
              <a:lnSpc>
                <a:spcPct val="110000"/>
              </a:lnSpc>
              <a:spcBef>
                <a:spcPts val="0"/>
              </a:spcBef>
              <a:spcAft>
                <a:spcPts val="0"/>
              </a:spcAft>
            </a:pPr>
            <a:r>
              <a:rPr sz="1100" b="0">
                <a:solidFill>
                  <a:srgbClr val="A0A0A0"/>
                </a:solidFill>
                <a:latin typeface="Viedoc Monument Grotesk"/>
              </a:rPr>
              <a:t>Placed silently. Don't react to anyone else's.</a:t>
            </a:r>
          </a:p>
        </p:txBody>
      </p:sp>
      <p:sp>
        <p:nvSpPr>
          <p:cNvPr id="17" name="TextBox 16"/>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960120"/>
            <a:ext cx="11430000" cy="822960"/>
          </a:xfrm>
        </p:spPr>
        <p:txBody>
          <a:bodyPr wrap="square"/>
          <a:lstStyle/>
          <a:p>
            <a:r>
              <a:rPr sz="3000">
                <a:solidFill>
                  <a:srgbClr val="000000"/>
                </a:solidFill>
                <a:latin typeface="Viedoc Monument Grotesk"/>
              </a:rPr>
              <a:t>14:30 — Walk the line</a:t>
            </a:r>
          </a:p>
        </p:txBody>
      </p:sp>
      <p:sp>
        <p:nvSpPr>
          <p:cNvPr id="3" name="Rectangle 2"/>
          <p:cNvSpPr/>
          <p:nvPr/>
        </p:nvSpPr>
        <p:spPr>
          <a:xfrm>
            <a:off x="384048" y="178308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103120"/>
            <a:ext cx="11430000" cy="548640"/>
          </a:xfrm>
          <a:prstGeom prst="rect">
            <a:avLst/>
          </a:prstGeom>
          <a:noFill/>
        </p:spPr>
        <p:txBody>
          <a:bodyPr wrap="square" lIns="0" tIns="0" rIns="0" bIns="0">
            <a:spAutoFit/>
          </a:bodyPr>
          <a:lstStyle/>
          <a:p>
            <a:pPr algn="l">
              <a:lnSpc>
                <a:spcPct val="120000"/>
              </a:lnSpc>
              <a:spcBef>
                <a:spcPts val="0"/>
              </a:spcBef>
              <a:spcAft>
                <a:spcPts val="0"/>
              </a:spcAft>
            </a:pPr>
            <a:r>
              <a:rPr sz="1600" b="0">
                <a:solidFill>
                  <a:srgbClr val="000000"/>
                </a:solidFill>
                <a:latin typeface="Viedoc Monument Grotesk"/>
              </a:rPr>
              <a:t>We read the wall out loud, left to right. Interrupt whenever it's wrong.</a:t>
            </a:r>
          </a:p>
        </p:txBody>
      </p:sp>
      <p:sp>
        <p:nvSpPr>
          <p:cNvPr id="5" name="TextBox 4"/>
          <p:cNvSpPr txBox="1"/>
          <p:nvPr/>
        </p:nvSpPr>
        <p:spPr>
          <a:xfrm>
            <a:off x="384048" y="2834640"/>
            <a:ext cx="5394960" cy="3200400"/>
          </a:xfrm>
          <a:prstGeom prst="rect">
            <a:avLst/>
          </a:prstGeom>
          <a:noFill/>
        </p:spPr>
        <p:txBody>
          <a:bodyPr wrap="square" lIns="0" tIns="0" rIns="0" bIns="0">
            <a:spAutoFit/>
          </a:bodyPr>
          <a:lstStyle/>
          <a:p>
            <a:pPr algn="l">
              <a:spcBef>
                <a:spcPts val="0"/>
              </a:spcBef>
              <a:spcAft>
                <a:spcPts val="1000"/>
              </a:spcAft>
            </a:pPr>
            <a:r>
              <a:rPr sz="1700" b="1">
                <a:solidFill>
                  <a:srgbClr val="000000"/>
                </a:solidFill>
                <a:latin typeface="Viedoc Monument Grotesk"/>
              </a:rPr>
              <a:t>Shout when</a:t>
            </a:r>
          </a:p>
          <a:p>
            <a:pPr algn="l">
              <a:lnSpc>
                <a:spcPct val="112000"/>
              </a:lnSpc>
              <a:spcBef>
                <a:spcPts val="0"/>
              </a:spcBef>
              <a:spcAft>
                <a:spcPts val="800"/>
              </a:spcAft>
            </a:pPr>
            <a:r>
              <a:rPr sz="1400" b="0">
                <a:solidFill>
                  <a:srgbClr val="5E5E5E"/>
                </a:solidFill>
                <a:latin typeface="Viedoc Monument Grotesk"/>
              </a:rPr>
              <a:t>•   A step is missing between two cards</a:t>
            </a:r>
          </a:p>
          <a:p>
            <a:pPr algn="l">
              <a:lnSpc>
                <a:spcPct val="112000"/>
              </a:lnSpc>
              <a:spcBef>
                <a:spcPts val="0"/>
              </a:spcBef>
              <a:spcAft>
                <a:spcPts val="800"/>
              </a:spcAft>
            </a:pPr>
            <a:r>
              <a:rPr sz="1400" b="0">
                <a:solidFill>
                  <a:srgbClr val="5E5E5E"/>
                </a:solidFill>
                <a:latin typeface="Viedoc Monument Grotesk"/>
              </a:rPr>
              <a:t>•   A card is in the wrong row</a:t>
            </a:r>
          </a:p>
          <a:p>
            <a:pPr algn="l">
              <a:lnSpc>
                <a:spcPct val="112000"/>
              </a:lnSpc>
              <a:spcBef>
                <a:spcPts val="0"/>
              </a:spcBef>
              <a:spcAft>
                <a:spcPts val="800"/>
              </a:spcAft>
            </a:pPr>
            <a:r>
              <a:rPr sz="1400" b="0">
                <a:solidFill>
                  <a:srgbClr val="5E5E5E"/>
                </a:solidFill>
                <a:latin typeface="Viedoc Monument Grotesk"/>
              </a:rPr>
              <a:t>•   That's not how you do it</a:t>
            </a:r>
          </a:p>
          <a:p>
            <a:pPr algn="l">
              <a:lnSpc>
                <a:spcPct val="112000"/>
              </a:lnSpc>
              <a:spcBef>
                <a:spcPts val="0"/>
              </a:spcBef>
              <a:spcAft>
                <a:spcPts val="800"/>
              </a:spcAft>
            </a:pPr>
            <a:r>
              <a:rPr sz="1400" b="0">
                <a:solidFill>
                  <a:srgbClr val="5E5E5E"/>
                </a:solidFill>
                <a:latin typeface="Viedoc Monument Grotesk"/>
              </a:rPr>
              <a:t>•   Two things happen at once, not in order</a:t>
            </a:r>
          </a:p>
        </p:txBody>
      </p:sp>
      <p:sp>
        <p:nvSpPr>
          <p:cNvPr id="6" name="TextBox 5"/>
          <p:cNvSpPr txBox="1"/>
          <p:nvPr/>
        </p:nvSpPr>
        <p:spPr>
          <a:xfrm>
            <a:off x="6309360" y="2834640"/>
            <a:ext cx="5486400" cy="3200400"/>
          </a:xfrm>
          <a:prstGeom prst="rect">
            <a:avLst/>
          </a:prstGeom>
          <a:noFill/>
        </p:spPr>
        <p:txBody>
          <a:bodyPr wrap="square" lIns="0" tIns="0" rIns="0" bIns="0">
            <a:spAutoFit/>
          </a:bodyPr>
          <a:lstStyle/>
          <a:p>
            <a:pPr algn="l">
              <a:spcBef>
                <a:spcPts val="0"/>
              </a:spcBef>
              <a:spcAft>
                <a:spcPts val="1000"/>
              </a:spcAft>
            </a:pPr>
            <a:r>
              <a:rPr sz="1700" b="1">
                <a:solidFill>
                  <a:srgbClr val="000000"/>
                </a:solidFill>
                <a:latin typeface="Viedoc Monument Grotesk"/>
              </a:rPr>
              <a:t>What we're hunting</a:t>
            </a:r>
          </a:p>
          <a:p>
            <a:pPr algn="l">
              <a:lnSpc>
                <a:spcPct val="112000"/>
              </a:lnSpc>
              <a:spcBef>
                <a:spcPts val="0"/>
              </a:spcBef>
              <a:spcAft>
                <a:spcPts val="800"/>
              </a:spcAft>
            </a:pPr>
            <a:r>
              <a:rPr sz="1400" b="0">
                <a:solidFill>
                  <a:srgbClr val="5E5E5E"/>
                </a:solidFill>
                <a:latin typeface="Viedoc Monument Grotesk"/>
              </a:rPr>
              <a:t>•   Handoffs with nobody on the other end</a:t>
            </a:r>
          </a:p>
          <a:p>
            <a:pPr algn="l">
              <a:lnSpc>
                <a:spcPct val="112000"/>
              </a:lnSpc>
              <a:spcBef>
                <a:spcPts val="0"/>
              </a:spcBef>
              <a:spcAft>
                <a:spcPts val="800"/>
              </a:spcAft>
            </a:pPr>
            <a:r>
              <a:rPr sz="1400" b="0">
                <a:solidFill>
                  <a:srgbClr val="5E5E5E"/>
                </a:solidFill>
                <a:latin typeface="Viedoc Monument Grotesk"/>
              </a:rPr>
              <a:t>•   The same work done twice by two teams</a:t>
            </a:r>
          </a:p>
          <a:p>
            <a:pPr algn="l">
              <a:lnSpc>
                <a:spcPct val="112000"/>
              </a:lnSpc>
              <a:spcBef>
                <a:spcPts val="0"/>
              </a:spcBef>
              <a:spcAft>
                <a:spcPts val="800"/>
              </a:spcAft>
            </a:pPr>
            <a:r>
              <a:rPr sz="1400" b="0">
                <a:solidFill>
                  <a:srgbClr val="5E5E5E"/>
                </a:solidFill>
                <a:latin typeface="Viedoc Monument Grotesk"/>
              </a:rPr>
              <a:t>•   Steps that exist to feed a step we removed</a:t>
            </a:r>
          </a:p>
          <a:p>
            <a:pPr algn="l">
              <a:lnSpc>
                <a:spcPct val="112000"/>
              </a:lnSpc>
              <a:spcBef>
                <a:spcPts val="0"/>
              </a:spcBef>
              <a:spcAft>
                <a:spcPts val="800"/>
              </a:spcAft>
            </a:pPr>
            <a:r>
              <a:rPr sz="1400" b="0">
                <a:solidFill>
                  <a:srgbClr val="5E5E5E"/>
                </a:solidFill>
                <a:latin typeface="Viedoc Monument Grotesk"/>
              </a:rPr>
              <a:t>•   Cards with no duration — shout one as we pass</a:t>
            </a:r>
          </a:p>
        </p:txBody>
      </p:sp>
      <p:sp>
        <p:nvSpPr>
          <p:cNvPr id="7" name="TextBox 6"/>
          <p:cNvSpPr txBox="1"/>
          <p:nvPr/>
        </p:nvSpPr>
        <p:spPr>
          <a:xfrm>
            <a:off x="384048" y="6291072"/>
            <a:ext cx="11430000" cy="292608"/>
          </a:xfrm>
          <a:prstGeom prst="rect">
            <a:avLst/>
          </a:prstGeom>
          <a:noFill/>
        </p:spPr>
        <p:txBody>
          <a:bodyPr wrap="square" lIns="0" tIns="0" rIns="0" bIns="0">
            <a:spAutoFit/>
          </a:bodyPr>
          <a:lstStyle/>
          <a:p>
            <a:pPr algn="l">
              <a:spcBef>
                <a:spcPts val="0"/>
              </a:spcBef>
              <a:spcAft>
                <a:spcPts val="0"/>
              </a:spcAft>
            </a:pPr>
            <a:r>
              <a:rPr sz="900" b="0">
                <a:solidFill>
                  <a:srgbClr val="A0A0A0"/>
                </a:solidFill>
                <a:latin typeface="Viedoc Monument Grotesk"/>
              </a:rPr>
              <a:t>Daybreak shaping · day 1 · Tuesday 18 August 2026</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1188720"/>
            <a:ext cx="11430000" cy="914400"/>
          </a:xfrm>
        </p:spPr>
        <p:txBody>
          <a:bodyPr/>
          <a:lstStyle/>
          <a:p>
            <a:pPr algn="l"/>
            <a:r>
              <a:rPr sz="3000">
                <a:solidFill>
                  <a:srgbClr val="FFFFFF"/>
                </a:solidFill>
                <a:latin typeface="Viedoc Monument Grotesk"/>
              </a:rPr>
              <a:t>14:50 — Before we finish</a:t>
            </a:r>
          </a:p>
        </p:txBody>
      </p:sp>
      <p:sp>
        <p:nvSpPr>
          <p:cNvPr id="3" name="Rectangle 2"/>
          <p:cNvSpPr/>
          <p:nvPr/>
        </p:nvSpPr>
        <p:spPr>
          <a:xfrm>
            <a:off x="384048" y="2103120"/>
            <a:ext cx="1005840" cy="45720"/>
          </a:xfrm>
          <a:prstGeom prst="rect">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606040"/>
            <a:ext cx="10881360" cy="2926080"/>
          </a:xfrm>
          <a:prstGeom prst="rect">
            <a:avLst/>
          </a:prstGeom>
          <a:noFill/>
        </p:spPr>
        <p:txBody>
          <a:bodyPr wrap="square" lIns="0" tIns="0" rIns="0" bIns="0">
            <a:spAutoFit/>
          </a:bodyPr>
          <a:lstStyle/>
          <a:p>
            <a:pPr algn="l">
              <a:lnSpc>
                <a:spcPct val="112000"/>
              </a:lnSpc>
              <a:spcBef>
                <a:spcPts val="0"/>
              </a:spcBef>
              <a:spcAft>
                <a:spcPts val="1400"/>
              </a:spcAft>
            </a:pPr>
            <a:r>
              <a:rPr sz="1600" b="0">
                <a:solidFill>
                  <a:srgbClr val="FFFFFF"/>
                </a:solidFill>
                <a:latin typeface="Viedoc Monument Grotesk"/>
              </a:rPr>
              <a:t>•   The top ten, read out loud, with the time next to each one.</a:t>
            </a:r>
          </a:p>
          <a:p>
            <a:pPr algn="l">
              <a:lnSpc>
                <a:spcPct val="112000"/>
              </a:lnSpc>
              <a:spcBef>
                <a:spcPts val="0"/>
              </a:spcBef>
              <a:spcAft>
                <a:spcPts val="1400"/>
              </a:spcAft>
            </a:pPr>
            <a:r>
              <a:rPr sz="1600" b="0">
                <a:solidFill>
                  <a:srgbClr val="FFFFFF"/>
                </a:solidFill>
                <a:latin typeface="Viedoc Monument Grotesk"/>
              </a:rPr>
              <a:t>•   Which parts of the wall need someone outside this room to confirm them?</a:t>
            </a:r>
          </a:p>
          <a:p>
            <a:pPr algn="l">
              <a:lnSpc>
                <a:spcPct val="112000"/>
              </a:lnSpc>
              <a:spcBef>
                <a:spcPts val="0"/>
              </a:spcBef>
              <a:spcAft>
                <a:spcPts val="1400"/>
              </a:spcAft>
            </a:pPr>
            <a:r>
              <a:rPr sz="1600" b="0">
                <a:solidFill>
                  <a:srgbClr val="FFFFFF"/>
                </a:solidFill>
                <a:latin typeface="Viedoc Monument Grotesk"/>
              </a:rPr>
              <a:t>•   What's still a coral card — who chases the answer?</a:t>
            </a:r>
          </a:p>
          <a:p>
            <a:pPr algn="l">
              <a:lnSpc>
                <a:spcPct val="112000"/>
              </a:lnSpc>
              <a:spcBef>
                <a:spcPts val="0"/>
              </a:spcBef>
              <a:spcAft>
                <a:spcPts val="1400"/>
              </a:spcAft>
            </a:pPr>
            <a:r>
              <a:rPr sz="1600" b="0">
                <a:solidFill>
                  <a:srgbClr val="FFFFFF"/>
                </a:solidFill>
                <a:latin typeface="Viedoc Monument Grotesk"/>
              </a:rPr>
              <a:t>•   Who's adding slides to this deck afterwards?</a:t>
            </a:r>
          </a:p>
          <a:p>
            <a:pPr algn="l">
              <a:lnSpc>
                <a:spcPct val="112000"/>
              </a:lnSpc>
              <a:spcBef>
                <a:spcPts val="0"/>
              </a:spcBef>
              <a:spcAft>
                <a:spcPts val="1400"/>
              </a:spcAft>
            </a:pPr>
            <a:r>
              <a:rPr sz="1600" b="0">
                <a:solidFill>
                  <a:srgbClr val="FFFFFF"/>
                </a:solidFill>
                <a:latin typeface="Viedoc Monument Grotesk"/>
              </a:rPr>
              <a:t>•   Thursday: the core team turns the wall into a target state and a scope.</a:t>
            </a:r>
          </a:p>
        </p:txBody>
      </p:sp>
      <p:sp>
        <p:nvSpPr>
          <p:cNvPr id="5" name="TextBox 4"/>
          <p:cNvSpPr txBox="1"/>
          <p:nvPr/>
        </p:nvSpPr>
        <p:spPr>
          <a:xfrm>
            <a:off x="384048" y="5760720"/>
            <a:ext cx="10881360" cy="457200"/>
          </a:xfrm>
          <a:prstGeom prst="rect">
            <a:avLst/>
          </a:prstGeom>
          <a:noFill/>
        </p:spPr>
        <p:txBody>
          <a:bodyPr wrap="square" lIns="0" tIns="0" rIns="0" bIns="0">
            <a:spAutoFit/>
          </a:bodyPr>
          <a:lstStyle/>
          <a:p>
            <a:pPr algn="l">
              <a:spcBef>
                <a:spcPts val="0"/>
              </a:spcBef>
              <a:spcAft>
                <a:spcPts val="0"/>
              </a:spcAft>
            </a:pPr>
            <a:r>
              <a:rPr sz="1300" b="0">
                <a:solidFill>
                  <a:srgbClr val="F4B43D"/>
                </a:solidFill>
                <a:latin typeface="Viedoc Monument Grotesk"/>
              </a:rPr>
              <a:t>Photo of the wall goes in the project folder before anyone leaves.</a:t>
            </a:r>
          </a:p>
        </p:txBody>
      </p:sp>
    </p:spTree>
  </p:cSld>
  <p:clrMapOvr>
    <a:masterClrMapping/>
  </p:clrMapOvr>
</p:sld>
</file>

<file path=ppt/theme/theme1.xml><?xml version="1.0" encoding="utf-8"?>
<a:theme xmlns:a="http://schemas.openxmlformats.org/drawingml/2006/main" name="2_Viedoc 2024">
  <a:themeElements>
    <a:clrScheme name="Viedoc">
      <a:dk1>
        <a:srgbClr val="000000"/>
      </a:dk1>
      <a:lt1>
        <a:srgbClr val="FFFFFF"/>
      </a:lt1>
      <a:dk2>
        <a:srgbClr val="818181"/>
      </a:dk2>
      <a:lt2>
        <a:srgbClr val="E6E6E6"/>
      </a:lt2>
      <a:accent1>
        <a:srgbClr val="8E7DD2"/>
      </a:accent1>
      <a:accent2>
        <a:srgbClr val="A7B2E7"/>
      </a:accent2>
      <a:accent3>
        <a:srgbClr val="7DC6A0"/>
      </a:accent3>
      <a:accent4>
        <a:srgbClr val="FF865F"/>
      </a:accent4>
      <a:accent5>
        <a:srgbClr val="F4B43D"/>
      </a:accent5>
      <a:accent6>
        <a:srgbClr val="1295D8"/>
      </a:accent6>
      <a:hlink>
        <a:srgbClr val="1295D8"/>
      </a:hlink>
      <a:folHlink>
        <a:srgbClr val="7FBEEB"/>
      </a:folHlink>
    </a:clrScheme>
    <a:fontScheme name="Viedoc Monument Grotesk">
      <a:majorFont>
        <a:latin typeface="Viedoc Monument Grotesk"/>
        <a:ea typeface=""/>
        <a:cs typeface=""/>
      </a:majorFont>
      <a:minorFont>
        <a:latin typeface="Viedoc Monument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7E7E7"/>
        </a:solidFill>
        <a:ln>
          <a:noFill/>
        </a:ln>
      </a:spPr>
      <a:bodyPr rtlCol="0" anchor="ctr"/>
      <a:lstStyle>
        <a:defPPr algn="l">
          <a:defRPr sz="16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_01_Viedoc Presentation Template" id="{AAD494E4-CDD8-F145-91ED-DCC6DF494B51}" vid="{BC10D877-D066-4948-A63C-3216FA45E9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A0B8916-CD64-4941-8A38-B86A878BBC27}">
  <we:reference id="wa200005107" version="1.1.0.0" store="en-GB" storeType="OMEX"/>
  <we:alternateReferences>
    <we:reference id="WA200005107" version="1.1.0.0" store="WA20000510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p:Policy xmlns:p="office.server.policy" id="" local="true">
  <p:Name>Document</p:Name>
  <p:Description/>
  <p:Statement/>
  <p:PolicyItems>
    <p:PolicyItem featureId="Microsoft.Office.RecordsManagement.PolicyFeatures.PolicyLabel" staticId="0x010100CB5DC2B8631A804395BF3FF7E946CE21|801092262" UniqueId="bb179d56-a82b-415e-8159-ee889f759129">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2.xml><?xml version="1.0" encoding="utf-8"?>
<p:properties xmlns:p="http://schemas.microsoft.com/office/2006/metadata/properties" xmlns:xsi="http://www.w3.org/2001/XMLSchema-instance" xmlns:pc="http://schemas.microsoft.com/office/infopath/2007/PartnerControls">
  <documentManagement>
    <TaxCatchAll xmlns="c04c14df-ef46-436c-a4de-cbd09baa9fe4" xsi:nil="true"/>
    <_ip_UnifiedCompliancePolicyUIAction xmlns="http://schemas.microsoft.com/sharepoint/v3" xsi:nil="true"/>
    <DLCPolicyLabelLock xmlns="25675aaf-bcc5-4be5-98d7-a108df5b8432" xsi:nil="true"/>
    <_ip_UnifiedCompliancePolicyProperties xmlns="http://schemas.microsoft.com/sharepoint/v3" xsi:nil="true"/>
    <DLCPolicyLabelClientValue xmlns="25675aaf-bcc5-4be5-98d7-a108df5b8432" xsi:nil="true"/>
    <lcf76f155ced4ddcb4097134ff3c332f xmlns="25675aaf-bcc5-4be5-98d7-a108df5b8432">
      <Terms xmlns="http://schemas.microsoft.com/office/infopath/2007/PartnerControls"/>
    </lcf76f155ced4ddcb4097134ff3c332f>
    <_dlc_DocId xmlns="c04c14df-ef46-436c-a4de-cbd09baa9fe4">3QREP6JZ2ZQK-1434427233-74944</_dlc_DocId>
    <_dlc_DocIdUrl xmlns="c04c14df-ef46-436c-a4de-cbd09baa9fe4">
      <Url>https://pcgsolutions.sharepoint.com/sites/Company/_layouts/15/DocIdRedir.aspx?ID=3QREP6JZ2ZQK-1434427233-74944</Url>
      <Description>3QREP6JZ2ZQK-1434427233-74944</Description>
    </_dlc_DocIdUrl>
    <DLCPolicyLabelValue xmlns="25675aaf-bcc5-4be5-98d7-a108df5b8432">5.0</DLCPolicyLabelVal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5.xml><?xml version="1.0" encoding="utf-8"?>
<ct:contentTypeSchema xmlns:ct="http://schemas.microsoft.com/office/2006/metadata/contentType" xmlns:ma="http://schemas.microsoft.com/office/2006/metadata/properties/metaAttributes" ct:_="" ma:_="" ma:contentTypeName="Document" ma:contentTypeID="0x010100CB5DC2B8631A804395BF3FF7E946CE21" ma:contentTypeVersion="25" ma:contentTypeDescription="Create a new document." ma:contentTypeScope="" ma:versionID="8d580e63c01fd12e74ba41d2d5f7baaa">
  <xsd:schema xmlns:xsd="http://www.w3.org/2001/XMLSchema" xmlns:xs="http://www.w3.org/2001/XMLSchema" xmlns:p="http://schemas.microsoft.com/office/2006/metadata/properties" xmlns:ns1="http://schemas.microsoft.com/sharepoint/v3" xmlns:ns2="25675aaf-bcc5-4be5-98d7-a108df5b8432" xmlns:ns3="c04c14df-ef46-436c-a4de-cbd09baa9fe4" targetNamespace="http://schemas.microsoft.com/office/2006/metadata/properties" ma:root="true" ma:fieldsID="f3daa22942135cb8068cbb1456ccd112" ns1:_="" ns2:_="" ns3:_="">
    <xsd:import namespace="http://schemas.microsoft.com/sharepoint/v3"/>
    <xsd:import namespace="25675aaf-bcc5-4be5-98d7-a108df5b8432"/>
    <xsd:import namespace="c04c14df-ef46-436c-a4de-cbd09baa9fe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Location" minOccurs="0"/>
                <xsd:element ref="ns2:MediaServiceAutoTags" minOccurs="0"/>
                <xsd:element ref="ns3:SharedWithUsers" minOccurs="0"/>
                <xsd:element ref="ns3:SharedWithDetails" minOccurs="0"/>
                <xsd:element ref="ns3:_dlc_DocId" minOccurs="0"/>
                <xsd:element ref="ns3:_dlc_DocIdUrl" minOccurs="0"/>
                <xsd:element ref="ns3:_dlc_DocIdPersistId" minOccurs="0"/>
                <xsd:element ref="ns1:_dlc_Exempt" minOccurs="0"/>
                <xsd:element ref="ns2:DLCPolicyLabelValue" minOccurs="0"/>
                <xsd:element ref="ns2:DLCPolicyLabelClientValue" minOccurs="0"/>
                <xsd:element ref="ns2:DLCPolicyLabelLock"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18" nillable="true" ma:displayName="Exempt from Policy" ma:hidden="true" ma:internalName="_dlc_Exempt" ma:readOnly="true">
      <xsd:simpleType>
        <xsd:restriction base="dms:Unknown"/>
      </xsd:simpleType>
    </xsd:element>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675aaf-bcc5-4be5-98d7-a108df5b8432"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Location" ma:index="11" nillable="true" ma:displayName="MediaServiceLocation" ma:description="" ma:internalName="MediaServiceLocation" ma:readOnly="true">
      <xsd:simpleType>
        <xsd:restriction base="dms:Text"/>
      </xsd:simpleType>
    </xsd:element>
    <xsd:element name="MediaServiceAutoTags" ma:index="12" nillable="true" ma:displayName="MediaServiceAutoTags" ma:description="" ma:internalName="MediaServiceAutoTags" ma:readOnly="true">
      <xsd:simpleType>
        <xsd:restriction base="dms:Text"/>
      </xsd:simpleType>
    </xsd:element>
    <xsd:element name="DLCPolicyLabelValue" ma:index="19" nillable="true" ma:displayName="Label" ma:description="Stores the current value of the label." ma:internalName="DLCPolicyLabelValue" ma:readOnly="true">
      <xsd:simpleType>
        <xsd:restriction base="dms:Note">
          <xsd:maxLength value="255"/>
        </xsd:restriction>
      </xsd:simpleType>
    </xsd:element>
    <xsd:element name="DLCPolicyLabelClientValue" ma:index="20"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21" nillable="true" ma:displayName="Label Locked" ma:description="Indicates whether the label should be updated when item properties are modified." ma:hidden="true" ma:internalName="DLCPolicyLabelLock" ma:readOnly="fals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AutoKeyPoints" ma:index="25" nillable="true" ma:displayName="MediaServiceAutoKeyPoints" ma:hidden="true" ma:internalName="MediaServiceAutoKeyPoints" ma:readOnly="true">
      <xsd:simpleType>
        <xsd:restriction base="dms:Note"/>
      </xsd:simpleType>
    </xsd:element>
    <xsd:element name="MediaServiceKeyPoints" ma:index="26" nillable="true" ma:displayName="KeyPoints" ma:internalName="MediaServiceKeyPoints" ma:readOnly="true">
      <xsd:simpleType>
        <xsd:restriction base="dms:Note">
          <xsd:maxLength value="255"/>
        </xsd:restriction>
      </xsd:simpleType>
    </xsd:element>
    <xsd:element name="MediaLengthInSeconds" ma:index="27" nillable="true" ma:displayName="Length (seconds)" ma:internalName="MediaLengthInSeconds" ma:readOnly="true">
      <xsd:simpleType>
        <xsd:restriction base="dms:Unknown"/>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9bf4fa33-17d6-4b72-8e4d-b820d61e0b3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SearchProperties" ma:index="3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4c14df-ef46-436c-a4de-cbd09baa9fe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_dlc_DocId" ma:index="15" nillable="true" ma:displayName="Document ID Value" ma:description="The value of the document ID assigned to this item." ma:internalName="_dlc_DocId" ma:readOnly="true">
      <xsd:simpleType>
        <xsd:restriction base="dms:Text"/>
      </xsd:simpleType>
    </xsd:element>
    <xsd:element name="_dlc_DocIdUrl" ma:index="16"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7" nillable="true" ma:displayName="Persist ID" ma:description="Keep ID on add." ma:hidden="true" ma:internalName="_dlc_DocIdPersistId" ma:readOnly="true">
      <xsd:simpleType>
        <xsd:restriction base="dms:Boolean"/>
      </xsd:simpleType>
    </xsd:element>
    <xsd:element name="TaxCatchAll" ma:index="30" nillable="true" ma:displayName="Taxonomy Catch All Column" ma:hidden="true" ma:list="{80f25bc7-f0df-428d-97c7-d7a8fa72967f}" ma:internalName="TaxCatchAll" ma:showField="CatchAllData" ma:web="c04c14df-ef46-436c-a4de-cbd09baa9f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8071A4-C3F6-4A8B-B407-FF2D31BBE687}">
  <ds:schemaRefs>
    <ds:schemaRef ds:uri="office.server.policy"/>
  </ds:schemaRefs>
</ds:datastoreItem>
</file>

<file path=customXml/itemProps2.xml><?xml version="1.0" encoding="utf-8"?>
<ds:datastoreItem xmlns:ds="http://schemas.openxmlformats.org/officeDocument/2006/customXml" ds:itemID="{5981B954-246B-4AF7-B9E6-BFEE13353804}">
  <ds:schemaRefs>
    <ds:schemaRef ds:uri="25675aaf-bcc5-4be5-98d7-a108df5b8432"/>
    <ds:schemaRef ds:uri="c04c14df-ef46-436c-a4de-cbd09baa9fe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0A38456-5685-4BF1-B4A9-D53B26F9ECCF}">
  <ds:schemaRefs>
    <ds:schemaRef ds:uri="http://schemas.microsoft.com/sharepoint/v3/contenttype/forms"/>
  </ds:schemaRefs>
</ds:datastoreItem>
</file>

<file path=customXml/itemProps4.xml><?xml version="1.0" encoding="utf-8"?>
<ds:datastoreItem xmlns:ds="http://schemas.openxmlformats.org/officeDocument/2006/customXml" ds:itemID="{B282F5C5-0CD2-49D7-A3D5-A3027AD08CA8}">
  <ds:schemaRefs>
    <ds:schemaRef ds:uri="http://schemas.microsoft.com/sharepoint/events"/>
  </ds:schemaRefs>
</ds:datastoreItem>
</file>

<file path=customXml/itemProps5.xml><?xml version="1.0" encoding="utf-8"?>
<ds:datastoreItem xmlns:ds="http://schemas.openxmlformats.org/officeDocument/2006/customXml" ds:itemID="{7BF4579A-BC76-4BE0-8432-CDE74F21AA89}">
  <ds:schemaRefs>
    <ds:schemaRef ds:uri="25675aaf-bcc5-4be5-98d7-a108df5b8432"/>
    <ds:schemaRef ds:uri="c04c14df-ef46-436c-a4de-cbd09baa9fe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60</Slides>
  <Notes>12</Notes>
  <HiddenSlides>2</HiddenSlides>
  <ScaleCrop>false</ScaleCrop>
  <HeadingPairs>
    <vt:vector size="4" baseType="variant">
      <vt:variant>
        <vt:lpstr>Theme</vt:lpstr>
      </vt:variant>
      <vt:variant>
        <vt:i4>2</vt:i4>
      </vt:variant>
      <vt:variant>
        <vt:lpstr>Slide Titles</vt:lpstr>
      </vt:variant>
      <vt:variant>
        <vt:i4>60</vt:i4>
      </vt:variant>
    </vt:vector>
  </HeadingPairs>
  <TitlesOfParts>
    <vt:vector size="62" baseType="lpstr">
      <vt:lpstr>2_Viedoc 2024</vt:lpstr>
      <vt:lpstr>Office Theme</vt:lpstr>
      <vt:lpstr>PowerPoint Presentation</vt:lpstr>
      <vt:lpstr>Paste your slides here</vt:lpstr>
      <vt:lpstr>What we walk out with</vt:lpstr>
      <vt:lpstr>If you're speaking, cover these four</vt:lpstr>
      <vt:lpstr>Morning — walkthroughs</vt:lpstr>
      <vt:lpstr>Afternoon — building the map</vt:lpstr>
      <vt:lpstr>How we build the map: the release line</vt:lpstr>
      <vt:lpstr>The wall</vt:lpstr>
      <vt:lpstr>What goes on a card</vt:lpstr>
      <vt:lpstr>Five rules</vt:lpstr>
      <vt:lpstr>The map we already have</vt:lpstr>
      <vt:lpstr>The map we already have</vt:lpstr>
      <vt:lpstr>What developers do to prepare a release</vt:lpstr>
      <vt:lpstr>What developers do to prepare a release</vt:lpstr>
      <vt:lpstr>What developers do to prepare a release</vt:lpstr>
      <vt:lpstr>What developers do to prepare a release</vt:lpstr>
      <vt:lpstr>What developers do to prepare a release</vt:lpstr>
      <vt:lpstr>What developers do to prepare a release</vt:lpstr>
      <vt:lpstr>Pre-staging and release bundles</vt:lpstr>
      <vt:lpstr>Pre-staging &amp; release bundle – Main Steps (1/2)</vt:lpstr>
      <vt:lpstr>Pre-staging &amp; release bundle – Main Steps (2/2)</vt:lpstr>
      <vt:lpstr>The release, end to end</vt:lpstr>
      <vt:lpstr>PowerPoint Presentation</vt:lpstr>
      <vt:lpstr>PowerPoint Presentation</vt:lpstr>
      <vt:lpstr>PowerPoint Presentation</vt:lpstr>
      <vt:lpstr>PowerPoint Presentation</vt:lpstr>
      <vt:lpstr>The PQ and VIRP process</vt:lpstr>
      <vt:lpstr>The PQ process</vt:lpstr>
      <vt:lpstr>The PQ process</vt:lpstr>
      <vt:lpstr>The VIRP process</vt:lpstr>
      <vt:lpstr>The VIRP process</vt:lpstr>
      <vt:lpstr>PowerPoint Presentation</vt:lpstr>
      <vt:lpstr>The VIRP process</vt:lpstr>
      <vt:lpstr>The translation process</vt:lpstr>
      <vt:lpstr>The translation process</vt:lpstr>
      <vt:lpstr>PowerPoint Presentation</vt:lpstr>
      <vt:lpstr>PowerPoint Presentation</vt:lpstr>
      <vt:lpstr>PowerPoint Presentation</vt:lpstr>
      <vt:lpstr>QA during a release</vt:lpstr>
      <vt:lpstr>QA during a release</vt:lpstr>
      <vt:lpstr>What's actually required of us</vt:lpstr>
      <vt:lpstr>Why we do what we do to Validate Viedoc </vt:lpstr>
      <vt:lpstr>Important Regulatory references: </vt:lpstr>
      <vt:lpstr>PowerPoint Presentation</vt:lpstr>
      <vt:lpstr>PowerPoint Presentation</vt:lpstr>
      <vt:lpstr>Running the PQ scripts</vt:lpstr>
      <vt:lpstr>PowerPoint Presentation</vt:lpstr>
      <vt:lpstr>PowerPoint Presentation</vt:lpstr>
      <vt:lpstr>Release notes and  Viedoc Learning</vt:lpstr>
      <vt:lpstr>PowerPoint Presentation</vt:lpstr>
      <vt:lpstr>PowerPoint Presentation</vt:lpstr>
      <vt:lpstr>PowerPoint Presentation</vt:lpstr>
      <vt:lpstr>PowerPoint Presentation</vt:lpstr>
      <vt:lpstr>Product Communication: Release &amp; Release Notes</vt:lpstr>
      <vt:lpstr>How long each step actually takes</vt:lpstr>
      <vt:lpstr>Where my release time goes</vt:lpstr>
      <vt:lpstr>What this way of working means</vt:lpstr>
      <vt:lpstr>14:00 — Fill the gaps, then vote</vt:lpstr>
      <vt:lpstr>14:30 — Walk the line</vt:lpstr>
      <vt:lpstr>14:50 — Before we finish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Elin Berner-Wik</dc:creator>
  <cp:revision>2</cp:revision>
  <dcterms:created xsi:type="dcterms:W3CDTF">2025-10-16T12:15:55Z</dcterms:created>
  <dcterms:modified xsi:type="dcterms:W3CDTF">2026-10-09T06:41:16Z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0x010100CB5DC2B8631A804395BF3FF7E946CE21</vt:lpwstr>
  </property>
  <property fmtid="{D5CDD505-2E9C-101B-9397-08002B2CF9AE}" pid="3" name="_dlc_DocIdItemGuid">
    <vt:lpwstr>091876ac-6790-4cf6-9fbf-58b759f39be8</vt:lpwstr>
  </property>
  <property fmtid="{D5CDD505-2E9C-101B-9397-08002B2CF9AE}" pid="4" name="MediaServiceImageTags">
    <vt:lpwstr/>
  </property>
  <property fmtid="{D5CDD505-2E9C-101B-9397-08002B2CF9AE}" pid="5" name="MSIP_Label_de778e6f-d823-4d8e-84fb-96d30d0b436c_Enabled">
    <vt:lpwstr>true</vt:lpwstr>
  </property>
  <property fmtid="{D5CDD505-2E9C-101B-9397-08002B2CF9AE}" pid="6" name="MSIP_Label_de778e6f-d823-4d8e-84fb-96d30d0b436c_SetDate">
    <vt:lpwstr>2026-08-17T13:45:12Z</vt:lpwstr>
  </property>
  <property fmtid="{D5CDD505-2E9C-101B-9397-08002B2CF9AE}" pid="7" name="MSIP_Label_de778e6f-d823-4d8e-84fb-96d30d0b436c_Method">
    <vt:lpwstr>Privileged</vt:lpwstr>
  </property>
  <property fmtid="{D5CDD505-2E9C-101B-9397-08002B2CF9AE}" pid="8" name="MSIP_Label_de778e6f-d823-4d8e-84fb-96d30d0b436c_Name">
    <vt:lpwstr>Internal</vt:lpwstr>
  </property>
  <property fmtid="{D5CDD505-2E9C-101B-9397-08002B2CF9AE}" pid="9" name="MSIP_Label_de778e6f-d823-4d8e-84fb-96d30d0b436c_SiteId">
    <vt:lpwstr>7a13befb-93ef-4a28-a928-764f31062763</vt:lpwstr>
  </property>
  <property fmtid="{D5CDD505-2E9C-101B-9397-08002B2CF9AE}" pid="10" name="MSIP_Label_de778e6f-d823-4d8e-84fb-96d30d0b436c_ActionId">
    <vt:lpwstr>8002b4bb-3e32-4dc0-9725-4e8be27871b3</vt:lpwstr>
  </property>
  <property fmtid="{D5CDD505-2E9C-101B-9397-08002B2CF9AE}" pid="11" name="MSIP_Label_de778e6f-d823-4d8e-84fb-96d30d0b436c_ContentBits">
    <vt:lpwstr>0</vt:lpwstr>
  </property>
  <property fmtid="{D5CDD505-2E9C-101B-9397-08002B2CF9AE}" pid="12" name="MSIP_Label_de778e6f-d823-4d8e-84fb-96d30d0b436c_Tag">
    <vt:lpwstr>10, 0, 1, 2</vt:lpwstr>
  </property>
</Properties>
</file>